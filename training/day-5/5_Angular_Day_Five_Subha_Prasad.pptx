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G3xbb2Uxzhed7xdMs6/lkYWmU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Welcome learners in Microsoft Teams. Trainer: TCS Assets Consultant (C3A), SME. The Product Catalog uses fictional INR values.</a:t>
            </a:r>
            <a:endParaRPr/>
          </a:p>
          <a:p>
            <a:pPr indent="0" lvl="0" marL="0" rtl="0" algn="l">
              <a:spcBef>
                <a:spcPts val="0"/>
              </a:spcBef>
              <a:spcAft>
                <a:spcPts val="0"/>
              </a:spcAft>
              <a:buNone/>
            </a:pPr>
            <a:r>
              <a:rPr lang="en-US" sz="1200"/>
              <a:t>Source: https://angular.dev/guide/components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Use a fictional customer name such as Demo Customer. The app never submits an order, sends customer details or charges money. Request state moves into a reusable component-scoped DI store. The shared cart remains owned by App.</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9" name="Google Shape;3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 name="Google Shape;4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The live teaching slides total 60 minutes. Untimed reference slides cover routing, guards, interceptors, testing and deployment recognition. The final slide remains last and contains the requested course IDs 75214 and 62104.</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48" name="Google Shape;4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 minute(s).</a:t>
            </a:r>
            <a:endParaRPr/>
          </a:p>
          <a:p>
            <a:pPr indent="0" lvl="0" marL="0" rtl="0" algn="l">
              <a:spcBef>
                <a:spcPts val="0"/>
              </a:spcBef>
              <a:spcAft>
                <a:spcPts val="0"/>
              </a:spcAft>
              <a:buNone/>
            </a:pPr>
            <a:r>
              <a:rPr lang="en-US" sz="1200"/>
              <a:t>Ask learners to provide one concrete example from each day. JavaScript/TypeScript describe product data. Inputs/projection compose the page. Signals/events drive interaction. HTTP/DI handle the resource. Forms capture validated user input. The coverage checklist maps every original React slide to an Angular slide.</a:t>
            </a:r>
            <a:endParaRPr/>
          </a:p>
          <a:p>
            <a:pPr indent="0" lvl="0" marL="0" rtl="0" algn="l">
              <a:spcBef>
                <a:spcPts val="0"/>
              </a:spcBef>
              <a:spcAft>
                <a:spcPts val="0"/>
              </a:spcAft>
              <a:buNone/>
            </a:pPr>
            <a:r>
              <a:rPr lang="en-US" sz="1200"/>
              <a:t>Source: https://angular.dev/guide/components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57" name="Google Shape;5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 minute(s).</a:t>
            </a:r>
            <a:endParaRPr/>
          </a:p>
          <a:p>
            <a:pPr indent="0" lvl="0" marL="0" rtl="0" algn="l">
              <a:spcBef>
                <a:spcPts val="0"/>
              </a:spcBef>
              <a:spcAft>
                <a:spcPts val="0"/>
              </a:spcAft>
              <a:buNone/>
            </a:pPr>
            <a:r>
              <a:rPr lang="en-US" sz="1200"/>
              <a:t>The cart accepts one entry per in-stock product, with no quantities. The practice preview captures the selected items, name, note and total at submission time. It stays in memory. Later edits do not rewrite an earlier snapshot until another valid submission.</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68" name="Google Shape;6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App is the nearest shared cart owner. It passes cart() to OrderForm. CatalogStore is provided by App, so its DestroyRef lifetime matches App. The form owns its own controls and preview; no sibling needs the customer name.</a:t>
            </a:r>
            <a:endParaRPr/>
          </a:p>
          <a:p>
            <a:pPr indent="0" lvl="0" marL="0" rtl="0" algn="l">
              <a:spcBef>
                <a:spcPts val="0"/>
              </a:spcBef>
              <a:spcAft>
                <a:spcPts val="0"/>
              </a:spcAft>
              <a:buNone/>
            </a:pPr>
            <a:r>
              <a:rPr lang="en-US" sz="1200"/>
              <a:t>Source: https://angular.dev/guide/di</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79" name="Google Shape;7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This is a conceptual counterpart of the React useProducts custom Hook. Angular uses injection and provider scopes rather than Hook invocation. Consumers in the same provider scope can share an instance. A component provider creates a new store per App instance. Do not describe DI services as automatically independent on every inject call.</a:t>
            </a:r>
            <a:endParaRPr/>
          </a:p>
          <a:p>
            <a:pPr indent="0" lvl="0" marL="0" rtl="0" algn="l">
              <a:spcBef>
                <a:spcPts val="0"/>
              </a:spcBef>
              <a:spcAft>
                <a:spcPts val="0"/>
              </a:spcAft>
              <a:buNone/>
            </a:pPr>
            <a:r>
              <a:rPr lang="en-US" sz="1200"/>
              <a:t>Source: https://angular.dev/guide/di</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90" name="Google Shape;9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The screen snippet is structural. The full CatalogStore has typed readonly-product and status signals, an active subscription, ProductService, requestMessage and DestroyRef. The extracted method retains HTTP validation, loading, failure, retry and cancellation behavior.</a:t>
            </a:r>
            <a:endParaRPr/>
          </a:p>
          <a:p>
            <a:pPr indent="0" lvl="0" marL="0" rtl="0" algn="l">
              <a:spcBef>
                <a:spcPts val="0"/>
              </a:spcBef>
              <a:spcAft>
                <a:spcPts val="0"/>
              </a:spcAft>
              <a:buNone/>
            </a:pPr>
            <a:r>
              <a:rPr lang="en-US" sz="1200"/>
              <a:t>Source: https://angular.dev/guide/di</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01" name="Google Shape;10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App calls store.load in ngOnInit and exposes a wrapper for Retry. Search/cart state does not invoke it. The resource URL stays fixed in ProductService. A dynamic URL would need an explicit parameter and trigger strategy. React dependency arrays and Hook-order rules do not apply.</a:t>
            </a:r>
            <a:endParaRPr/>
          </a:p>
          <a:p>
            <a:pPr indent="0" lvl="0" marL="0" rtl="0" algn="l">
              <a:spcBef>
                <a:spcPts val="0"/>
              </a:spcBef>
              <a:spcAft>
                <a:spcPts val="0"/>
              </a:spcAft>
              <a:buNone/>
            </a:pPr>
            <a:r>
              <a:rPr lang="en-US" sz="1200"/>
              <a:t>Source: https://angular.dev/guide/components/lifecycle</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12" name="Google Shape;11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validateOrder and createOrderDraft are pure functions that require no injector. A class that calls inject must be constructed by Angular in a supported context. Node lessons exercise the pure helpers, not Angular component or service decorators.</a:t>
            </a:r>
            <a:endParaRPr/>
          </a:p>
          <a:p>
            <a:pPr indent="0" lvl="0" marL="0" rtl="0" algn="l">
              <a:spcBef>
                <a:spcPts val="0"/>
              </a:spcBef>
              <a:spcAft>
                <a:spcPts val="0"/>
              </a:spcAft>
              <a:buNone/>
            </a:pPr>
            <a:r>
              <a:rPr lang="en-US" sz="1200"/>
              <a:t>Source: https://angular.dev/guide/di</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23" name="Google Shape;12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The actual customerName FormControl uses the custom trimmedName validator. Both controls are nonNullable, so reset returns them to their initial empty strings. FormGroup defines the control names and ReactiveFormsModule connects [formGroup]/formControlName to the template.</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34" name="Google Shape;1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Show form.controls.customerName.value while typing. The reactive control owns its value. Use for/id labels. Do not combine ngModel with formControlName on the same input. Angular strict template checks help find missing control/template names.</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45" name="Google Shape;145;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Type Gift wrap please. The form reads note with getRawValue. The control has no required validator, so an empty note is valid. The captured preview displays None for an empty trimmed note.</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56" name="Google Shape;156;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The Angular form directive handles default browser navigation through ngSubmit. A raw DOM submit handler without that directive would use preventDefault. novalidate disables native HTML constraint validation, while explicit reactive validators still run. The enabled button lets learners see friendly error messages.</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67" name="Google Shape;16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A validator returns null when valid and a ValidationErrors object when invalid. This trimmed two-character rule rejects blank/one-character values for the teaching example. It is not a universal rule for real names. validateOrder also checks that the cart is nonempty before creating a draft.</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78" name="Google Shape;17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The full submit method first marks all controls touched, then gets typed values, calls the helper, sets the message and returns early on error or an invalid form. A previous valid snapshot may remain after a failed later attempt, clearly labelled as its earlier captured data.</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189" name="Google Shape;189;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The name input uses aria-required, aria-invalid and aria-describedby. An empty-cart error does not mark the name invalid. Reactive controls also expose touched/dirty/invalid state. For the city exercise, associate city-specific feedback with the city input.</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00" name="Google Shape;200;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OrderDraft documents submitted values. map creates a new array and new item objects rather than storing a reference to the editable cart. reduce computes the snapshot total. Notebook ₹80 plus Bag ₹500 equals ₹580, with no delivery charge or tax calculation in this practice app.</a:t>
            </a:r>
            <a:endParaRPr/>
          </a:p>
          <a:p>
            <a:pPr indent="0" lvl="0" marL="0" rtl="0" algn="l">
              <a:spcBef>
                <a:spcPts val="0"/>
              </a:spcBef>
              <a:spcAft>
                <a:spcPts val="0"/>
              </a:spcAft>
              <a:buNone/>
            </a:pPr>
            <a:r>
              <a:rPr lang="en-US" sz="1200"/>
              <a:t>Source: https://developer.mozilla.org/en-US/docs/Web/JavaScript/Guide</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11" name="Google Shape;21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The real preview uses CurrencyPipe, the submitted name/note and a tracked item list. The message explicitly says no order has been placed. Standard interpolation treats user text as text; do not use raw HTML to display delivery notes.</a:t>
            </a:r>
            <a:endParaRPr/>
          </a:p>
          <a:p>
            <a:pPr indent="0" lvl="0" marL="0" rtl="0" algn="l">
              <a:spcBef>
                <a:spcPts val="0"/>
              </a:spcBef>
              <a:spcAft>
                <a:spcPts val="0"/>
              </a:spcAft>
              <a:buNone/>
            </a:pPr>
            <a:r>
              <a:rPr lang="en-US" sz="1200"/>
              <a:t>Source: https://angular.dev/guide/templates/control-flow</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22" name="Google Shape;222;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 minute(s).</a:t>
            </a:r>
            <a:endParaRPr/>
          </a:p>
          <a:p>
            <a:pPr indent="0" lvl="0" marL="0" rtl="0" algn="l">
              <a:spcBef>
                <a:spcPts val="0"/>
              </a:spcBef>
              <a:spcAft>
                <a:spcPts val="0"/>
              </a:spcAft>
              <a:buNone/>
            </a:pPr>
            <a:r>
              <a:rPr lang="en-US" sz="1200"/>
              <a:t>Demo: preview Notebook+Bag at ₹580, remove Notebook and observe current cart ₹500 but snapshot ₹580. Submit again and observe preview ₹500. This illustrates deliberate captured data, not React render timing.</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33" name="Google Shape;233;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nonNullable controls reset to the initial empty strings. Reset also clears error and draft. Its button uses type=button, so it does not submit. The current App cart remains selected. Page reload resets all app memory and starts loading again.</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44" name="Google Shape;244;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 minute(s).</a:t>
            </a:r>
            <a:endParaRPr/>
          </a:p>
          <a:p>
            <a:pPr indent="0" lvl="0" marL="0" rtl="0" algn="l">
              <a:spcBef>
                <a:spcPts val="0"/>
              </a:spcBef>
              <a:spcAft>
                <a:spcPts val="0"/>
              </a:spcAft>
              <a:buNone/>
            </a:pPr>
            <a:r>
              <a:rPr lang="en-US" sz="1200"/>
              <a:t>Check empty cart, spaces-only and one-character names, trimming, optional note, keyboard Enter, stock guards, filters, current-cart versus snapshot behavior, reset isolation and reload. Check HTTP error/Retry and a narrow viewport too.</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55" name="Google Shape;255;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 minute(s).</a:t>
            </a:r>
            <a:endParaRPr/>
          </a:p>
          <a:p>
            <a:pPr indent="0" lvl="0" marL="0" rtl="0" algn="l">
              <a:spcBef>
                <a:spcPts val="0"/>
              </a:spcBef>
              <a:spcAft>
                <a:spcPts val="0"/>
              </a:spcAft>
              <a:buNone/>
            </a:pPr>
            <a:r>
              <a:rPr lang="en-US" sz="1200"/>
              <a:t>Angular build writes browser files under dist/product-catalog/browser, including the public JSON resource. A local static server checks that output; it does not publish a site. This app uses hash routing for its optional route demo so the static preview needs no path fallback. Production hosting and asset subpaths need their own configuration.</a:t>
            </a:r>
            <a:endParaRPr/>
          </a:p>
          <a:p>
            <a:pPr indent="0" lvl="0" marL="0" rtl="0" algn="l">
              <a:spcBef>
                <a:spcPts val="0"/>
              </a:spcBef>
              <a:spcAft>
                <a:spcPts val="0"/>
              </a:spcAft>
              <a:buNone/>
            </a:pPr>
            <a:r>
              <a:rPr lang="en-US" sz="1200"/>
              <a:t>Source: https://angular.dev/tools/cli/deployment</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66" name="Google Shape;266;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4 minute(s).</a:t>
            </a:r>
            <a:endParaRPr/>
          </a:p>
          <a:p>
            <a:pPr indent="0" lvl="0" marL="0" rtl="0" algn="l">
              <a:spcBef>
                <a:spcPts val="0"/>
              </a:spcBef>
              <a:spcAft>
                <a:spcPts val="0"/>
              </a:spcAft>
              <a:buNone/>
            </a:pPr>
            <a:r>
              <a:rPr lang="en-US" sz="1200"/>
              <a:t>Show the actual Angular browser screenshot with fictional Demo Customer and Gift wrap please. Trace cart inputs, reactive controls, the trimmed-name validator, pure draft helper and conditional preview. The app does not send an order or payment.</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77" name="Google Shape;277;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3 minute(s).</a:t>
            </a:r>
            <a:endParaRPr/>
          </a:p>
          <a:p>
            <a:pPr indent="0" lvl="0" marL="0" rtl="0" algn="l">
              <a:spcBef>
                <a:spcPts val="0"/>
              </a:spcBef>
              <a:spcAft>
                <a:spcPts val="0"/>
              </a:spcAft>
              <a:buNone/>
            </a:pPr>
            <a:r>
              <a:rPr lang="en-US" sz="1200"/>
              <a:t>Run npm run check:day-five. Read App, CatalogStore, ProductService, OrderForm and order-draft.ts. The Node example uses the static product dataset for isolated pure helpers, while the live app fetches JSON. A course-reference route is implemented below the persistent catalog shell.</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87" name="Google Shape;287;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5 minute(s).</a:t>
            </a:r>
            <a:endParaRPr/>
          </a:p>
          <a:p>
            <a:pPr indent="0" lvl="0" marL="0" rtl="0" algn="l">
              <a:spcBef>
                <a:spcPts val="0"/>
              </a:spcBef>
              <a:spcAft>
                <a:spcPts val="0"/>
              </a:spcAft>
              <a:buNone/>
            </a:pPr>
            <a:r>
              <a:rPr lang="en-US" sz="1200"/>
              <a:t>Learner task: add a nonNullable city control with trimmed required validation, pass it to the helper, extend OrderDraft, render it and reset it. Blank city must block, Kolkata must appear, reset must clear, and Notebook+Bag must still total ₹580. Add city-specific accessible feedback. The starter leaves this feature for learners.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298" name="Google Shape;298;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 minute(s).</a:t>
            </a:r>
            <a:endParaRPr/>
          </a:p>
          <a:p>
            <a:pPr indent="0" lvl="0" marL="0" rtl="0" algn="l">
              <a:spcBef>
                <a:spcPts val="0"/>
              </a:spcBef>
              <a:spcAft>
                <a:spcPts val="0"/>
              </a:spcAft>
              <a:buNone/>
            </a:pPr>
            <a:r>
              <a:rPr lang="en-US" sz="1200"/>
              <a:t>A missing ReactiveFormsModule breaks form directives. A mismatched formControlName cannot connect to the group. Keep reactive controls separate from ngModel. Provider scope controls service sharing. Pure helpers need no DI. A local preview never implies an actual placed order.</a:t>
            </a:r>
            <a:endParaRPr/>
          </a:p>
          <a:p>
            <a:pPr indent="0" lvl="0" marL="0" rtl="0" algn="l">
              <a:spcBef>
                <a:spcPts val="0"/>
              </a:spcBef>
              <a:spcAft>
                <a:spcPts val="0"/>
              </a:spcAft>
              <a:buNone/>
            </a:pPr>
            <a:r>
              <a:rPr lang="en-US" sz="1200"/>
              <a:t>Source: https://angular.dev/guide/forms/reactive-forms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09" name="Google Shape;309;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3 minute(s).</a:t>
            </a:r>
            <a:endParaRPr/>
          </a:p>
          <a:p>
            <a:pPr indent="0" lvl="0" marL="0" rtl="0" algn="l">
              <a:spcBef>
                <a:spcPts val="0"/>
              </a:spcBef>
              <a:spcAft>
                <a:spcPts val="0"/>
              </a:spcAft>
              <a:buNone/>
            </a:pPr>
            <a:r>
              <a:rPr lang="en-US" sz="1200"/>
              <a:t>Answers: 1 Provider scope. 2 A named reactive control. 3 Validators plus the helper message and early return. 4 Items and total were copied at submission time. 5 No, ng build writes local files. Also compare raw preventDefault with Angular ngSubmit.</a:t>
            </a:r>
            <a:endParaRPr/>
          </a:p>
          <a:p>
            <a:pPr indent="0" lvl="0" marL="0" rtl="0" algn="l">
              <a:spcBef>
                <a:spcPts val="0"/>
              </a:spcBef>
              <a:spcAft>
                <a:spcPts val="0"/>
              </a:spcAft>
              <a:buNone/>
            </a:pPr>
            <a:r>
              <a:rPr lang="en-US" sz="1200"/>
              <a:t>Source: https://angular.dev/guide/di</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20" name="Google Shape;320;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 minute(s).</a:t>
            </a:r>
            <a:endParaRPr/>
          </a:p>
          <a:p>
            <a:pPr indent="0" lvl="0" marL="0" rtl="0" algn="l">
              <a:spcBef>
                <a:spcPts val="0"/>
              </a:spcBef>
              <a:spcAft>
                <a:spcPts val="0"/>
              </a:spcAft>
              <a:buNone/>
            </a:pPr>
            <a:r>
              <a:rPr lang="en-US" sz="1200"/>
              <a:t>Homework: store maximum-price input text in a signal, treat blank as no limit, validate before Number and compute the matches. At ₹100, Notebook and Pen appear before applying stock. Explain the whole app and practise request errors. The official TCS syllabus has not been supplied; certification follows official requirements.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31" name="Google Shape;331;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0 minute(s). Optional reference after class.</a:t>
            </a:r>
            <a:endParaRPr/>
          </a:p>
          <a:p>
            <a:pPr indent="0" lvl="0" marL="0" rtl="0" algn="l">
              <a:spcBef>
                <a:spcPts val="0"/>
              </a:spcBef>
              <a:spcAft>
                <a:spcPts val="0"/>
              </a:spcAft>
              <a:buNone/>
            </a:pPr>
            <a:r>
              <a:rPr lang="en-US" sz="1200"/>
              <a:t>Read app.routes.ts. The first match wins and wildcard belongs last. The root path uses pathMatch full. The catalog/cart stay mounted above RouterOutlet, so their state survives navigation. withHashLocation supports the simple static-build preview.</a:t>
            </a:r>
            <a:endParaRPr/>
          </a:p>
          <a:p>
            <a:pPr indent="0" lvl="0" marL="0" rtl="0" algn="l">
              <a:spcBef>
                <a:spcPts val="0"/>
              </a:spcBef>
              <a:spcAft>
                <a:spcPts val="0"/>
              </a:spcAft>
              <a:buNone/>
            </a:pPr>
            <a:r>
              <a:rPr lang="en-US" sz="1200"/>
              <a:t>Source: https://angular.dev/guide/routing/define-routes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40" name="Google Shape;340;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0 minute(s). Optional reference after class.</a:t>
            </a:r>
            <a:endParaRPr/>
          </a:p>
          <a:p>
            <a:pPr indent="0" lvl="0" marL="0" rtl="0" algn="l">
              <a:spcBef>
                <a:spcPts val="0"/>
              </a:spcBef>
              <a:spcAft>
                <a:spcPts val="0"/>
              </a:spcAft>
              <a:buNone/>
            </a:pPr>
            <a:r>
              <a:rPr lang="en-US" sz="1200"/>
              <a:t>The Day 5 project implements RouterLink to the courses route and RouterOutlet below the catalog shell. Import both in the standalone App and register provideRouter(routes, withHashLocation()) in main.ts. Navigation shows the course references without reloading the app.</a:t>
            </a:r>
            <a:endParaRPr/>
          </a:p>
          <a:p>
            <a:pPr indent="0" lvl="0" marL="0" rtl="0" algn="l">
              <a:spcBef>
                <a:spcPts val="0"/>
              </a:spcBef>
              <a:spcAft>
                <a:spcPts val="0"/>
              </a:spcAft>
              <a:buNone/>
            </a:pPr>
            <a:r>
              <a:rPr lang="en-US" sz="1200"/>
              <a:t>Source: https://angular.dev/guide/routing/show-routes-with-outlets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51" name="Google Shape;351;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0 minute(s). Optional reference after class.</a:t>
            </a:r>
            <a:endParaRPr/>
          </a:p>
          <a:p>
            <a:pPr indent="0" lvl="0" marL="0" rtl="0" algn="l">
              <a:spcBef>
                <a:spcPts val="0"/>
              </a:spcBef>
              <a:spcAft>
                <a:spcPts val="0"/>
              </a:spcAft>
              <a:buNone/>
            </a:pPr>
            <a:r>
              <a:rPr lang="en-US" sz="1200"/>
              <a:t>This is a future extension example. A product-detail file and parameterized route are not included in the beginner starter. ActivatedRoute can read the parameter, and loadComponent can import a page lazily. Explain the URL/resource relation before implementing it.</a:t>
            </a:r>
            <a:endParaRPr/>
          </a:p>
          <a:p>
            <a:pPr indent="0" lvl="0" marL="0" rtl="0" algn="l">
              <a:spcBef>
                <a:spcPts val="0"/>
              </a:spcBef>
              <a:spcAft>
                <a:spcPts val="0"/>
              </a:spcAft>
              <a:buNone/>
            </a:pPr>
            <a:r>
              <a:rPr lang="en-US" sz="1200"/>
              <a:t>Source: https://angular.dev/guide/routing/define-routes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62" name="Google Shape;362;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0 minute(s). Optional reference after class.</a:t>
            </a:r>
            <a:endParaRPr/>
          </a:p>
          <a:p>
            <a:pPr indent="0" lvl="0" marL="0" rtl="0" algn="l">
              <a:spcBef>
                <a:spcPts val="0"/>
              </a:spcBef>
              <a:spcAft>
                <a:spcPts val="0"/>
              </a:spcAft>
              <a:buNone/>
            </a:pPr>
            <a:r>
              <a:rPr lang="en-US" sz="1200"/>
              <a:t>Guards control browser route navigation; they do not secure a backend. Interceptors can add headers or handle request/response behavior centrally. Real authorization and validation belong on the server too. Do not place secret API keys in a browser bundle. This is reference coverage rather than a live auth implementation.</a:t>
            </a:r>
            <a:endParaRPr/>
          </a:p>
          <a:p>
            <a:pPr indent="0" lvl="0" marL="0" rtl="0" algn="l">
              <a:spcBef>
                <a:spcPts val="0"/>
              </a:spcBef>
              <a:spcAft>
                <a:spcPts val="0"/>
              </a:spcAft>
              <a:buNone/>
            </a:pPr>
            <a:r>
              <a:rPr lang="en-US" sz="1200"/>
              <a:t>Source: https://angular.dev/guide/http/interceptors</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73" name="Google Shape;373;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0 minute(s). Optional reference after class.</a:t>
            </a:r>
            <a:endParaRPr/>
          </a:p>
          <a:p>
            <a:pPr indent="0" lvl="0" marL="0" rtl="0" algn="l">
              <a:spcBef>
                <a:spcPts val="0"/>
              </a:spcBef>
              <a:spcAft>
                <a:spcPts val="0"/>
              </a:spcAft>
              <a:buNone/>
            </a:pPr>
            <a:r>
              <a:rPr lang="en-US" sz="1200"/>
              <a:t>The delivered examples include runnable helper checks and full browser interaction checks. Angular TestBed and HttpTestingController are next-step testing tools. They are explained without claiming an unconfigured npm test script exists. Hash routing works with the simple static server; path routing needs a server fallback.</a:t>
            </a:r>
            <a:endParaRPr/>
          </a:p>
          <a:p>
            <a:pPr indent="0" lvl="0" marL="0" rtl="0" algn="l">
              <a:spcBef>
                <a:spcPts val="0"/>
              </a:spcBef>
              <a:spcAft>
                <a:spcPts val="0"/>
              </a:spcAft>
              <a:buNone/>
            </a:pPr>
            <a:r>
              <a:rPr lang="en-US" sz="1200"/>
              <a:t>Source: https://angular.dev/guide/http/testing</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82" name="Google Shape;382;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 minute(s).</a:t>
            </a:r>
            <a:endParaRPr/>
          </a:p>
          <a:p>
            <a:pPr indent="0" lvl="0" marL="0" rtl="0" algn="l">
              <a:spcBef>
                <a:spcPts val="0"/>
              </a:spcBef>
              <a:spcAft>
                <a:spcPts val="0"/>
              </a:spcAft>
              <a:buNone/>
            </a:pPr>
            <a:r>
              <a:rPr lang="en-US" sz="1200"/>
              <a:t>The two course IDs 75214 and 62104 were supplied by Subha Prasad. Course titles, portal links and deadlines were not supplied. Check the internal learning portal. Close with questions and continued practice, without promising certification.</a:t>
            </a:r>
            <a:endParaRPr/>
          </a:p>
          <a:p>
            <a:pPr indent="0" lvl="0" marL="0" rtl="0" algn="l">
              <a:spcBef>
                <a:spcPts val="0"/>
              </a:spcBef>
              <a:spcAft>
                <a:spcPts val="0"/>
              </a:spcAft>
              <a:buNone/>
            </a:pPr>
            <a:r>
              <a:rPr lang="en-US" sz="1200"/>
              <a:t>Code blocks are excerpts unless they show a complete component. Prices are fictional INR values. The cart has one entry per product.</a:t>
            </a:r>
            <a:endParaRPr/>
          </a:p>
        </p:txBody>
      </p:sp>
      <p:sp>
        <p:nvSpPr>
          <p:cNvPr id="393" name="Google Shape;393;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8"/>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38"/>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39"/>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40"/>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40"/>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41"/>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41"/>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41"/>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42"/>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42"/>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3749"/>
        </a:solidFill>
      </p:bgPr>
    </p:bg>
    <p:spTree>
      <p:nvGrpSpPr>
        <p:cNvPr id="30" name="Shape 30"/>
        <p:cNvGrpSpPr/>
        <p:nvPr/>
      </p:nvGrpSpPr>
      <p:grpSpPr>
        <a:xfrm>
          <a:off x="0" y="0"/>
          <a:ext cx="0" cy="0"/>
          <a:chOff x="0" y="0"/>
          <a:chExt cx="0" cy="0"/>
        </a:xfrm>
      </p:grpSpPr>
      <p:sp>
        <p:nvSpPr>
          <p:cNvPr id="31" name="Google Shape;31;p1"/>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E8DF"/>
              </a:buClr>
              <a:buSzPts val="1275"/>
              <a:buFont typeface="Arial"/>
              <a:buNone/>
            </a:pPr>
            <a:r>
              <a:rPr b="1" lang="en-US" sz="1275">
                <a:solidFill>
                  <a:srgbClr val="92E8DF"/>
                </a:solidFill>
                <a:latin typeface="Arial"/>
                <a:ea typeface="Arial"/>
                <a:cs typeface="Arial"/>
                <a:sym typeface="Arial"/>
              </a:rPr>
              <a:t>INTRODUCTION</a:t>
            </a:r>
            <a:endParaRPr/>
          </a:p>
        </p:txBody>
      </p:sp>
      <p:sp>
        <p:nvSpPr>
          <p:cNvPr id="32" name="Google Shape;32;p1"/>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650"/>
              <a:buFont typeface="Arial"/>
              <a:buNone/>
            </a:pPr>
            <a:r>
              <a:rPr b="1" lang="en-US" sz="4650">
                <a:solidFill>
                  <a:srgbClr val="FFFFFF"/>
                </a:solidFill>
                <a:latin typeface="Arial"/>
                <a:ea typeface="Arial"/>
                <a:cs typeface="Arial"/>
                <a:sym typeface="Arial"/>
              </a:rPr>
              <a:t>Angular · Day Five</a:t>
            </a:r>
            <a:endParaRPr/>
          </a:p>
        </p:txBody>
      </p:sp>
      <p:pic>
        <p:nvPicPr>
          <p:cNvPr id="33" name="Google Shape;33;p1"/>
          <p:cNvPicPr preferRelativeResize="0"/>
          <p:nvPr/>
        </p:nvPicPr>
        <p:blipFill rotWithShape="1">
          <a:blip r:embed="rId3">
            <a:alphaModFix/>
          </a:blip>
          <a:srcRect b="0" l="0" r="0" t="0"/>
          <a:stretch/>
        </p:blipFill>
        <p:spPr>
          <a:xfrm>
            <a:off x="6477000" y="2000250"/>
            <a:ext cx="5143500" cy="3429000"/>
          </a:xfrm>
          <a:prstGeom prst="rect">
            <a:avLst/>
          </a:prstGeom>
          <a:noFill/>
          <a:ln>
            <a:noFill/>
          </a:ln>
        </p:spPr>
      </p:pic>
      <p:sp>
        <p:nvSpPr>
          <p:cNvPr id="34" name="Google Shape;34;p1"/>
          <p:cNvSpPr/>
          <p:nvPr/>
        </p:nvSpPr>
        <p:spPr>
          <a:xfrm>
            <a:off x="609600" y="2381250"/>
            <a:ext cx="5524500" cy="2476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325"/>
              <a:buFont typeface="Arial"/>
              <a:buNone/>
            </a:pPr>
            <a:r>
              <a:rPr b="0" lang="en-US" sz="2325">
                <a:solidFill>
                  <a:srgbClr val="FFFFFF"/>
                </a:solidFill>
                <a:latin typeface="Arial"/>
                <a:ea typeface="Arial"/>
                <a:cs typeface="Arial"/>
                <a:sym typeface="Arial"/>
              </a:rPr>
              <a:t>Reactive forms and the final Product Catalog mini-project</a:t>
            </a:r>
            <a:endParaRPr/>
          </a:p>
          <a:p>
            <a:pPr indent="0" lvl="0" marL="0" marR="0" rtl="0" algn="l">
              <a:spcBef>
                <a:spcPts val="0"/>
              </a:spcBef>
              <a:spcAft>
                <a:spcPts val="0"/>
              </a:spcAft>
              <a:buClr>
                <a:srgbClr val="FFFFFF"/>
              </a:buClr>
              <a:buSzPts val="2325"/>
              <a:buFont typeface="Arial"/>
              <a:buNone/>
            </a:pPr>
            <a:r>
              <a:rPr b="0" lang="en-US" sz="2325">
                <a:solidFill>
                  <a:srgbClr val="FFFFFF"/>
                </a:solidFill>
                <a:latin typeface="Arial"/>
                <a:ea typeface="Arial"/>
                <a:cs typeface="Arial"/>
                <a:sym typeface="Arial"/>
              </a:rPr>
              <a:t>Subha Prasad</a:t>
            </a:r>
            <a:endParaRPr/>
          </a:p>
          <a:p>
            <a:pPr indent="0" lvl="0" marL="0" marR="0" rtl="0" algn="l">
              <a:spcBef>
                <a:spcPts val="0"/>
              </a:spcBef>
              <a:spcAft>
                <a:spcPts val="0"/>
              </a:spcAft>
              <a:buClr>
                <a:srgbClr val="FFFFFF"/>
              </a:buClr>
              <a:buSzPts val="2325"/>
              <a:buFont typeface="Arial"/>
              <a:buNone/>
            </a:pPr>
            <a:r>
              <a:rPr b="0" lang="en-US" sz="2325">
                <a:solidFill>
                  <a:srgbClr val="FFFFFF"/>
                </a:solidFill>
                <a:latin typeface="Arial"/>
                <a:ea typeface="Arial"/>
                <a:cs typeface="Arial"/>
                <a:sym typeface="Arial"/>
              </a:rPr>
              <a:t>16 October 2026 · 10:00–11:00 AM IST</a:t>
            </a:r>
            <a:endParaRPr/>
          </a:p>
        </p:txBody>
      </p:sp>
      <p:sp>
        <p:nvSpPr>
          <p:cNvPr id="35" name="Google Shape;35;p1"/>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B4C2"/>
              </a:buClr>
              <a:buSzPts val="1200"/>
              <a:buFont typeface="Arial"/>
              <a:buNone/>
            </a:pPr>
            <a:r>
              <a:rPr b="0" lang="en-US" sz="1200">
                <a:solidFill>
                  <a:srgbClr val="92B4C2"/>
                </a:solidFill>
                <a:latin typeface="Arial"/>
                <a:ea typeface="Arial"/>
                <a:cs typeface="Arial"/>
                <a:sym typeface="Arial"/>
              </a:rPr>
              <a:t>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40" name="Shape 40"/>
        <p:cNvGrpSpPr/>
        <p:nvPr/>
      </p:nvGrpSpPr>
      <p:grpSpPr>
        <a:xfrm>
          <a:off x="0" y="0"/>
          <a:ext cx="0" cy="0"/>
          <a:chOff x="0" y="0"/>
          <a:chExt cx="0" cy="0"/>
        </a:xfrm>
      </p:grpSpPr>
      <p:sp>
        <p:nvSpPr>
          <p:cNvPr id="41" name="Google Shape;41;p2"/>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INTRODUCTION</a:t>
            </a:r>
            <a:endParaRPr/>
          </a:p>
        </p:txBody>
      </p:sp>
      <p:sp>
        <p:nvSpPr>
          <p:cNvPr id="42" name="Google Shape;42;p2"/>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Today’s learning goals</a:t>
            </a:r>
            <a:endParaRPr/>
          </a:p>
        </p:txBody>
      </p:sp>
      <p:sp>
        <p:nvSpPr>
          <p:cNvPr id="43" name="Google Shape;43;p2"/>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Extract request state into a scoped service.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Validate a reactive form.</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Capture a practice order snapshot.</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Explain the complete five-day application.</a:t>
            </a:r>
            <a:endParaRPr/>
          </a:p>
        </p:txBody>
      </p:sp>
      <p:sp>
        <p:nvSpPr>
          <p:cNvPr id="44" name="Google Shape;44;p2"/>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49" name="Shape 49"/>
        <p:cNvGrpSpPr/>
        <p:nvPr/>
      </p:nvGrpSpPr>
      <p:grpSpPr>
        <a:xfrm>
          <a:off x="0" y="0"/>
          <a:ext cx="0" cy="0"/>
          <a:chOff x="0" y="0"/>
          <a:chExt cx="0" cy="0"/>
        </a:xfrm>
      </p:grpSpPr>
      <p:sp>
        <p:nvSpPr>
          <p:cNvPr id="50" name="Google Shape;50;p3"/>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INDEX</a:t>
            </a:r>
            <a:endParaRPr/>
          </a:p>
        </p:txBody>
      </p:sp>
      <p:sp>
        <p:nvSpPr>
          <p:cNvPr id="51" name="Google Shape;51;p3"/>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Day 5 topic index</a:t>
            </a:r>
            <a:endParaRPr/>
          </a:p>
        </p:txBody>
      </p:sp>
      <p:sp>
        <p:nvSpPr>
          <p:cNvPr id="52" name="Google Shape;52;p3"/>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01  Recap and project responsibilities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02  A reusable CatalogStore service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03  Reactive forms and validation</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04  Preview, reset, build and hands-on</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05  Quiz, reference topics and course IDs</a:t>
            </a:r>
            <a:endParaRPr/>
          </a:p>
        </p:txBody>
      </p:sp>
      <p:sp>
        <p:nvSpPr>
          <p:cNvPr id="53" name="Google Shape;53;p3"/>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58" name="Shape 58"/>
        <p:cNvGrpSpPr/>
        <p:nvPr/>
      </p:nvGrpSpPr>
      <p:grpSpPr>
        <a:xfrm>
          <a:off x="0" y="0"/>
          <a:ext cx="0" cy="0"/>
          <a:chOff x="0" y="0"/>
          <a:chExt cx="0" cy="0"/>
        </a:xfrm>
      </p:grpSpPr>
      <p:sp>
        <p:nvSpPr>
          <p:cNvPr id="59" name="Google Shape;59;p4"/>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RECAP</a:t>
            </a:r>
            <a:endParaRPr/>
          </a:p>
        </p:txBody>
      </p:sp>
      <p:sp>
        <p:nvSpPr>
          <p:cNvPr id="60" name="Google Shape;60;p4"/>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Our five-day learning path</a:t>
            </a:r>
            <a:endParaRPr/>
          </a:p>
        </p:txBody>
      </p:sp>
      <p:sp>
        <p:nvSpPr>
          <p:cNvPr id="61" name="Google Shape;61;p4"/>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Day 1  JavaScript, TypeScript and templates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Day 2  Inputs, projection, conditions and lists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Day 3  Signals, events, filters and cart</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Day 4  DI, HTTP, Observables and request states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Day 5  Reactive forms and final practice</a:t>
            </a:r>
            <a:endParaRPr/>
          </a:p>
        </p:txBody>
      </p:sp>
      <p:sp>
        <p:nvSpPr>
          <p:cNvPr id="62" name="Google Shape;62;p4"/>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63" name="Google Shape;63;p4"/>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
        <p:nvSpPr>
          <p:cNvPr id="64" name="Google Shape;64;p4"/>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69" name="Shape 69"/>
        <p:cNvGrpSpPr/>
        <p:nvPr/>
      </p:nvGrpSpPr>
      <p:grpSpPr>
        <a:xfrm>
          <a:off x="0" y="0"/>
          <a:ext cx="0" cy="0"/>
          <a:chOff x="0" y="0"/>
          <a:chExt cx="0" cy="0"/>
        </a:xfrm>
      </p:grpSpPr>
      <p:sp>
        <p:nvSpPr>
          <p:cNvPr id="70" name="Google Shape;70;p5"/>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PROJECT</a:t>
            </a:r>
            <a:endParaRPr/>
          </a:p>
        </p:txBody>
      </p:sp>
      <p:sp>
        <p:nvSpPr>
          <p:cNvPr id="71" name="Google Shape;71;p5"/>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The complete user flow</a:t>
            </a:r>
            <a:endParaRPr/>
          </a:p>
        </p:txBody>
      </p:sp>
      <p:sp>
        <p:nvSpPr>
          <p:cNvPr id="72" name="Google Shape;72;p5"/>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Load JSON products.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Search and select in-stock items.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Enter a fictional name and optional note.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Preview the selected items and total.</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Reset or create another snapshot.</a:t>
            </a:r>
            <a:endParaRPr/>
          </a:p>
        </p:txBody>
      </p:sp>
      <p:sp>
        <p:nvSpPr>
          <p:cNvPr id="73" name="Google Shape;73;p5"/>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74" name="Google Shape;74;p5"/>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
        <p:nvSpPr>
          <p:cNvPr id="75" name="Google Shape;75;p5"/>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80" name="Shape 80"/>
        <p:cNvGrpSpPr/>
        <p:nvPr/>
      </p:nvGrpSpPr>
      <p:grpSpPr>
        <a:xfrm>
          <a:off x="0" y="0"/>
          <a:ext cx="0" cy="0"/>
          <a:chOff x="0" y="0"/>
          <a:chExt cx="0" cy="0"/>
        </a:xfrm>
      </p:grpSpPr>
      <p:sp>
        <p:nvSpPr>
          <p:cNvPr id="81" name="Google Shape;81;p6"/>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82" name="Google Shape;82;p6"/>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Component and service responsibilities</a:t>
            </a:r>
            <a:endParaRPr/>
          </a:p>
        </p:txBody>
      </p:sp>
      <p:sp>
        <p:nvSpPr>
          <p:cNvPr id="83" name="Google Shape;83;p6"/>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App owns the shared cart and filters.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CatalogStore owns request state and cleanup.</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OrderForm owns reactive controls and preview.</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Display components receive inputs.</a:t>
            </a:r>
            <a:endParaRPr/>
          </a:p>
        </p:txBody>
      </p:sp>
      <p:sp>
        <p:nvSpPr>
          <p:cNvPr id="84" name="Google Shape;84;p6"/>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&lt;app-order-form [cart]="cart()" /&gt;</a:t>
            </a:r>
            <a:endParaRPr/>
          </a:p>
        </p:txBody>
      </p:sp>
      <p:sp>
        <p:nvSpPr>
          <p:cNvPr id="85" name="Google Shape;85;p6"/>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State stays with its relevant owner</a:t>
            </a:r>
            <a:endParaRPr/>
          </a:p>
        </p:txBody>
      </p:sp>
      <p:sp>
        <p:nvSpPr>
          <p:cNvPr id="86" name="Google Shape;86;p6"/>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91" name="Shape 91"/>
        <p:cNvGrpSpPr/>
        <p:nvPr/>
      </p:nvGrpSpPr>
      <p:grpSpPr>
        <a:xfrm>
          <a:off x="0" y="0"/>
          <a:ext cx="0" cy="0"/>
          <a:chOff x="0" y="0"/>
          <a:chExt cx="0" cy="0"/>
        </a:xfrm>
      </p:grpSpPr>
      <p:sp>
        <p:nvSpPr>
          <p:cNvPr id="92" name="Google Shape;92;p7"/>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93" name="Google Shape;93;p7"/>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Reusable stateful logic in a service</a:t>
            </a:r>
            <a:endParaRPr/>
          </a:p>
        </p:txBody>
      </p:sp>
      <p:sp>
        <p:nvSpPr>
          <p:cNvPr id="94" name="Google Shape;94;p7"/>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 service groups request logic and state.</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inject obtains the provided instance.</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The provider scope determines sharing.</a:t>
            </a:r>
            <a:endParaRPr/>
          </a:p>
        </p:txBody>
      </p:sp>
      <p:sp>
        <p:nvSpPr>
          <p:cNvPr id="95" name="Google Shape;95;p7"/>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@Component({</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providers: [CatalogStore],</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 other metadata</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a:t>
            </a:r>
            <a:endParaRPr/>
          </a:p>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private store = inject(CatalogStore);</a:t>
            </a:r>
            <a:endParaRPr/>
          </a:p>
        </p:txBody>
      </p:sp>
      <p:sp>
        <p:nvSpPr>
          <p:cNvPr id="96" name="Google Shape;96;p7"/>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Each App instance owns a separate store</a:t>
            </a:r>
            <a:endParaRPr/>
          </a:p>
        </p:txBody>
      </p:sp>
      <p:sp>
        <p:nvSpPr>
          <p:cNvPr id="97" name="Google Shape;97;p7"/>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02" name="Shape 102"/>
        <p:cNvGrpSpPr/>
        <p:nvPr/>
      </p:nvGrpSpPr>
      <p:grpSpPr>
        <a:xfrm>
          <a:off x="0" y="0"/>
          <a:ext cx="0" cy="0"/>
          <a:chOff x="0" y="0"/>
          <a:chExt cx="0" cy="0"/>
        </a:xfrm>
      </p:grpSpPr>
      <p:sp>
        <p:nvSpPr>
          <p:cNvPr id="103" name="Google Shape;103;p8"/>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04" name="Google Shape;104;p8"/>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Extracting the Day 4 request logic</a:t>
            </a:r>
            <a:endParaRPr/>
          </a:p>
        </p:txBody>
      </p:sp>
      <p:sp>
        <p:nvSpPr>
          <p:cNvPr id="105" name="Google Shape;105;p8"/>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Move products, status and error signals.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Move request/cancellation logic.</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Expose a load method and readable state.</a:t>
            </a:r>
            <a:endParaRPr/>
          </a:p>
        </p:txBody>
      </p:sp>
      <p:sp>
        <p:nvSpPr>
          <p:cNvPr id="106" name="Google Shape;106;p8"/>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@Injectable()</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export class CatalogStore {</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  readonly products = signal&lt;Product[]&gt;([]);</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  readonly status = signal("loading");</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  load() { /* Day 4 request logic */ }</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a:t>
            </a:r>
            <a:endParaRPr/>
          </a:p>
        </p:txBody>
      </p:sp>
      <p:sp>
        <p:nvSpPr>
          <p:cNvPr id="107" name="Google Shape;107;p8"/>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App delegates loading to the injected store</a:t>
            </a:r>
            <a:endParaRPr/>
          </a:p>
        </p:txBody>
      </p:sp>
      <p:sp>
        <p:nvSpPr>
          <p:cNvPr id="108" name="Google Shape;108;p8"/>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13" name="Shape 113"/>
        <p:cNvGrpSpPr/>
        <p:nvPr/>
      </p:nvGrpSpPr>
      <p:grpSpPr>
        <a:xfrm>
          <a:off x="0" y="0"/>
          <a:ext cx="0" cy="0"/>
          <a:chOff x="0" y="0"/>
          <a:chExt cx="0" cy="0"/>
        </a:xfrm>
      </p:grpSpPr>
      <p:sp>
        <p:nvSpPr>
          <p:cNvPr id="114" name="Google Shape;114;p9"/>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15" name="Google Shape;115;p9"/>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Request triggers after extraction</a:t>
            </a:r>
            <a:endParaRPr/>
          </a:p>
        </p:txBody>
      </p:sp>
      <p:sp>
        <p:nvSpPr>
          <p:cNvPr id="116" name="Google Shape;116;p9"/>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ngOnInit starts the store’s initial load.</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Retry calls load again.</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The component scope owns cleanup.</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Search and cart do not reload the catalog.</a:t>
            </a:r>
            <a:endParaRPr/>
          </a:p>
        </p:txBody>
      </p:sp>
      <p:sp>
        <p:nvSpPr>
          <p:cNvPr id="117" name="Google Shape;117;p9"/>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ngOnInit() { this.store.load(); }</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loadProducts() { this.store.load(); }</a:t>
            </a:r>
            <a:endParaRPr/>
          </a:p>
        </p:txBody>
      </p:sp>
      <p:sp>
        <p:nvSpPr>
          <p:cNvPr id="118" name="Google Shape;118;p9"/>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Explicit methods define request triggers</a:t>
            </a:r>
            <a:endParaRPr/>
          </a:p>
        </p:txBody>
      </p:sp>
      <p:sp>
        <p:nvSpPr>
          <p:cNvPr id="119" name="Google Shape;119;p9"/>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24" name="Shape 124"/>
        <p:cNvGrpSpPr/>
        <p:nvPr/>
      </p:nvGrpSpPr>
      <p:grpSpPr>
        <a:xfrm>
          <a:off x="0" y="0"/>
          <a:ext cx="0" cy="0"/>
          <a:chOff x="0" y="0"/>
          <a:chExt cx="0" cy="0"/>
        </a:xfrm>
      </p:grpSpPr>
      <p:sp>
        <p:nvSpPr>
          <p:cNvPr id="125" name="Google Shape;125;p10"/>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26" name="Google Shape;126;p10"/>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Services and plain helper functions</a:t>
            </a:r>
            <a:endParaRPr/>
          </a:p>
        </p:txBody>
      </p:sp>
      <p:sp>
        <p:nvSpPr>
          <p:cNvPr id="127" name="Google Shape;127;p10"/>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CatalogStore uses injected dependencies.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validateOrder is an ordinary function.</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createOrderDraft returns calculated data.</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Pure helpers can run in Node.</a:t>
            </a:r>
            <a:endParaRPr/>
          </a:p>
        </p:txBody>
      </p:sp>
      <p:sp>
        <p:nvSpPr>
          <p:cNvPr id="128" name="Google Shape;128;p10"/>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const message =</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validateOrder(cart, customerName);</a:t>
            </a:r>
            <a:endParaRPr/>
          </a:p>
        </p:txBody>
      </p:sp>
      <p:sp>
        <p:nvSpPr>
          <p:cNvPr id="129" name="Google Shape;129;p10"/>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A pure helper needs no Angular injection</a:t>
            </a:r>
            <a:endParaRPr/>
          </a:p>
        </p:txBody>
      </p:sp>
      <p:sp>
        <p:nvSpPr>
          <p:cNvPr id="130" name="Google Shape;130;p10"/>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35" name="Shape 135"/>
        <p:cNvGrpSpPr/>
        <p:nvPr/>
      </p:nvGrpSpPr>
      <p:grpSpPr>
        <a:xfrm>
          <a:off x="0" y="0"/>
          <a:ext cx="0" cy="0"/>
          <a:chOff x="0" y="0"/>
          <a:chExt cx="0" cy="0"/>
        </a:xfrm>
      </p:grpSpPr>
      <p:sp>
        <p:nvSpPr>
          <p:cNvPr id="136" name="Google Shape;136;p11"/>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37" name="Google Shape;137;p11"/>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Typed reactive form controls</a:t>
            </a:r>
            <a:endParaRPr/>
          </a:p>
        </p:txBody>
      </p:sp>
      <p:sp>
        <p:nvSpPr>
          <p:cNvPr id="138" name="Google Shape;138;p11"/>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FormGroup holds named controls.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FormControl stores a field value.</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ReactiveFormsModule connects template directives.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Submitted preview state stays separate.</a:t>
            </a:r>
            <a:endParaRPr/>
          </a:p>
        </p:txBody>
      </p:sp>
      <p:sp>
        <p:nvSpPr>
          <p:cNvPr id="139" name="Google Shape;139;p11"/>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readonly form = new FormGroup({</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customerName: new FormControl("",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nonNullable: true</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note: new FormControl("", { nonNullable: true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a:t>
            </a:r>
            <a:endParaRPr/>
          </a:p>
        </p:txBody>
      </p:sp>
      <p:sp>
        <p:nvSpPr>
          <p:cNvPr id="140" name="Google Shape;140;p11"/>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Form controls hold the editable values</a:t>
            </a:r>
            <a:endParaRPr/>
          </a:p>
        </p:txBody>
      </p:sp>
      <p:sp>
        <p:nvSpPr>
          <p:cNvPr id="141" name="Google Shape;141;p11"/>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46" name="Shape 146"/>
        <p:cNvGrpSpPr/>
        <p:nvPr/>
      </p:nvGrpSpPr>
      <p:grpSpPr>
        <a:xfrm>
          <a:off x="0" y="0"/>
          <a:ext cx="0" cy="0"/>
          <a:chOff x="0" y="0"/>
          <a:chExt cx="0" cy="0"/>
        </a:xfrm>
      </p:grpSpPr>
      <p:sp>
        <p:nvSpPr>
          <p:cNvPr id="147" name="Google Shape;147;p12"/>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48" name="Google Shape;148;p12"/>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Labels and the name control</a:t>
            </a:r>
            <a:endParaRPr/>
          </a:p>
        </p:txBody>
      </p:sp>
      <p:sp>
        <p:nvSpPr>
          <p:cNvPr id="149" name="Google Shape;149;p12"/>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 label names the input.</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formControlName connects the control.</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FormGroup controls are the source of truth.</a:t>
            </a:r>
            <a:endParaRPr/>
          </a:p>
        </p:txBody>
      </p:sp>
      <p:sp>
        <p:nvSpPr>
          <p:cNvPr id="150" name="Google Shape;150;p12"/>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&lt;form [formGroup]="form"&gt;</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&lt;label for="customer-name"&gt;Customer name&lt;/label&gt;</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&lt;input id="customer-name"</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formControlName="customerName" /&gt;</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&lt;/form&gt;</a:t>
            </a:r>
            <a:endParaRPr/>
          </a:p>
        </p:txBody>
      </p:sp>
      <p:sp>
        <p:nvSpPr>
          <p:cNvPr id="151" name="Google Shape;151;p12"/>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Typing updates the customerName control</a:t>
            </a:r>
            <a:endParaRPr/>
          </a:p>
        </p:txBody>
      </p:sp>
      <p:sp>
        <p:nvSpPr>
          <p:cNvPr id="152" name="Google Shape;152;p12"/>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57" name="Shape 157"/>
        <p:cNvGrpSpPr/>
        <p:nvPr/>
      </p:nvGrpSpPr>
      <p:grpSpPr>
        <a:xfrm>
          <a:off x="0" y="0"/>
          <a:ext cx="0" cy="0"/>
          <a:chOff x="0" y="0"/>
          <a:chExt cx="0" cy="0"/>
        </a:xfrm>
      </p:grpSpPr>
      <p:sp>
        <p:nvSpPr>
          <p:cNvPr id="158" name="Google Shape;158;p13"/>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59" name="Google Shape;159;p13"/>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Optional delivery note</a:t>
            </a:r>
            <a:endParaRPr/>
          </a:p>
        </p:txBody>
      </p:sp>
      <p:sp>
        <p:nvSpPr>
          <p:cNvPr id="160" name="Google Shape;160;p13"/>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textarea accepts a longer message.</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Its reactive control is named note.</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An empty note is valid.</a:t>
            </a:r>
            <a:endParaRPr/>
          </a:p>
        </p:txBody>
      </p:sp>
      <p:sp>
        <p:nvSpPr>
          <p:cNvPr id="161" name="Google Shape;161;p13"/>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&lt;label for="delivery-note"&gt;Delivery note&lt;/label&gt;</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&lt;textarea id="delivery-note"</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formControlName="note"&gt;&lt;/textarea&gt;</a:t>
            </a:r>
            <a:endParaRPr/>
          </a:p>
        </p:txBody>
      </p:sp>
      <p:sp>
        <p:nvSpPr>
          <p:cNvPr id="162" name="Google Shape;162;p13"/>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The preview displays None when the note is blank</a:t>
            </a:r>
            <a:endParaRPr/>
          </a:p>
        </p:txBody>
      </p:sp>
      <p:sp>
        <p:nvSpPr>
          <p:cNvPr id="163" name="Google Shape;163;p13"/>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68" name="Shape 168"/>
        <p:cNvGrpSpPr/>
        <p:nvPr/>
      </p:nvGrpSpPr>
      <p:grpSpPr>
        <a:xfrm>
          <a:off x="0" y="0"/>
          <a:ext cx="0" cy="0"/>
          <a:chOff x="0" y="0"/>
          <a:chExt cx="0" cy="0"/>
        </a:xfrm>
      </p:grpSpPr>
      <p:sp>
        <p:nvSpPr>
          <p:cNvPr id="169" name="Google Shape;169;p14"/>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70" name="Google Shape;170;p14"/>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Handling form submission</a:t>
            </a:r>
            <a:endParaRPr/>
          </a:p>
        </p:txBody>
      </p:sp>
      <p:sp>
        <p:nvSpPr>
          <p:cNvPr id="171" name="Google Shape;171;p14"/>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ngSubmit calls the submit method.</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Angular’s form directive handles navigation.</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Validate before capturing the preview.</a:t>
            </a:r>
            <a:endParaRPr/>
          </a:p>
        </p:txBody>
      </p:sp>
      <p:sp>
        <p:nvSpPr>
          <p:cNvPr id="172" name="Google Shape;172;p14"/>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&lt;form [formGroup]="form"</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(ngSubmit)="submit()" novalidate&gt;</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&lt;button type="submit"&gt;Preview&lt;/button&gt;</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&lt;/form&gt;</a:t>
            </a:r>
            <a:endParaRPr/>
          </a:p>
        </p:txBody>
      </p:sp>
      <p:sp>
        <p:nvSpPr>
          <p:cNvPr id="173" name="Google Shape;173;p14"/>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Click and Enter follow the same handler</a:t>
            </a:r>
            <a:endParaRPr/>
          </a:p>
        </p:txBody>
      </p:sp>
      <p:sp>
        <p:nvSpPr>
          <p:cNvPr id="174" name="Google Shape;174;p14"/>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79" name="Shape 179"/>
        <p:cNvGrpSpPr/>
        <p:nvPr/>
      </p:nvGrpSpPr>
      <p:grpSpPr>
        <a:xfrm>
          <a:off x="0" y="0"/>
          <a:ext cx="0" cy="0"/>
          <a:chOff x="0" y="0"/>
          <a:chExt cx="0" cy="0"/>
        </a:xfrm>
      </p:grpSpPr>
      <p:sp>
        <p:nvSpPr>
          <p:cNvPr id="180" name="Google Shape;180;p15"/>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81" name="Google Shape;181;p15"/>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Our practice form rules</a:t>
            </a:r>
            <a:endParaRPr/>
          </a:p>
        </p:txBody>
      </p:sp>
      <p:sp>
        <p:nvSpPr>
          <p:cNvPr id="182" name="Google Shape;182;p15"/>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 cart must contain at least one item.</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 trimmed name needs 2+ characters.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The delivery note is optional.</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The control and helper apply the rule.</a:t>
            </a:r>
            <a:endParaRPr/>
          </a:p>
        </p:txBody>
      </p:sp>
      <p:sp>
        <p:nvSpPr>
          <p:cNvPr id="183" name="Google Shape;183;p15"/>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function trimmedName(control: AbstractControl)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return String(control.value).trim().length &gt;= 2</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 null : { trimmedName: true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a:t>
            </a:r>
            <a:endParaRPr/>
          </a:p>
        </p:txBody>
      </p:sp>
      <p:sp>
        <p:nvSpPr>
          <p:cNvPr id="184" name="Google Shape;184;p15"/>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null from a validator means valid</a:t>
            </a:r>
            <a:endParaRPr/>
          </a:p>
        </p:txBody>
      </p:sp>
      <p:sp>
        <p:nvSpPr>
          <p:cNvPr id="185" name="Google Shape;185;p15"/>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190" name="Shape 190"/>
        <p:cNvGrpSpPr/>
        <p:nvPr/>
      </p:nvGrpSpPr>
      <p:grpSpPr>
        <a:xfrm>
          <a:off x="0" y="0"/>
          <a:ext cx="0" cy="0"/>
          <a:chOff x="0" y="0"/>
          <a:chExt cx="0" cy="0"/>
        </a:xfrm>
      </p:grpSpPr>
      <p:sp>
        <p:nvSpPr>
          <p:cNvPr id="191" name="Google Shape;191;p16"/>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192" name="Google Shape;192;p16"/>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An error message and early return</a:t>
            </a:r>
            <a:endParaRPr/>
          </a:p>
        </p:txBody>
      </p:sp>
      <p:sp>
        <p:nvSpPr>
          <p:cNvPr id="193" name="Google Shape;193;p16"/>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Mark controls as touched.</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Read the typed form values.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Set the validation message.</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Return before creating an invalid draft.</a:t>
            </a:r>
            <a:endParaRPr/>
          </a:p>
        </p:txBody>
      </p:sp>
      <p:sp>
        <p:nvSpPr>
          <p:cNvPr id="194" name="Google Shape;194;p16"/>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const { customerName, note } =</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this.form.getRawValue();</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const message = validateOrder(</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this.cart(), customerName);</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this.error.set(message);</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if (message || this.form.invalid) return;</a:t>
            </a:r>
            <a:endParaRPr/>
          </a:p>
        </p:txBody>
      </p:sp>
      <p:sp>
        <p:nvSpPr>
          <p:cNvPr id="195" name="Google Shape;195;p16"/>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Only valid data creates a preview</a:t>
            </a:r>
            <a:endParaRPr/>
          </a:p>
        </p:txBody>
      </p:sp>
      <p:sp>
        <p:nvSpPr>
          <p:cNvPr id="196" name="Google Shape;196;p16"/>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01" name="Shape 201"/>
        <p:cNvGrpSpPr/>
        <p:nvPr/>
      </p:nvGrpSpPr>
      <p:grpSpPr>
        <a:xfrm>
          <a:off x="0" y="0"/>
          <a:ext cx="0" cy="0"/>
          <a:chOff x="0" y="0"/>
          <a:chExt cx="0" cy="0"/>
        </a:xfrm>
      </p:grpSpPr>
      <p:sp>
        <p:nvSpPr>
          <p:cNvPr id="202" name="Google Shape;202;p17"/>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203" name="Google Shape;203;p17"/>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Accessible validation feedback</a:t>
            </a:r>
            <a:endParaRPr/>
          </a:p>
        </p:txBody>
      </p:sp>
      <p:sp>
        <p:nvSpPr>
          <p:cNvPr id="204" name="Google Shape;204;p17"/>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Display a useful error near the form.</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role=alert announces submission errors.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Associate name errors with the input.</a:t>
            </a:r>
            <a:endParaRPr/>
          </a:p>
        </p:txBody>
      </p:sp>
      <p:sp>
        <p:nvSpPr>
          <p:cNvPr id="205" name="Google Shape;205;p17"/>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@if (error()) {</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&lt;p id="order-error" role="alert"&gt;</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 error() }}</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&lt;/p&gt;</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a:t>
            </a:r>
            <a:endParaRPr/>
          </a:p>
        </p:txBody>
      </p:sp>
      <p:sp>
        <p:nvSpPr>
          <p:cNvPr id="206" name="Google Shape;206;p17"/>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Words explain the issue as well as styles</a:t>
            </a:r>
            <a:endParaRPr/>
          </a:p>
        </p:txBody>
      </p:sp>
      <p:sp>
        <p:nvSpPr>
          <p:cNvPr id="207" name="Google Shape;207;p17"/>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12" name="Shape 212"/>
        <p:cNvGrpSpPr/>
        <p:nvPr/>
      </p:nvGrpSpPr>
      <p:grpSpPr>
        <a:xfrm>
          <a:off x="0" y="0"/>
          <a:ext cx="0" cy="0"/>
          <a:chOff x="0" y="0"/>
          <a:chExt cx="0" cy="0"/>
        </a:xfrm>
      </p:grpSpPr>
      <p:sp>
        <p:nvSpPr>
          <p:cNvPr id="213" name="Google Shape;213;p18"/>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214" name="Google Shape;214;p18"/>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Creating the practice draft</a:t>
            </a:r>
            <a:endParaRPr/>
          </a:p>
        </p:txBody>
      </p:sp>
      <p:sp>
        <p:nvSpPr>
          <p:cNvPr id="215" name="Google Shape;215;p18"/>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Copy selected item details.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Trim the submitted text.</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Calculate a total from the selected cart.</a:t>
            </a:r>
            <a:endParaRPr/>
          </a:p>
        </p:txBody>
      </p:sp>
      <p:sp>
        <p:nvSpPr>
          <p:cNvPr id="216" name="Google Shape;216;p18"/>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return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customerName: customerName.trim(),</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note: note.trim(),</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items: cart.map(p =&gt;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id: p.id, name: p.name, price: p.price</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  total: cart.reduce((sum, p) =&gt; sum + p.price, 0)</a:t>
            </a:r>
            <a:endParaRPr/>
          </a:p>
          <a:p>
            <a:pPr indent="0" lvl="0" marL="0" marR="0" rtl="0" algn="l">
              <a:spcBef>
                <a:spcPts val="0"/>
              </a:spcBef>
              <a:spcAft>
                <a:spcPts val="0"/>
              </a:spcAft>
              <a:buClr>
                <a:srgbClr val="087B80"/>
              </a:buClr>
              <a:buSzPts val="1575"/>
              <a:buFont typeface="Consolas"/>
              <a:buNone/>
            </a:pPr>
            <a:r>
              <a:rPr b="0" lang="en-US" sz="1575">
                <a:solidFill>
                  <a:srgbClr val="087B80"/>
                </a:solidFill>
                <a:latin typeface="Consolas"/>
                <a:ea typeface="Consolas"/>
                <a:cs typeface="Consolas"/>
                <a:sym typeface="Consolas"/>
              </a:rPr>
              <a:t>};</a:t>
            </a:r>
            <a:endParaRPr/>
          </a:p>
        </p:txBody>
      </p:sp>
      <p:sp>
        <p:nvSpPr>
          <p:cNvPr id="217" name="Google Shape;217;p18"/>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Notebook + Bag costs ₹580</a:t>
            </a:r>
            <a:endParaRPr/>
          </a:p>
        </p:txBody>
      </p:sp>
      <p:sp>
        <p:nvSpPr>
          <p:cNvPr id="218" name="Google Shape;218;p18"/>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23" name="Shape 223"/>
        <p:cNvGrpSpPr/>
        <p:nvPr/>
      </p:nvGrpSpPr>
      <p:grpSpPr>
        <a:xfrm>
          <a:off x="0" y="0"/>
          <a:ext cx="0" cy="0"/>
          <a:chOff x="0" y="0"/>
          <a:chExt cx="0" cy="0"/>
        </a:xfrm>
      </p:grpSpPr>
      <p:sp>
        <p:nvSpPr>
          <p:cNvPr id="224" name="Google Shape;224;p19"/>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225" name="Google Shape;225;p19"/>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Rendering the submitted preview</a:t>
            </a:r>
            <a:endParaRPr/>
          </a:p>
        </p:txBody>
      </p:sp>
      <p:sp>
        <p:nvSpPr>
          <p:cNvPr id="226" name="Google Shape;226;p19"/>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draft starts as null.</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@if shows a submitted snapshot.</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@for displays its items with stable IDs.</a:t>
            </a:r>
            <a:endParaRPr/>
          </a:p>
        </p:txBody>
      </p:sp>
      <p:sp>
        <p:nvSpPr>
          <p:cNvPr id="227" name="Google Shape;227;p19"/>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@if (draft(); as snapshot) {</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  &lt;h3&gt;Practice order preview&lt;/h3&gt;</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  &lt;p&gt;Snapshot total: {{ snapshot.total }}&lt;/p&gt;</a:t>
            </a:r>
            <a:endParaRPr/>
          </a:p>
          <a:p>
            <a:pPr indent="0" lvl="0" marL="0" marR="0" rtl="0" algn="l">
              <a:spcBef>
                <a:spcPts val="0"/>
              </a:spcBef>
              <a:spcAft>
                <a:spcPts val="0"/>
              </a:spcAft>
              <a:buClr>
                <a:srgbClr val="087B80"/>
              </a:buClr>
              <a:buSzPts val="1725"/>
              <a:buFont typeface="Consolas"/>
              <a:buNone/>
            </a:pPr>
            <a:r>
              <a:rPr b="0" lang="en-US" sz="1725">
                <a:solidFill>
                  <a:srgbClr val="087B80"/>
                </a:solidFill>
                <a:latin typeface="Consolas"/>
                <a:ea typeface="Consolas"/>
                <a:cs typeface="Consolas"/>
                <a:sym typeface="Consolas"/>
              </a:rPr>
              <a:t>}</a:t>
            </a:r>
            <a:endParaRPr/>
          </a:p>
        </p:txBody>
      </p:sp>
      <p:sp>
        <p:nvSpPr>
          <p:cNvPr id="228" name="Google Shape;228;p19"/>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The UI says no order has been placed</a:t>
            </a:r>
            <a:endParaRPr/>
          </a:p>
        </p:txBody>
      </p:sp>
      <p:sp>
        <p:nvSpPr>
          <p:cNvPr id="229" name="Google Shape;229;p19"/>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34" name="Shape 234"/>
        <p:cNvGrpSpPr/>
        <p:nvPr/>
      </p:nvGrpSpPr>
      <p:grpSpPr>
        <a:xfrm>
          <a:off x="0" y="0"/>
          <a:ext cx="0" cy="0"/>
          <a:chOff x="0" y="0"/>
          <a:chExt cx="0" cy="0"/>
        </a:xfrm>
      </p:grpSpPr>
      <p:sp>
        <p:nvSpPr>
          <p:cNvPr id="235" name="Google Shape;235;p20"/>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PREVIEW</a:t>
            </a:r>
            <a:endParaRPr/>
          </a:p>
        </p:txBody>
      </p:sp>
      <p:sp>
        <p:nvSpPr>
          <p:cNvPr id="236" name="Google Shape;236;p20"/>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Current cart and captured snapshot</a:t>
            </a:r>
            <a:endParaRPr/>
          </a:p>
        </p:txBody>
      </p:sp>
      <p:sp>
        <p:nvSpPr>
          <p:cNvPr id="237" name="Google Shape;237;p20"/>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CartPanel shows the current selection.</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The preview shows data at submit time.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Later edits leave the snapshot unchanged.</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Submit again to capture new values.</a:t>
            </a:r>
            <a:endParaRPr/>
          </a:p>
        </p:txBody>
      </p:sp>
      <p:sp>
        <p:nvSpPr>
          <p:cNvPr id="238" name="Google Shape;238;p20"/>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239" name="Google Shape;239;p20"/>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
        <p:nvSpPr>
          <p:cNvPr id="240" name="Google Shape;240;p20"/>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45" name="Shape 245"/>
        <p:cNvGrpSpPr/>
        <p:nvPr/>
      </p:nvGrpSpPr>
      <p:grpSpPr>
        <a:xfrm>
          <a:off x="0" y="0"/>
          <a:ext cx="0" cy="0"/>
          <a:chOff x="0" y="0"/>
          <a:chExt cx="0" cy="0"/>
        </a:xfrm>
      </p:grpSpPr>
      <p:sp>
        <p:nvSpPr>
          <p:cNvPr id="246" name="Google Shape;246;p21"/>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247" name="Google Shape;247;p21"/>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Reset only the order form</a:t>
            </a:r>
            <a:endParaRPr/>
          </a:p>
        </p:txBody>
      </p:sp>
      <p:sp>
        <p:nvSpPr>
          <p:cNvPr id="248" name="Google Shape;248;p21"/>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Reset controls to their initial empty strings.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Clear error and captured preview.</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Keep App’s cart selection.</a:t>
            </a:r>
            <a:endParaRPr/>
          </a:p>
        </p:txBody>
      </p:sp>
      <p:sp>
        <p:nvSpPr>
          <p:cNvPr id="249" name="Google Shape;249;p21"/>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reset() {</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this.form.reset();</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this.error.set("");</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this.draft.set(null);</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a:t>
            </a:r>
            <a:endParaRPr/>
          </a:p>
        </p:txBody>
      </p:sp>
      <p:sp>
        <p:nvSpPr>
          <p:cNvPr id="250" name="Google Shape;250;p21"/>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Reset order form differs from Clear cart</a:t>
            </a:r>
            <a:endParaRPr/>
          </a:p>
        </p:txBody>
      </p:sp>
      <p:sp>
        <p:nvSpPr>
          <p:cNvPr id="251" name="Google Shape;251;p21"/>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56" name="Shape 256"/>
        <p:cNvGrpSpPr/>
        <p:nvPr/>
      </p:nvGrpSpPr>
      <p:grpSpPr>
        <a:xfrm>
          <a:off x="0" y="0"/>
          <a:ext cx="0" cy="0"/>
          <a:chOff x="0" y="0"/>
          <a:chExt cx="0" cy="0"/>
        </a:xfrm>
      </p:grpSpPr>
      <p:sp>
        <p:nvSpPr>
          <p:cNvPr id="257" name="Google Shape;257;p22"/>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BROWSER CHECKS</a:t>
            </a:r>
            <a:endParaRPr/>
          </a:p>
        </p:txBody>
      </p:sp>
      <p:sp>
        <p:nvSpPr>
          <p:cNvPr id="258" name="Google Shape;258;p22"/>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Checking the complete workflow</a:t>
            </a:r>
            <a:endParaRPr/>
          </a:p>
        </p:txBody>
      </p:sp>
      <p:sp>
        <p:nvSpPr>
          <p:cNvPr id="259" name="Google Shape;259;p22"/>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Empty cart gives a friendly error.</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Blank or one-character name fails.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Demo Customer + Notebook + Bag gives ₹580.</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Cart edits need another Preview.</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Reset form preserves the cart.</a:t>
            </a:r>
            <a:endParaRPr/>
          </a:p>
        </p:txBody>
      </p:sp>
      <p:sp>
        <p:nvSpPr>
          <p:cNvPr id="260" name="Google Shape;260;p22"/>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261" name="Google Shape;261;p22"/>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
        <p:nvSpPr>
          <p:cNvPr id="262" name="Google Shape;262;p22"/>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67" name="Shape 267"/>
        <p:cNvGrpSpPr/>
        <p:nvPr/>
      </p:nvGrpSpPr>
      <p:grpSpPr>
        <a:xfrm>
          <a:off x="0" y="0"/>
          <a:ext cx="0" cy="0"/>
          <a:chOff x="0" y="0"/>
          <a:chExt cx="0" cy="0"/>
        </a:xfrm>
      </p:grpSpPr>
      <p:sp>
        <p:nvSpPr>
          <p:cNvPr id="268" name="Google Shape;268;p23"/>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CONCEPTS</a:t>
            </a:r>
            <a:endParaRPr/>
          </a:p>
        </p:txBody>
      </p:sp>
      <p:sp>
        <p:nvSpPr>
          <p:cNvPr id="269" name="Google Shape;269;p23"/>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Build and serve locally</a:t>
            </a:r>
            <a:endParaRPr/>
          </a:p>
        </p:txBody>
      </p:sp>
      <p:sp>
        <p:nvSpPr>
          <p:cNvPr id="270" name="Google Shape;270;p23"/>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ng build writes production files.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 local static server can serve the browser output.</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Check the JSON resource and form again.</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Building does not publish the application.</a:t>
            </a:r>
            <a:endParaRPr/>
          </a:p>
        </p:txBody>
      </p:sp>
      <p:sp>
        <p:nvSpPr>
          <p:cNvPr id="271" name="Google Shape;271;p23"/>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npm run build</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 Browser files:</a:t>
            </a:r>
            <a:endParaRPr/>
          </a:p>
          <a:p>
            <a:pPr indent="0" lvl="0" marL="0" marR="0" rtl="0" algn="l">
              <a:spcBef>
                <a:spcPts val="0"/>
              </a:spcBef>
              <a:spcAft>
                <a:spcPts val="0"/>
              </a:spcAft>
              <a:buClr>
                <a:srgbClr val="087B80"/>
              </a:buClr>
              <a:buSzPts val="1800"/>
              <a:buFont typeface="Consolas"/>
              <a:buNone/>
            </a:pPr>
            <a:r>
              <a:rPr b="0" lang="en-US" sz="1800">
                <a:solidFill>
                  <a:srgbClr val="087B80"/>
                </a:solidFill>
                <a:latin typeface="Consolas"/>
                <a:ea typeface="Consolas"/>
                <a:cs typeface="Consolas"/>
                <a:sym typeface="Consolas"/>
              </a:rPr>
              <a:t>dist/product-catalog/browser/</a:t>
            </a:r>
            <a:endParaRPr/>
          </a:p>
        </p:txBody>
      </p:sp>
      <p:sp>
        <p:nvSpPr>
          <p:cNvPr id="272" name="Google Shape;272;p23"/>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rPr b="1" lang="en-US" sz="1725">
                <a:solidFill>
                  <a:srgbClr val="85551E"/>
                </a:solidFill>
                <a:latin typeface="Arial"/>
                <a:ea typeface="Arial"/>
                <a:cs typeface="Arial"/>
                <a:sym typeface="Arial"/>
              </a:rPr>
              <a:t>A production build is a local artifact</a:t>
            </a:r>
            <a:endParaRPr/>
          </a:p>
        </p:txBody>
      </p:sp>
      <p:sp>
        <p:nvSpPr>
          <p:cNvPr id="273" name="Google Shape;273;p23"/>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3749"/>
        </a:solidFill>
      </p:bgPr>
    </p:bg>
    <p:spTree>
      <p:nvGrpSpPr>
        <p:cNvPr id="278" name="Shape 278"/>
        <p:cNvGrpSpPr/>
        <p:nvPr/>
      </p:nvGrpSpPr>
      <p:grpSpPr>
        <a:xfrm>
          <a:off x="0" y="0"/>
          <a:ext cx="0" cy="0"/>
          <a:chOff x="0" y="0"/>
          <a:chExt cx="0" cy="0"/>
        </a:xfrm>
      </p:grpSpPr>
      <p:sp>
        <p:nvSpPr>
          <p:cNvPr id="279" name="Google Shape;279;p24"/>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E8DF"/>
              </a:buClr>
              <a:buSzPts val="1275"/>
              <a:buFont typeface="Arial"/>
              <a:buNone/>
            </a:pPr>
            <a:r>
              <a:rPr b="1" lang="en-US" sz="1275">
                <a:solidFill>
                  <a:srgbClr val="92E8DF"/>
                </a:solidFill>
                <a:latin typeface="Arial"/>
                <a:ea typeface="Arial"/>
                <a:cs typeface="Arial"/>
                <a:sym typeface="Arial"/>
              </a:rPr>
              <a:t>HANDS-ON · WALKTHROUGH</a:t>
            </a:r>
            <a:endParaRPr/>
          </a:p>
        </p:txBody>
      </p:sp>
      <p:sp>
        <p:nvSpPr>
          <p:cNvPr id="280" name="Google Shape;280;p24"/>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300"/>
              <a:buFont typeface="Arial"/>
              <a:buNone/>
            </a:pPr>
            <a:r>
              <a:rPr b="1" lang="en-US" sz="3300">
                <a:solidFill>
                  <a:srgbClr val="FFFFFF"/>
                </a:solidFill>
                <a:latin typeface="Arial"/>
                <a:ea typeface="Arial"/>
                <a:cs typeface="Arial"/>
                <a:sym typeface="Arial"/>
              </a:rPr>
              <a:t>Our final practice order preview</a:t>
            </a:r>
            <a:endParaRPr/>
          </a:p>
        </p:txBody>
      </p:sp>
      <p:pic>
        <p:nvPicPr>
          <p:cNvPr id="281" name="Google Shape;281;p24"/>
          <p:cNvPicPr preferRelativeResize="0"/>
          <p:nvPr/>
        </p:nvPicPr>
        <p:blipFill rotWithShape="1">
          <a:blip r:embed="rId3">
            <a:alphaModFix/>
          </a:blip>
          <a:srcRect b="0" l="0" r="0" t="0"/>
          <a:stretch/>
        </p:blipFill>
        <p:spPr>
          <a:xfrm>
            <a:off x="5429250" y="2433140"/>
            <a:ext cx="6191250" cy="3372845"/>
          </a:xfrm>
          <a:prstGeom prst="rect">
            <a:avLst/>
          </a:prstGeom>
          <a:noFill/>
          <a:ln>
            <a:noFill/>
          </a:ln>
        </p:spPr>
      </p:pic>
      <p:sp>
        <p:nvSpPr>
          <p:cNvPr id="282" name="Google Shape;282;p24"/>
          <p:cNvSpPr/>
          <p:nvPr/>
        </p:nvSpPr>
        <p:spPr>
          <a:xfrm>
            <a:off x="609600" y="2209800"/>
            <a:ext cx="4429125" cy="3476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175"/>
              <a:buFont typeface="Arial"/>
              <a:buNone/>
            </a:pPr>
            <a:r>
              <a:rPr b="0" lang="en-US" sz="2175">
                <a:solidFill>
                  <a:srgbClr val="FFFFFF"/>
                </a:solidFill>
                <a:latin typeface="Arial"/>
                <a:ea typeface="Arial"/>
                <a:cs typeface="Arial"/>
                <a:sym typeface="Arial"/>
              </a:rPr>
              <a:t>The same JSON supplies the products.</a:t>
            </a:r>
            <a:endParaRPr/>
          </a:p>
          <a:p>
            <a:pPr indent="0" lvl="0" marL="0" marR="0" rtl="0" algn="l">
              <a:spcBef>
                <a:spcPts val="0"/>
              </a:spcBef>
              <a:spcAft>
                <a:spcPts val="0"/>
              </a:spcAft>
              <a:buClr>
                <a:srgbClr val="FFFFFF"/>
              </a:buClr>
              <a:buSzPts val="2175"/>
              <a:buFont typeface="Arial"/>
              <a:buNone/>
            </a:pPr>
            <a:r>
              <a:rPr b="0" lang="en-US" sz="2175">
                <a:solidFill>
                  <a:srgbClr val="FFFFFF"/>
                </a:solidFill>
                <a:latin typeface="Arial"/>
                <a:ea typeface="Arial"/>
                <a:cs typeface="Arial"/>
                <a:sym typeface="Arial"/>
              </a:rPr>
              <a:t>The form validates the name.</a:t>
            </a:r>
            <a:endParaRPr/>
          </a:p>
          <a:p>
            <a:pPr indent="0" lvl="0" marL="0" marR="0" rtl="0" algn="l">
              <a:spcBef>
                <a:spcPts val="0"/>
              </a:spcBef>
              <a:spcAft>
                <a:spcPts val="0"/>
              </a:spcAft>
              <a:buClr>
                <a:srgbClr val="FFFFFF"/>
              </a:buClr>
              <a:buSzPts val="2175"/>
              <a:buFont typeface="Arial"/>
              <a:buNone/>
            </a:pPr>
            <a:r>
              <a:rPr b="0" lang="en-US" sz="2175">
                <a:solidFill>
                  <a:srgbClr val="FFFFFF"/>
                </a:solidFill>
                <a:latin typeface="Arial"/>
                <a:ea typeface="Arial"/>
                <a:cs typeface="Arial"/>
                <a:sym typeface="Arial"/>
              </a:rPr>
              <a:t>Notebook and Bag total ₹580.</a:t>
            </a:r>
            <a:endParaRPr/>
          </a:p>
          <a:p>
            <a:pPr indent="0" lvl="0" marL="0" marR="0" rtl="0" algn="l">
              <a:spcBef>
                <a:spcPts val="0"/>
              </a:spcBef>
              <a:spcAft>
                <a:spcPts val="0"/>
              </a:spcAft>
              <a:buClr>
                <a:srgbClr val="FFFFFF"/>
              </a:buClr>
              <a:buSzPts val="2175"/>
              <a:buFont typeface="Arial"/>
              <a:buNone/>
            </a:pPr>
            <a:r>
              <a:rPr b="0" lang="en-US" sz="2175">
                <a:solidFill>
                  <a:srgbClr val="FFFFFF"/>
                </a:solidFill>
                <a:latin typeface="Arial"/>
                <a:ea typeface="Arial"/>
                <a:cs typeface="Arial"/>
                <a:sym typeface="Arial"/>
              </a:rPr>
              <a:t>The submitted snapshot records the selection.</a:t>
            </a:r>
            <a:endParaRPr/>
          </a:p>
          <a:p>
            <a:pPr indent="0" lvl="0" marL="0" marR="0" rtl="0" algn="l">
              <a:spcBef>
                <a:spcPts val="0"/>
              </a:spcBef>
              <a:spcAft>
                <a:spcPts val="0"/>
              </a:spcAft>
              <a:buClr>
                <a:srgbClr val="FFFFFF"/>
              </a:buClr>
              <a:buSzPts val="2175"/>
              <a:buFont typeface="Arial"/>
              <a:buNone/>
            </a:pPr>
            <a:r>
              <a:rPr b="0" lang="en-US" sz="2175">
                <a:solidFill>
                  <a:srgbClr val="FFFFFF"/>
                </a:solidFill>
                <a:latin typeface="Arial"/>
                <a:ea typeface="Arial"/>
                <a:cs typeface="Arial"/>
                <a:sym typeface="Arial"/>
              </a:rPr>
              <a:t>Nothing is ordered or paid.</a:t>
            </a:r>
            <a:endParaRPr/>
          </a:p>
        </p:txBody>
      </p:sp>
      <p:sp>
        <p:nvSpPr>
          <p:cNvPr id="283" name="Google Shape;283;p24"/>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92B4C2"/>
              </a:buClr>
              <a:buSzPts val="1200"/>
              <a:buFont typeface="Arial"/>
              <a:buNone/>
            </a:pPr>
            <a:r>
              <a:rPr b="0" lang="en-US" sz="1200">
                <a:solidFill>
                  <a:srgbClr val="92B4C2"/>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88" name="Shape 288"/>
        <p:cNvGrpSpPr/>
        <p:nvPr/>
      </p:nvGrpSpPr>
      <p:grpSpPr>
        <a:xfrm>
          <a:off x="0" y="0"/>
          <a:ext cx="0" cy="0"/>
          <a:chOff x="0" y="0"/>
          <a:chExt cx="0" cy="0"/>
        </a:xfrm>
      </p:grpSpPr>
      <p:sp>
        <p:nvSpPr>
          <p:cNvPr id="289" name="Google Shape;289;p25"/>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HANDS-ON</a:t>
            </a:r>
            <a:endParaRPr/>
          </a:p>
        </p:txBody>
      </p:sp>
      <p:sp>
        <p:nvSpPr>
          <p:cNvPr id="290" name="Google Shape;290;p25"/>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Project file walkthrough</a:t>
            </a:r>
            <a:endParaRPr/>
          </a:p>
        </p:txBody>
      </p:sp>
      <p:sp>
        <p:nvSpPr>
          <p:cNvPr id="291" name="Google Shape;291;p25"/>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App composes state and components.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CatalogStore owns request state.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ProductService owns HTTP access.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OrderForm owns controls and preview.</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order-draft.ts owns pure validation and copying.</a:t>
            </a:r>
            <a:endParaRPr/>
          </a:p>
        </p:txBody>
      </p:sp>
      <p:sp>
        <p:nvSpPr>
          <p:cNvPr id="292" name="Google Shape;292;p25"/>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293" name="Google Shape;293;p25"/>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
        <p:nvSpPr>
          <p:cNvPr id="294" name="Google Shape;294;p25"/>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299" name="Shape 299"/>
        <p:cNvGrpSpPr/>
        <p:nvPr/>
      </p:nvGrpSpPr>
      <p:grpSpPr>
        <a:xfrm>
          <a:off x="0" y="0"/>
          <a:ext cx="0" cy="0"/>
          <a:chOff x="0" y="0"/>
          <a:chExt cx="0" cy="0"/>
        </a:xfrm>
      </p:grpSpPr>
      <p:sp>
        <p:nvSpPr>
          <p:cNvPr id="300" name="Google Shape;300;p26"/>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YOUR TURN</a:t>
            </a:r>
            <a:endParaRPr/>
          </a:p>
        </p:txBody>
      </p:sp>
      <p:sp>
        <p:nvSpPr>
          <p:cNvPr id="301" name="Google Shape;301;p26"/>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A required Delivery city field</a:t>
            </a:r>
            <a:endParaRPr/>
          </a:p>
        </p:txBody>
      </p:sp>
      <p:sp>
        <p:nvSpPr>
          <p:cNvPr id="302" name="Google Shape;302;p26"/>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Add a nonNullable city FormControl.</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Require its trimmed value.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Add city to the draft helper and interface.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Display it in the preview.</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Reset should clear it with the other controls.</a:t>
            </a:r>
            <a:endParaRPr/>
          </a:p>
        </p:txBody>
      </p:sp>
      <p:sp>
        <p:nvSpPr>
          <p:cNvPr id="303" name="Google Shape;303;p26"/>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304" name="Google Shape;304;p26"/>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
        <p:nvSpPr>
          <p:cNvPr id="305" name="Google Shape;305;p26"/>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10" name="Shape 310"/>
        <p:cNvGrpSpPr/>
        <p:nvPr/>
      </p:nvGrpSpPr>
      <p:grpSpPr>
        <a:xfrm>
          <a:off x="0" y="0"/>
          <a:ext cx="0" cy="0"/>
          <a:chOff x="0" y="0"/>
          <a:chExt cx="0" cy="0"/>
        </a:xfrm>
      </p:grpSpPr>
      <p:sp>
        <p:nvSpPr>
          <p:cNvPr id="311" name="Google Shape;311;p27"/>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DEBUGGING</a:t>
            </a:r>
            <a:endParaRPr/>
          </a:p>
        </p:txBody>
      </p:sp>
      <p:sp>
        <p:nvSpPr>
          <p:cNvPr id="312" name="Google Shape;312;p27"/>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Common Day 5 mistakes</a:t>
            </a:r>
            <a:endParaRPr/>
          </a:p>
        </p:txBody>
      </p:sp>
      <p:sp>
        <p:nvSpPr>
          <p:cNvPr id="313" name="Google Shape;313;p27"/>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Missing ReactiveFormsModule.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A formControlName not present in FormGroup.</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Mixing ngModel and reactive directives.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Injecting a service in the wrong context.</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Calling the local preview a placed order.</a:t>
            </a:r>
            <a:endParaRPr/>
          </a:p>
        </p:txBody>
      </p:sp>
      <p:sp>
        <p:nvSpPr>
          <p:cNvPr id="314" name="Google Shape;314;p27"/>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315" name="Google Shape;315;p27"/>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
        <p:nvSpPr>
          <p:cNvPr id="316" name="Google Shape;316;p27"/>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21" name="Shape 321"/>
        <p:cNvGrpSpPr/>
        <p:nvPr/>
      </p:nvGrpSpPr>
      <p:grpSpPr>
        <a:xfrm>
          <a:off x="0" y="0"/>
          <a:ext cx="0" cy="0"/>
          <a:chOff x="0" y="0"/>
          <a:chExt cx="0" cy="0"/>
        </a:xfrm>
      </p:grpSpPr>
      <p:sp>
        <p:nvSpPr>
          <p:cNvPr id="322" name="Google Shape;322;p28"/>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QUIZ</a:t>
            </a:r>
            <a:endParaRPr/>
          </a:p>
        </p:txBody>
      </p:sp>
      <p:sp>
        <p:nvSpPr>
          <p:cNvPr id="323" name="Google Shape;323;p28"/>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Final knowledge check</a:t>
            </a:r>
            <a:endParaRPr/>
          </a:p>
        </p:txBody>
      </p:sp>
      <p:sp>
        <p:nvSpPr>
          <p:cNvPr id="324" name="Google Shape;324;p28"/>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1  What decides service instance sharing?</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2  What does formControlName connect?</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3  What blocks invalid submission?</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4  Why can a snapshot stay at ₹580?</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5  Does ng build publish the app?</a:t>
            </a:r>
            <a:endParaRPr/>
          </a:p>
        </p:txBody>
      </p:sp>
      <p:sp>
        <p:nvSpPr>
          <p:cNvPr id="325" name="Google Shape;325;p28"/>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28</a:t>
            </a:r>
            <a:endParaRPr/>
          </a:p>
        </p:txBody>
      </p:sp>
      <p:sp>
        <p:nvSpPr>
          <p:cNvPr id="326" name="Google Shape;326;p28"/>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87B80"/>
              </a:buClr>
              <a:buSzPts val="1800"/>
              <a:buFont typeface="Consolas"/>
              <a:buNone/>
            </a:pPr>
            <a:r>
              <a:t/>
            </a:r>
            <a:endParaRPr b="0" sz="1800">
              <a:solidFill>
                <a:srgbClr val="087B80"/>
              </a:solidFill>
              <a:latin typeface="Consolas"/>
              <a:ea typeface="Consolas"/>
              <a:cs typeface="Consolas"/>
              <a:sym typeface="Consolas"/>
            </a:endParaRPr>
          </a:p>
        </p:txBody>
      </p:sp>
      <p:sp>
        <p:nvSpPr>
          <p:cNvPr id="327" name="Google Shape;327;p28"/>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5551E"/>
              </a:buClr>
              <a:buSzPts val="1725"/>
              <a:buFont typeface="Arial"/>
              <a:buNone/>
            </a:pPr>
            <a:r>
              <a:t/>
            </a:r>
            <a:endParaRPr b="1" sz="1725">
              <a:solidFill>
                <a:srgbClr val="85551E"/>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32" name="Shape 332"/>
        <p:cNvGrpSpPr/>
        <p:nvPr/>
      </p:nvGrpSpPr>
      <p:grpSpPr>
        <a:xfrm>
          <a:off x="0" y="0"/>
          <a:ext cx="0" cy="0"/>
          <a:chOff x="0" y="0"/>
          <a:chExt cx="0" cy="0"/>
        </a:xfrm>
      </p:grpSpPr>
      <p:sp>
        <p:nvSpPr>
          <p:cNvPr id="333" name="Google Shape;333;p29"/>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TRY AT HOME</a:t>
            </a:r>
            <a:endParaRPr/>
          </a:p>
        </p:txBody>
      </p:sp>
      <p:sp>
        <p:nvSpPr>
          <p:cNvPr id="334" name="Google Shape;334;p29"/>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Your next Angular practice</a:t>
            </a:r>
            <a:endParaRPr/>
          </a:p>
        </p:txBody>
      </p:sp>
      <p:sp>
        <p:nvSpPr>
          <p:cNvPr id="335" name="Google Shape;335;p29"/>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Explain the entire app using its code.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Finish the Delivery city exercise.</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Try at home: add a maximum-price filter.</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Practise loading, failure and empty data.</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Review the five days before assessment.</a:t>
            </a:r>
            <a:endParaRPr/>
          </a:p>
        </p:txBody>
      </p:sp>
      <p:sp>
        <p:nvSpPr>
          <p:cNvPr id="336" name="Google Shape;336;p29"/>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41" name="Shape 341"/>
        <p:cNvGrpSpPr/>
        <p:nvPr/>
      </p:nvGrpSpPr>
      <p:grpSpPr>
        <a:xfrm>
          <a:off x="0" y="0"/>
          <a:ext cx="0" cy="0"/>
          <a:chOff x="0" y="0"/>
          <a:chExt cx="0" cy="0"/>
        </a:xfrm>
      </p:grpSpPr>
      <p:sp>
        <p:nvSpPr>
          <p:cNvPr id="342" name="Google Shape;342;p30"/>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REFERENCE · AFTER CLASS</a:t>
            </a:r>
            <a:endParaRPr/>
          </a:p>
        </p:txBody>
      </p:sp>
      <p:sp>
        <p:nvSpPr>
          <p:cNvPr id="343" name="Google Shape;343;p30"/>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Routing configuration</a:t>
            </a:r>
            <a:endParaRPr/>
          </a:p>
        </p:txBody>
      </p:sp>
      <p:sp>
        <p:nvSpPr>
          <p:cNvPr id="344" name="Google Shape;344;p30"/>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Routes map URLs to components.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provideRouter registers the route table.</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First match wins and wildcard goes last.</a:t>
            </a:r>
            <a:endParaRPr/>
          </a:p>
        </p:txBody>
      </p:sp>
      <p:sp>
        <p:nvSpPr>
          <p:cNvPr id="345" name="Google Shape;345;p30"/>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30</a:t>
            </a:r>
            <a:endParaRPr/>
          </a:p>
        </p:txBody>
      </p:sp>
      <p:sp>
        <p:nvSpPr>
          <p:cNvPr id="346" name="Google Shape;346;p30"/>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425">
                <a:solidFill>
                  <a:srgbClr val="087B80"/>
                </a:solidFill>
                <a:latin typeface="Consolas"/>
                <a:ea typeface="Consolas"/>
                <a:cs typeface="Consolas"/>
                <a:sym typeface="Consolas"/>
              </a:rPr>
              <a:t>const routes: Routes = [</a:t>
            </a:r>
            <a:endParaRPr/>
          </a:p>
          <a:p>
            <a:pPr indent="0" lvl="0" marL="0" marR="0" rtl="0" algn="l">
              <a:spcBef>
                <a:spcPts val="0"/>
              </a:spcBef>
              <a:spcAft>
                <a:spcPts val="0"/>
              </a:spcAft>
              <a:buNone/>
            </a:pPr>
            <a:r>
              <a:rPr b="0" lang="en-US" sz="1425">
                <a:solidFill>
                  <a:srgbClr val="087B80"/>
                </a:solidFill>
                <a:latin typeface="Consolas"/>
                <a:ea typeface="Consolas"/>
                <a:cs typeface="Consolas"/>
                <a:sym typeface="Consolas"/>
              </a:rPr>
              <a:t>  { path: "", pathMatch: "full",</a:t>
            </a:r>
            <a:endParaRPr/>
          </a:p>
          <a:p>
            <a:pPr indent="0" lvl="0" marL="0" marR="0" rtl="0" algn="l">
              <a:spcBef>
                <a:spcPts val="0"/>
              </a:spcBef>
              <a:spcAft>
                <a:spcPts val="0"/>
              </a:spcAft>
              <a:buNone/>
            </a:pPr>
            <a:r>
              <a:rPr b="0" lang="en-US" sz="1425">
                <a:solidFill>
                  <a:srgbClr val="087B80"/>
                </a:solidFill>
                <a:latin typeface="Consolas"/>
                <a:ea typeface="Consolas"/>
                <a:cs typeface="Consolas"/>
                <a:sym typeface="Consolas"/>
              </a:rPr>
              <a:t>    component: HomeNoteComponent },</a:t>
            </a:r>
            <a:endParaRPr/>
          </a:p>
          <a:p>
            <a:pPr indent="0" lvl="0" marL="0" marR="0" rtl="0" algn="l">
              <a:spcBef>
                <a:spcPts val="0"/>
              </a:spcBef>
              <a:spcAft>
                <a:spcPts val="0"/>
              </a:spcAft>
              <a:buNone/>
            </a:pPr>
            <a:r>
              <a:rPr b="0" lang="en-US" sz="1425">
                <a:solidFill>
                  <a:srgbClr val="087B80"/>
                </a:solidFill>
                <a:latin typeface="Consolas"/>
                <a:ea typeface="Consolas"/>
                <a:cs typeface="Consolas"/>
                <a:sym typeface="Consolas"/>
              </a:rPr>
              <a:t>  { path: "courses", component: CourseLinksComponent },</a:t>
            </a:r>
            <a:endParaRPr/>
          </a:p>
          <a:p>
            <a:pPr indent="0" lvl="0" marL="0" marR="0" rtl="0" algn="l">
              <a:spcBef>
                <a:spcPts val="0"/>
              </a:spcBef>
              <a:spcAft>
                <a:spcPts val="0"/>
              </a:spcAft>
              <a:buNone/>
            </a:pPr>
            <a:r>
              <a:rPr b="0" lang="en-US" sz="1425">
                <a:solidFill>
                  <a:srgbClr val="087B80"/>
                </a:solidFill>
                <a:latin typeface="Consolas"/>
                <a:ea typeface="Consolas"/>
                <a:cs typeface="Consolas"/>
                <a:sym typeface="Consolas"/>
              </a:rPr>
              <a:t>  { path: "**", redirectTo: "" }</a:t>
            </a:r>
            <a:endParaRPr/>
          </a:p>
          <a:p>
            <a:pPr indent="0" lvl="0" marL="0" marR="0" rtl="0" algn="l">
              <a:spcBef>
                <a:spcPts val="0"/>
              </a:spcBef>
              <a:spcAft>
                <a:spcPts val="0"/>
              </a:spcAft>
              <a:buNone/>
            </a:pPr>
            <a:r>
              <a:rPr b="0" lang="en-US" sz="1425">
                <a:solidFill>
                  <a:srgbClr val="087B80"/>
                </a:solidFill>
                <a:latin typeface="Consolas"/>
                <a:ea typeface="Consolas"/>
                <a:cs typeface="Consolas"/>
                <a:sym typeface="Consolas"/>
              </a:rPr>
              <a:t>];</a:t>
            </a:r>
            <a:endParaRPr/>
          </a:p>
        </p:txBody>
      </p:sp>
      <p:sp>
        <p:nvSpPr>
          <p:cNvPr id="347" name="Google Shape;347;p30"/>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85551E"/>
                </a:solidFill>
                <a:latin typeface="Arial"/>
                <a:ea typeface="Arial"/>
                <a:cs typeface="Arial"/>
                <a:sym typeface="Arial"/>
              </a:rPr>
              <a:t>The same project has a course-reference route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52" name="Shape 352"/>
        <p:cNvGrpSpPr/>
        <p:nvPr/>
      </p:nvGrpSpPr>
      <p:grpSpPr>
        <a:xfrm>
          <a:off x="0" y="0"/>
          <a:ext cx="0" cy="0"/>
          <a:chOff x="0" y="0"/>
          <a:chExt cx="0" cy="0"/>
        </a:xfrm>
      </p:grpSpPr>
      <p:sp>
        <p:nvSpPr>
          <p:cNvPr id="353" name="Google Shape;353;p31"/>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REFERENCE · AFTER CLASS</a:t>
            </a:r>
            <a:endParaRPr/>
          </a:p>
        </p:txBody>
      </p:sp>
      <p:sp>
        <p:nvSpPr>
          <p:cNvPr id="354" name="Google Shape;354;p31"/>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RouterLink and RouterOutlet</a:t>
            </a:r>
            <a:endParaRPr/>
          </a:p>
        </p:txBody>
      </p:sp>
      <p:sp>
        <p:nvSpPr>
          <p:cNvPr id="355" name="Google Shape;355;p31"/>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RouterLink performs client navigation.</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RouterOutlet hosts the selected route view.</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Routing can preserve the application shell.</a:t>
            </a:r>
            <a:endParaRPr/>
          </a:p>
        </p:txBody>
      </p:sp>
      <p:sp>
        <p:nvSpPr>
          <p:cNvPr id="356" name="Google Shape;356;p31"/>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31</a:t>
            </a:r>
            <a:endParaRPr/>
          </a:p>
        </p:txBody>
      </p:sp>
      <p:sp>
        <p:nvSpPr>
          <p:cNvPr id="357" name="Google Shape;357;p31"/>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650">
                <a:solidFill>
                  <a:srgbClr val="087B80"/>
                </a:solidFill>
                <a:latin typeface="Consolas"/>
                <a:ea typeface="Consolas"/>
                <a:cs typeface="Consolas"/>
                <a:sym typeface="Consolas"/>
              </a:rPr>
              <a:t>&lt;a routerLink="/courses"&gt;Course references&lt;/a&gt;</a:t>
            </a:r>
            <a:endParaRPr/>
          </a:p>
          <a:p>
            <a:pPr indent="0" lvl="0" marL="0" marR="0" rtl="0" algn="l">
              <a:spcBef>
                <a:spcPts val="0"/>
              </a:spcBef>
              <a:spcAft>
                <a:spcPts val="0"/>
              </a:spcAft>
              <a:buNone/>
            </a:pPr>
            <a:r>
              <a:rPr b="0" lang="en-US" sz="1650">
                <a:solidFill>
                  <a:srgbClr val="087B80"/>
                </a:solidFill>
                <a:latin typeface="Consolas"/>
                <a:ea typeface="Consolas"/>
                <a:cs typeface="Consolas"/>
                <a:sym typeface="Consolas"/>
              </a:rPr>
              <a:t>&lt;router-outlet /&gt;</a:t>
            </a:r>
            <a:endParaRPr/>
          </a:p>
        </p:txBody>
      </p:sp>
      <p:sp>
        <p:nvSpPr>
          <p:cNvPr id="358" name="Google Shape;358;p31"/>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85551E"/>
                </a:solidFill>
                <a:latin typeface="Arial"/>
                <a:ea typeface="Arial"/>
                <a:cs typeface="Arial"/>
                <a:sym typeface="Arial"/>
              </a:rPr>
              <a:t>Course navigation keeps the catalog mounted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63" name="Shape 363"/>
        <p:cNvGrpSpPr/>
        <p:nvPr/>
      </p:nvGrpSpPr>
      <p:grpSpPr>
        <a:xfrm>
          <a:off x="0" y="0"/>
          <a:ext cx="0" cy="0"/>
          <a:chOff x="0" y="0"/>
          <a:chExt cx="0" cy="0"/>
        </a:xfrm>
      </p:grpSpPr>
      <p:sp>
        <p:nvSpPr>
          <p:cNvPr id="364" name="Google Shape;364;p32"/>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REFERENCE · AFTER CLASS</a:t>
            </a:r>
            <a:endParaRPr/>
          </a:p>
        </p:txBody>
      </p:sp>
      <p:sp>
        <p:nvSpPr>
          <p:cNvPr id="365" name="Google Shape;365;p32"/>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Route parameters and lazy loading</a:t>
            </a:r>
            <a:endParaRPr/>
          </a:p>
        </p:txBody>
      </p:sp>
      <p:sp>
        <p:nvSpPr>
          <p:cNvPr id="366" name="Google Shape;366;p32"/>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 parameter identifies a resource in a path.</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ActivatedRoute exposes route information.</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loadComponent can lazily import a page.</a:t>
            </a:r>
            <a:endParaRPr/>
          </a:p>
        </p:txBody>
      </p:sp>
      <p:sp>
        <p:nvSpPr>
          <p:cNvPr id="367" name="Google Shape;367;p32"/>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32</a:t>
            </a:r>
            <a:endParaRPr/>
          </a:p>
        </p:txBody>
      </p:sp>
      <p:sp>
        <p:nvSpPr>
          <p:cNvPr id="368" name="Google Shape;368;p32"/>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087B80"/>
                </a:solidFill>
                <a:latin typeface="Consolas"/>
                <a:ea typeface="Consolas"/>
                <a:cs typeface="Consolas"/>
                <a:sym typeface="Consolas"/>
              </a:rPr>
              <a:t>{ path: "products/:id",</a:t>
            </a:r>
            <a:endParaRPr/>
          </a:p>
          <a:p>
            <a:pPr indent="0" lvl="0" marL="0" marR="0" rtl="0" algn="l">
              <a:spcBef>
                <a:spcPts val="0"/>
              </a:spcBef>
              <a:spcAft>
                <a:spcPts val="0"/>
              </a:spcAft>
              <a:buNone/>
            </a:pPr>
            <a:r>
              <a:rPr b="0" lang="en-US" sz="1800">
                <a:solidFill>
                  <a:srgbClr val="087B80"/>
                </a:solidFill>
                <a:latin typeface="Consolas"/>
                <a:ea typeface="Consolas"/>
                <a:cs typeface="Consolas"/>
                <a:sym typeface="Consolas"/>
              </a:rPr>
              <a:t>  loadComponent: () =&gt;</a:t>
            </a:r>
            <a:endParaRPr/>
          </a:p>
          <a:p>
            <a:pPr indent="0" lvl="0" marL="0" marR="0" rtl="0" algn="l">
              <a:spcBef>
                <a:spcPts val="0"/>
              </a:spcBef>
              <a:spcAft>
                <a:spcPts val="0"/>
              </a:spcAft>
              <a:buNone/>
            </a:pPr>
            <a:r>
              <a:rPr b="0" lang="en-US" sz="1800">
                <a:solidFill>
                  <a:srgbClr val="087B80"/>
                </a:solidFill>
                <a:latin typeface="Consolas"/>
                <a:ea typeface="Consolas"/>
                <a:cs typeface="Consolas"/>
                <a:sym typeface="Consolas"/>
              </a:rPr>
              <a:t>    import("./product-detail").then(m =&gt;</a:t>
            </a:r>
            <a:endParaRPr/>
          </a:p>
          <a:p>
            <a:pPr indent="0" lvl="0" marL="0" marR="0" rtl="0" algn="l">
              <a:spcBef>
                <a:spcPts val="0"/>
              </a:spcBef>
              <a:spcAft>
                <a:spcPts val="0"/>
              </a:spcAft>
              <a:buNone/>
            </a:pPr>
            <a:r>
              <a:rPr b="0" lang="en-US" sz="1800">
                <a:solidFill>
                  <a:srgbClr val="087B80"/>
                </a:solidFill>
                <a:latin typeface="Consolas"/>
                <a:ea typeface="Consolas"/>
                <a:cs typeface="Consolas"/>
                <a:sym typeface="Consolas"/>
              </a:rPr>
              <a:t>      m.ProductDetailComponent) }</a:t>
            </a:r>
            <a:endParaRPr/>
          </a:p>
        </p:txBody>
      </p:sp>
      <p:sp>
        <p:nvSpPr>
          <p:cNvPr id="369" name="Google Shape;369;p32"/>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85551E"/>
                </a:solidFill>
                <a:latin typeface="Arial"/>
                <a:ea typeface="Arial"/>
                <a:cs typeface="Arial"/>
                <a:sym typeface="Arial"/>
              </a:rPr>
              <a:t>This is an extension example, not a starter route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74" name="Shape 374"/>
        <p:cNvGrpSpPr/>
        <p:nvPr/>
      </p:nvGrpSpPr>
      <p:grpSpPr>
        <a:xfrm>
          <a:off x="0" y="0"/>
          <a:ext cx="0" cy="0"/>
          <a:chOff x="0" y="0"/>
          <a:chExt cx="0" cy="0"/>
        </a:xfrm>
      </p:grpSpPr>
      <p:sp>
        <p:nvSpPr>
          <p:cNvPr id="375" name="Google Shape;375;p33"/>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REFERENCE · AFTER CLASS</a:t>
            </a:r>
            <a:endParaRPr/>
          </a:p>
        </p:txBody>
      </p:sp>
      <p:sp>
        <p:nvSpPr>
          <p:cNvPr id="376" name="Google Shape;376;p33"/>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Guards, interceptors and validation</a:t>
            </a:r>
            <a:endParaRPr/>
          </a:p>
        </p:txBody>
      </p:sp>
      <p:sp>
        <p:nvSpPr>
          <p:cNvPr id="377" name="Google Shape;377;p33"/>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Guards can control route navigation.</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Interceptors can process HTTP requests.</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Server checks enforce real authorization.</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Form checks improve the browser experience.</a:t>
            </a:r>
            <a:endParaRPr/>
          </a:p>
        </p:txBody>
      </p:sp>
      <p:sp>
        <p:nvSpPr>
          <p:cNvPr id="378" name="Google Shape;378;p33"/>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83" name="Shape 383"/>
        <p:cNvGrpSpPr/>
        <p:nvPr/>
      </p:nvGrpSpPr>
      <p:grpSpPr>
        <a:xfrm>
          <a:off x="0" y="0"/>
          <a:ext cx="0" cy="0"/>
          <a:chOff x="0" y="0"/>
          <a:chExt cx="0" cy="0"/>
        </a:xfrm>
      </p:grpSpPr>
      <p:sp>
        <p:nvSpPr>
          <p:cNvPr id="384" name="Google Shape;384;p34"/>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REFERENCE · AFTER CLASS</a:t>
            </a:r>
            <a:endParaRPr/>
          </a:p>
        </p:txBody>
      </p:sp>
      <p:sp>
        <p:nvSpPr>
          <p:cNvPr id="385" name="Google Shape;385;p34"/>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Testing and deployment practice</a:t>
            </a:r>
            <a:endParaRPr/>
          </a:p>
        </p:txBody>
      </p:sp>
      <p:sp>
        <p:nvSpPr>
          <p:cNvPr id="386" name="Google Shape;386;p34"/>
          <p:cNvSpPr/>
          <p:nvPr/>
        </p:nvSpPr>
        <p:spPr>
          <a:xfrm>
            <a:off x="609600" y="2238375"/>
            <a:ext cx="44291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Check pure helper results.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Check templates and user interactions.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Use HttpTestingController for service tests.</a:t>
            </a:r>
            <a:endParaRPr/>
          </a:p>
          <a:p>
            <a:pPr indent="0" lvl="0" marL="0" marR="0" rtl="0" algn="l">
              <a:spcBef>
                <a:spcPts val="0"/>
              </a:spcBef>
              <a:spcAft>
                <a:spcPts val="0"/>
              </a:spcAft>
              <a:buClr>
                <a:srgbClr val="203B4D"/>
              </a:buClr>
              <a:buSzPts val="2025"/>
              <a:buFont typeface="Arial"/>
              <a:buNone/>
            </a:pPr>
            <a:r>
              <a:rPr b="0" lang="en-US" sz="2025">
                <a:solidFill>
                  <a:srgbClr val="203B4D"/>
                </a:solidFill>
                <a:latin typeface="Arial"/>
                <a:ea typeface="Arial"/>
                <a:cs typeface="Arial"/>
                <a:sym typeface="Arial"/>
              </a:rPr>
              <a:t>Serve built browser files with correct asset paths.</a:t>
            </a:r>
            <a:endParaRPr/>
          </a:p>
        </p:txBody>
      </p:sp>
      <p:sp>
        <p:nvSpPr>
          <p:cNvPr id="387" name="Google Shape;387;p34"/>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34</a:t>
            </a:r>
            <a:endParaRPr/>
          </a:p>
        </p:txBody>
      </p:sp>
      <p:sp>
        <p:nvSpPr>
          <p:cNvPr id="388" name="Google Shape;388;p34"/>
          <p:cNvSpPr/>
          <p:nvPr/>
        </p:nvSpPr>
        <p:spPr>
          <a:xfrm>
            <a:off x="5410200" y="2190750"/>
            <a:ext cx="6143625" cy="3286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00">
                <a:solidFill>
                  <a:srgbClr val="087B80"/>
                </a:solidFill>
                <a:latin typeface="Consolas"/>
                <a:ea typeface="Consolas"/>
                <a:cs typeface="Consolas"/>
                <a:sym typeface="Consolas"/>
              </a:rPr>
              <a:t>npm run check:day-five</a:t>
            </a:r>
            <a:endParaRPr/>
          </a:p>
          <a:p>
            <a:pPr indent="0" lvl="0" marL="0" marR="0" rtl="0" algn="l">
              <a:spcBef>
                <a:spcPts val="0"/>
              </a:spcBef>
              <a:spcAft>
                <a:spcPts val="0"/>
              </a:spcAft>
              <a:buNone/>
            </a:pPr>
            <a:r>
              <a:rPr b="0" lang="en-US" sz="1800">
                <a:solidFill>
                  <a:srgbClr val="087B80"/>
                </a:solidFill>
                <a:latin typeface="Consolas"/>
                <a:ea typeface="Consolas"/>
                <a:cs typeface="Consolas"/>
                <a:sym typeface="Consolas"/>
              </a:rPr>
              <a:t>npm run build</a:t>
            </a:r>
            <a:endParaRPr/>
          </a:p>
        </p:txBody>
      </p:sp>
      <p:sp>
        <p:nvSpPr>
          <p:cNvPr id="389" name="Google Shape;389;p34"/>
          <p:cNvSpPr/>
          <p:nvPr/>
        </p:nvSpPr>
        <p:spPr>
          <a:xfrm>
            <a:off x="5410200" y="5667375"/>
            <a:ext cx="6048375"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85551E"/>
                </a:solidFill>
                <a:latin typeface="Arial"/>
                <a:ea typeface="Arial"/>
                <a:cs typeface="Arial"/>
                <a:sym typeface="Arial"/>
              </a:rPr>
              <a:t>The browser checks exercise the complete workflow</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7F3"/>
        </a:solidFill>
      </p:bgPr>
    </p:bg>
    <p:spTree>
      <p:nvGrpSpPr>
        <p:cNvPr id="394" name="Shape 394"/>
        <p:cNvGrpSpPr/>
        <p:nvPr/>
      </p:nvGrpSpPr>
      <p:grpSpPr>
        <a:xfrm>
          <a:off x="0" y="0"/>
          <a:ext cx="0" cy="0"/>
          <a:chOff x="0" y="0"/>
          <a:chExt cx="0" cy="0"/>
        </a:xfrm>
      </p:grpSpPr>
      <p:sp>
        <p:nvSpPr>
          <p:cNvPr id="395" name="Google Shape;395;p35"/>
          <p:cNvSpPr/>
          <p:nvPr/>
        </p:nvSpPr>
        <p:spPr>
          <a:xfrm>
            <a:off x="609600" y="361950"/>
            <a:ext cx="104775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7D83"/>
              </a:buClr>
              <a:buSzPts val="1275"/>
              <a:buFont typeface="Arial"/>
              <a:buNone/>
            </a:pPr>
            <a:r>
              <a:rPr b="1" lang="en-US" sz="1275">
                <a:solidFill>
                  <a:srgbClr val="007D83"/>
                </a:solidFill>
                <a:latin typeface="Arial"/>
                <a:ea typeface="Arial"/>
                <a:cs typeface="Arial"/>
                <a:sym typeface="Arial"/>
              </a:rPr>
              <a:t>COURSE REFERENCES</a:t>
            </a:r>
            <a:endParaRPr/>
          </a:p>
        </p:txBody>
      </p:sp>
      <p:sp>
        <p:nvSpPr>
          <p:cNvPr id="396" name="Google Shape;396;p35"/>
          <p:cNvSpPr/>
          <p:nvPr/>
        </p:nvSpPr>
        <p:spPr>
          <a:xfrm>
            <a:off x="609600" y="952500"/>
            <a:ext cx="108585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3300"/>
              <a:buFont typeface="Arial"/>
              <a:buNone/>
            </a:pPr>
            <a:r>
              <a:rPr b="1" lang="en-US" sz="3300">
                <a:solidFill>
                  <a:srgbClr val="203B4D"/>
                </a:solidFill>
                <a:latin typeface="Arial"/>
                <a:ea typeface="Arial"/>
                <a:cs typeface="Arial"/>
                <a:sym typeface="Arial"/>
              </a:rPr>
              <a:t>Thank you · Course IDs</a:t>
            </a:r>
            <a:endParaRPr/>
          </a:p>
        </p:txBody>
      </p:sp>
      <p:sp>
        <p:nvSpPr>
          <p:cNvPr id="397" name="Google Shape;397;p35"/>
          <p:cNvSpPr/>
          <p:nvPr/>
        </p:nvSpPr>
        <p:spPr>
          <a:xfrm>
            <a:off x="609600" y="2209800"/>
            <a:ext cx="10477500" cy="3667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Course ID: </a:t>
            </a:r>
            <a:r>
              <a:rPr lang="en-US" sz="2325">
                <a:solidFill>
                  <a:srgbClr val="203B4D"/>
                </a:solidFill>
              </a:rPr>
              <a:t>68295</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Course ID: </a:t>
            </a:r>
            <a:r>
              <a:rPr lang="en-US" sz="2325">
                <a:solidFill>
                  <a:srgbClr val="203B4D"/>
                </a:solidFill>
              </a:rPr>
              <a:t>78592</a:t>
            </a:r>
            <a:endParaRPr/>
          </a:p>
          <a:p>
            <a:pPr indent="0" lvl="0" marL="0" marR="0" rtl="0" algn="l">
              <a:spcBef>
                <a:spcPts val="0"/>
              </a:spcBef>
              <a:spcAft>
                <a:spcPts val="0"/>
              </a:spcAft>
              <a:buClr>
                <a:srgbClr val="203B4D"/>
              </a:buClr>
              <a:buSzPts val="2325"/>
              <a:buFont typeface="Arial"/>
              <a:buNone/>
            </a:pPr>
            <a:r>
              <a:t/>
            </a:r>
            <a:endParaRPr b="0" sz="2325">
              <a:solidFill>
                <a:srgbClr val="203B4D"/>
              </a:solidFill>
              <a:latin typeface="Arial"/>
              <a:ea typeface="Arial"/>
              <a:cs typeface="Arial"/>
              <a:sym typeface="Arial"/>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Trainer: Subha Prasad</a:t>
            </a:r>
            <a:endParaRPr/>
          </a:p>
          <a:p>
            <a:pPr indent="0" lvl="0" marL="0" marR="0" rtl="0" algn="l">
              <a:spcBef>
                <a:spcPts val="0"/>
              </a:spcBef>
              <a:spcAft>
                <a:spcPts val="0"/>
              </a:spcAft>
              <a:buClr>
                <a:srgbClr val="203B4D"/>
              </a:buClr>
              <a:buSzPts val="2325"/>
              <a:buFont typeface="Arial"/>
              <a:buNone/>
            </a:pPr>
            <a:r>
              <a:rPr b="0" lang="en-US" sz="2325">
                <a:solidFill>
                  <a:srgbClr val="203B4D"/>
                </a:solidFill>
                <a:latin typeface="Arial"/>
                <a:ea typeface="Arial"/>
                <a:cs typeface="Arial"/>
                <a:sym typeface="Arial"/>
              </a:rPr>
              <a:t>Questions and continued practice</a:t>
            </a:r>
            <a:endParaRPr/>
          </a:p>
        </p:txBody>
      </p:sp>
      <p:sp>
        <p:nvSpPr>
          <p:cNvPr id="398" name="Google Shape;398;p35"/>
          <p:cNvSpPr/>
          <p:nvPr/>
        </p:nvSpPr>
        <p:spPr>
          <a:xfrm>
            <a:off x="11049000" y="6305550"/>
            <a:ext cx="6191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B7F8D"/>
              </a:buClr>
              <a:buSzPts val="1200"/>
              <a:buFont typeface="Arial"/>
              <a:buNone/>
            </a:pPr>
            <a:r>
              <a:rPr b="0" lang="en-US" sz="1200">
                <a:solidFill>
                  <a:srgbClr val="6B7F8D"/>
                </a:solidFill>
                <a:latin typeface="Arial"/>
                <a:ea typeface="Arial"/>
                <a:cs typeface="Arial"/>
                <a:sym typeface="Arial"/>
              </a:rPr>
              <a:t>35</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