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fcdab51d3494c" /><Relationship Type="http://schemas.openxmlformats.org/officeDocument/2006/relationships/extended-properties" Target="/docProps/app.xml" Id="R3a610d41c9e94955" /><Relationship Type="http://schemas.openxmlformats.org/officeDocument/2006/relationships/officeDocument" Target="/ppt/presentation.xml" Id="Ra5ef933e641a44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81e573fc34a8a"/>
  </p:sldMasterIdLst>
  <p:notesMasterIdLst>
    <p:notesMasterId xmlns:r="http://schemas.openxmlformats.org/officeDocument/2006/relationships" r:id="Rc19107beb43643c8"/>
  </p:notesMasterIdLst>
  <p:sldIdLst>
    <p:sldId xmlns:r="http://schemas.openxmlformats.org/officeDocument/2006/relationships" id="256" r:id="Ree44c8c49e504746"/>
    <p:sldId xmlns:r="http://schemas.openxmlformats.org/officeDocument/2006/relationships" id="257" r:id="R9b740de234a94195"/>
    <p:sldId xmlns:r="http://schemas.openxmlformats.org/officeDocument/2006/relationships" id="258" r:id="R364e7cdc6e9c4cf6"/>
    <p:sldId xmlns:r="http://schemas.openxmlformats.org/officeDocument/2006/relationships" id="259" r:id="R1e2576058f1f434f"/>
    <p:sldId xmlns:r="http://schemas.openxmlformats.org/officeDocument/2006/relationships" id="260" r:id="R774d15a3172744cb"/>
    <p:sldId xmlns:r="http://schemas.openxmlformats.org/officeDocument/2006/relationships" id="261" r:id="Reb283430b8134465"/>
    <p:sldId xmlns:r="http://schemas.openxmlformats.org/officeDocument/2006/relationships" id="262" r:id="Rf55cf4b34ba64256"/>
    <p:sldId xmlns:r="http://schemas.openxmlformats.org/officeDocument/2006/relationships" id="263" r:id="R15e9edf0bade4094"/>
    <p:sldId xmlns:r="http://schemas.openxmlformats.org/officeDocument/2006/relationships" id="264" r:id="Rb20425dc83e3416f"/>
    <p:sldId xmlns:r="http://schemas.openxmlformats.org/officeDocument/2006/relationships" id="265" r:id="Rbd96ca8fe08042e9"/>
    <p:sldId xmlns:r="http://schemas.openxmlformats.org/officeDocument/2006/relationships" id="266" r:id="R1fad8aa3afdc46a4"/>
    <p:sldId xmlns:r="http://schemas.openxmlformats.org/officeDocument/2006/relationships" id="267" r:id="R639a535ceafe45ce"/>
    <p:sldId xmlns:r="http://schemas.openxmlformats.org/officeDocument/2006/relationships" id="268" r:id="Rb47483c8157f4476"/>
    <p:sldId xmlns:r="http://schemas.openxmlformats.org/officeDocument/2006/relationships" id="269" r:id="Re5f39bbef7ff463e"/>
    <p:sldId xmlns:r="http://schemas.openxmlformats.org/officeDocument/2006/relationships" id="270" r:id="R7d1d76c913ce49dc"/>
    <p:sldId xmlns:r="http://schemas.openxmlformats.org/officeDocument/2006/relationships" id="271" r:id="Rf498739462ab4180"/>
    <p:sldId xmlns:r="http://schemas.openxmlformats.org/officeDocument/2006/relationships" id="272" r:id="Rb30fa48de9464f71"/>
    <p:sldId xmlns:r="http://schemas.openxmlformats.org/officeDocument/2006/relationships" id="273" r:id="Rb6c6159bd1f4457d"/>
    <p:sldId xmlns:r="http://schemas.openxmlformats.org/officeDocument/2006/relationships" id="274" r:id="R7e2a4d1df6ba429b"/>
    <p:sldId xmlns:r="http://schemas.openxmlformats.org/officeDocument/2006/relationships" id="275" r:id="R905d1a3246244252"/>
    <p:sldId xmlns:r="http://schemas.openxmlformats.org/officeDocument/2006/relationships" id="276" r:id="R5f4d0b6292614925"/>
    <p:sldId xmlns:r="http://schemas.openxmlformats.org/officeDocument/2006/relationships" id="277" r:id="R00dc6fcaaf3d491b"/>
    <p:sldId xmlns:r="http://schemas.openxmlformats.org/officeDocument/2006/relationships" id="278" r:id="Rb067b14ad1f04d2b"/>
    <p:sldId xmlns:r="http://schemas.openxmlformats.org/officeDocument/2006/relationships" id="279" r:id="Rab8572ab75284bfc"/>
    <p:sldId xmlns:r="http://schemas.openxmlformats.org/officeDocument/2006/relationships" id="280" r:id="R998648ff551a4125"/>
    <p:sldId xmlns:r="http://schemas.openxmlformats.org/officeDocument/2006/relationships" id="281" r:id="Rbb1a65e315254e1c"/>
    <p:sldId xmlns:r="http://schemas.openxmlformats.org/officeDocument/2006/relationships" id="282" r:id="Re1925fb4e73f436d"/>
    <p:sldId xmlns:r="http://schemas.openxmlformats.org/officeDocument/2006/relationships" id="283" r:id="Rcf058f102a734718"/>
    <p:sldId xmlns:r="http://schemas.openxmlformats.org/officeDocument/2006/relationships" id="284" r:id="Rcf99b35ace2d4d46"/>
    <p:sldId xmlns:r="http://schemas.openxmlformats.org/officeDocument/2006/relationships" id="285" r:id="Rcca9f61d97a149b4"/>
    <p:sldId xmlns:r="http://schemas.openxmlformats.org/officeDocument/2006/relationships" id="286" r:id="R249b17a2e9f647ff"/>
    <p:sldId xmlns:r="http://schemas.openxmlformats.org/officeDocument/2006/relationships" id="287" r:id="R466edaedc59240b5"/>
    <p:sldId xmlns:r="http://schemas.openxmlformats.org/officeDocument/2006/relationships" id="288" r:id="R3615c512e6a947f5"/>
    <p:sldId xmlns:r="http://schemas.openxmlformats.org/officeDocument/2006/relationships" id="289" r:id="R860d1947bb6f41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dd8d73089d4616" /><Relationship Type="http://schemas.openxmlformats.org/officeDocument/2006/relationships/slideMaster" Target="/ppt/slideMasters/slideMaster1.xml" Id="R75681e573fc34a8a" /><Relationship Type="http://schemas.openxmlformats.org/officeDocument/2006/relationships/notesMaster" Target="/ppt/notesMasters/notesMaster1.xml" Id="Rc19107beb43643c8" /><Relationship Type="http://schemas.openxmlformats.org/officeDocument/2006/relationships/presProps" Target="/ppt/presProps.xml" Id="R73957f57aa694720" /><Relationship Type="http://schemas.openxmlformats.org/officeDocument/2006/relationships/tableStyles" Target="/ppt/tableStyles.xml" Id="R2467d8f2ecd2401e" /><Relationship Type="http://schemas.openxmlformats.org/officeDocument/2006/relationships/slide" Target="/ppt/slides/slide1.xml" Id="Ree44c8c49e504746" /><Relationship Type="http://schemas.openxmlformats.org/officeDocument/2006/relationships/slide" Target="/ppt/slides/slide2.xml" Id="R9b740de234a94195" /><Relationship Type="http://schemas.openxmlformats.org/officeDocument/2006/relationships/slide" Target="/ppt/slides/slide3.xml" Id="R364e7cdc6e9c4cf6" /><Relationship Type="http://schemas.openxmlformats.org/officeDocument/2006/relationships/slide" Target="/ppt/slides/slide4.xml" Id="R1e2576058f1f434f" /><Relationship Type="http://schemas.openxmlformats.org/officeDocument/2006/relationships/slide" Target="/ppt/slides/slide5.xml" Id="R774d15a3172744cb" /><Relationship Type="http://schemas.openxmlformats.org/officeDocument/2006/relationships/slide" Target="/ppt/slides/slide6.xml" Id="Reb283430b8134465" /><Relationship Type="http://schemas.openxmlformats.org/officeDocument/2006/relationships/slide" Target="/ppt/slides/slide7.xml" Id="Rf55cf4b34ba64256" /><Relationship Type="http://schemas.openxmlformats.org/officeDocument/2006/relationships/slide" Target="/ppt/slides/slide8.xml" Id="R15e9edf0bade4094" /><Relationship Type="http://schemas.openxmlformats.org/officeDocument/2006/relationships/slide" Target="/ppt/slides/slide9.xml" Id="Rb20425dc83e3416f" /><Relationship Type="http://schemas.openxmlformats.org/officeDocument/2006/relationships/slide" Target="/ppt/slides/slide10.xml" Id="Rbd96ca8fe08042e9" /><Relationship Type="http://schemas.openxmlformats.org/officeDocument/2006/relationships/slide" Target="/ppt/slides/slide11.xml" Id="R1fad8aa3afdc46a4" /><Relationship Type="http://schemas.openxmlformats.org/officeDocument/2006/relationships/slide" Target="/ppt/slides/slide12.xml" Id="R639a535ceafe45ce" /><Relationship Type="http://schemas.openxmlformats.org/officeDocument/2006/relationships/slide" Target="/ppt/slides/slide13.xml" Id="Rb47483c8157f4476" /><Relationship Type="http://schemas.openxmlformats.org/officeDocument/2006/relationships/slide" Target="/ppt/slides/slide14.xml" Id="Re5f39bbef7ff463e" /><Relationship Type="http://schemas.openxmlformats.org/officeDocument/2006/relationships/slide" Target="/ppt/slides/slide15.xml" Id="R7d1d76c913ce49dc" /><Relationship Type="http://schemas.openxmlformats.org/officeDocument/2006/relationships/slide" Target="/ppt/slides/slide16.xml" Id="Rf498739462ab4180" /><Relationship Type="http://schemas.openxmlformats.org/officeDocument/2006/relationships/slide" Target="/ppt/slides/slide17.xml" Id="Rb30fa48de9464f71" /><Relationship Type="http://schemas.openxmlformats.org/officeDocument/2006/relationships/slide" Target="/ppt/slides/slide18.xml" Id="Rb6c6159bd1f4457d" /><Relationship Type="http://schemas.openxmlformats.org/officeDocument/2006/relationships/slide" Target="/ppt/slides/slide19.xml" Id="R7e2a4d1df6ba429b" /><Relationship Type="http://schemas.openxmlformats.org/officeDocument/2006/relationships/slide" Target="/ppt/slides/slide20.xml" Id="R905d1a3246244252" /><Relationship Type="http://schemas.openxmlformats.org/officeDocument/2006/relationships/slide" Target="/ppt/slides/slide21.xml" Id="R5f4d0b6292614925" /><Relationship Type="http://schemas.openxmlformats.org/officeDocument/2006/relationships/slide" Target="/ppt/slides/slide22.xml" Id="R00dc6fcaaf3d491b" /><Relationship Type="http://schemas.openxmlformats.org/officeDocument/2006/relationships/slide" Target="/ppt/slides/slide23.xml" Id="Rb067b14ad1f04d2b" /><Relationship Type="http://schemas.openxmlformats.org/officeDocument/2006/relationships/slide" Target="/ppt/slides/slide24.xml" Id="Rab8572ab75284bfc" /><Relationship Type="http://schemas.openxmlformats.org/officeDocument/2006/relationships/slide" Target="/ppt/slides/slide25.xml" Id="R998648ff551a4125" /><Relationship Type="http://schemas.openxmlformats.org/officeDocument/2006/relationships/slide" Target="/ppt/slides/slide26.xml" Id="Rbb1a65e315254e1c" /><Relationship Type="http://schemas.openxmlformats.org/officeDocument/2006/relationships/slide" Target="/ppt/slides/slide27.xml" Id="Re1925fb4e73f436d" /><Relationship Type="http://schemas.openxmlformats.org/officeDocument/2006/relationships/slide" Target="/ppt/slides/slide28.xml" Id="Rcf058f102a734718" /><Relationship Type="http://schemas.openxmlformats.org/officeDocument/2006/relationships/slide" Target="/ppt/slides/slide29.xml" Id="Rcf99b35ace2d4d46" /><Relationship Type="http://schemas.openxmlformats.org/officeDocument/2006/relationships/slide" Target="/ppt/slides/slide30.xml" Id="Rcca9f61d97a149b4" /><Relationship Type="http://schemas.openxmlformats.org/officeDocument/2006/relationships/slide" Target="/ppt/slides/slide31.xml" Id="R249b17a2e9f647ff" /><Relationship Type="http://schemas.openxmlformats.org/officeDocument/2006/relationships/slide" Target="/ppt/slides/slide32.xml" Id="R466edaedc59240b5" /><Relationship Type="http://schemas.openxmlformats.org/officeDocument/2006/relationships/slide" Target="/ppt/slides/slide33.xml" Id="R3615c512e6a947f5" /><Relationship Type="http://schemas.openxmlformats.org/officeDocument/2006/relationships/slide" Target="/ppt/slides/slide34.xml" Id="R860d1947bb6f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761e33fd6c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119033c5414d2b" /><Relationship Type="http://schemas.openxmlformats.org/officeDocument/2006/relationships/notesMaster" Target="/ppt/notesMasters/notesMaster1.xml" Id="R2e2b94eb52c9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efc39591f348bf" /><Relationship Type="http://schemas.openxmlformats.org/officeDocument/2006/relationships/notesMaster" Target="/ppt/notesMasters/notesMaster1.xml" Id="R7afe02aabc3c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f15202a79f463b" /><Relationship Type="http://schemas.openxmlformats.org/officeDocument/2006/relationships/notesMaster" Target="/ppt/notesMasters/notesMaster1.xml" Id="Rdd047708264540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431ebce1574c31" /><Relationship Type="http://schemas.openxmlformats.org/officeDocument/2006/relationships/notesMaster" Target="/ppt/notesMasters/notesMaster1.xml" Id="R703b917237b04a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2c2b285a0f4dfc" /><Relationship Type="http://schemas.openxmlformats.org/officeDocument/2006/relationships/notesMaster" Target="/ppt/notesMasters/notesMaster1.xml" Id="R4fcd0e0de2834f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d0d3a6de0e425f" /><Relationship Type="http://schemas.openxmlformats.org/officeDocument/2006/relationships/notesMaster" Target="/ppt/notesMasters/notesMaster1.xml" Id="R5cef58b2744740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9fd655c8964ac4" /><Relationship Type="http://schemas.openxmlformats.org/officeDocument/2006/relationships/notesMaster" Target="/ppt/notesMasters/notesMaster1.xml" Id="Rcd396e7d7e8746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1f3d5f3c0d4649" /><Relationship Type="http://schemas.openxmlformats.org/officeDocument/2006/relationships/notesMaster" Target="/ppt/notesMasters/notesMaster1.xml" Id="Ra57e6af104c249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ad4830b4dc40b0" /><Relationship Type="http://schemas.openxmlformats.org/officeDocument/2006/relationships/notesMaster" Target="/ppt/notesMasters/notesMaster1.xml" Id="R7570770460684d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b9d41efbb6492c" /><Relationship Type="http://schemas.openxmlformats.org/officeDocument/2006/relationships/notesMaster" Target="/ppt/notesMasters/notesMaster1.xml" Id="Rbfb1a67d00ab4a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e01982f9744a84" /><Relationship Type="http://schemas.openxmlformats.org/officeDocument/2006/relationships/notesMaster" Target="/ppt/notesMasters/notesMaster1.xml" Id="Rd52bb5d51e5e49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8e38b5c29f4bd1" /><Relationship Type="http://schemas.openxmlformats.org/officeDocument/2006/relationships/notesMaster" Target="/ppt/notesMasters/notesMaster1.xml" Id="R83f8f112cb7043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eb7c98ee7f4e29" /><Relationship Type="http://schemas.openxmlformats.org/officeDocument/2006/relationships/notesMaster" Target="/ppt/notesMasters/notesMaster1.xml" Id="Re06ec40f9ddf41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1ef9fb076b41a0" /><Relationship Type="http://schemas.openxmlformats.org/officeDocument/2006/relationships/notesMaster" Target="/ppt/notesMasters/notesMaster1.xml" Id="R52b1d5e649c048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e7e0f3573f4f99" /><Relationship Type="http://schemas.openxmlformats.org/officeDocument/2006/relationships/notesMaster" Target="/ppt/notesMasters/notesMaster1.xml" Id="R9e4eac0853db49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611026bebc47eb" /><Relationship Type="http://schemas.openxmlformats.org/officeDocument/2006/relationships/notesMaster" Target="/ppt/notesMasters/notesMaster1.xml" Id="Rf7dea5fdc4ef4c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6b6c7bf9bc47cf" /><Relationship Type="http://schemas.openxmlformats.org/officeDocument/2006/relationships/notesMaster" Target="/ppt/notesMasters/notesMaster1.xml" Id="R58b42e8c23b547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861dce4e1a4960" /><Relationship Type="http://schemas.openxmlformats.org/officeDocument/2006/relationships/notesMaster" Target="/ppt/notesMasters/notesMaster1.xml" Id="Rc3742107ede446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69361196b14089" /><Relationship Type="http://schemas.openxmlformats.org/officeDocument/2006/relationships/notesMaster" Target="/ppt/notesMasters/notesMaster1.xml" Id="R2774aa8ade0449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9819cae35d47d4" /><Relationship Type="http://schemas.openxmlformats.org/officeDocument/2006/relationships/notesMaster" Target="/ppt/notesMasters/notesMaster1.xml" Id="R130fc5f903cf42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09442bc4e04b7b" /><Relationship Type="http://schemas.openxmlformats.org/officeDocument/2006/relationships/notesMaster" Target="/ppt/notesMasters/notesMaster1.xml" Id="Rd310e82972ba44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fa264135e94d72" /><Relationship Type="http://schemas.openxmlformats.org/officeDocument/2006/relationships/notesMaster" Target="/ppt/notesMasters/notesMaster1.xml" Id="Rd12ff56cef904b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6de7fbd3ff4e3d" /><Relationship Type="http://schemas.openxmlformats.org/officeDocument/2006/relationships/notesMaster" Target="/ppt/notesMasters/notesMaster1.xml" Id="Rc3771676951642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e5c55564294454" /><Relationship Type="http://schemas.openxmlformats.org/officeDocument/2006/relationships/notesMaster" Target="/ppt/notesMasters/notesMaster1.xml" Id="R8870143e317541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71566d7d184382" /><Relationship Type="http://schemas.openxmlformats.org/officeDocument/2006/relationships/notesMaster" Target="/ppt/notesMasters/notesMaster1.xml" Id="R7250667a19084d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4ac5bb83314028" /><Relationship Type="http://schemas.openxmlformats.org/officeDocument/2006/relationships/notesMaster" Target="/ppt/notesMasters/notesMaster1.xml" Id="R8999b63033d34e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feb2f08e2dd479e" /><Relationship Type="http://schemas.openxmlformats.org/officeDocument/2006/relationships/notesMaster" Target="/ppt/notesMasters/notesMaster1.xml" Id="R8bb5346a0ce04d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cd4fbbee8640a4" /><Relationship Type="http://schemas.openxmlformats.org/officeDocument/2006/relationships/notesMaster" Target="/ppt/notesMasters/notesMaster1.xml" Id="R3b5ee4a557ad4d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1ea0e201484528" /><Relationship Type="http://schemas.openxmlformats.org/officeDocument/2006/relationships/notesMaster" Target="/ppt/notesMasters/notesMaster1.xml" Id="R2b6831a5898d41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b8ef85062d4996" /><Relationship Type="http://schemas.openxmlformats.org/officeDocument/2006/relationships/notesMaster" Target="/ppt/notesMasters/notesMaster1.xml" Id="R88831fb2fb39496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eb917926d274e8b" /><Relationship Type="http://schemas.openxmlformats.org/officeDocument/2006/relationships/notesMaster" Target="/ppt/notesMasters/notesMaster1.xml" Id="Rcc195a375a58423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387379b7f34bd0" /><Relationship Type="http://schemas.openxmlformats.org/officeDocument/2006/relationships/notesMaster" Target="/ppt/notesMasters/notesMaster1.xml" Id="R34a44e3f91994d6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0075a64572a4d3f" /><Relationship Type="http://schemas.openxmlformats.org/officeDocument/2006/relationships/notesMaster" Target="/ppt/notesMasters/notesMaster1.xml" Id="R6470af074bcd41e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2f6f4c7a6664ff3" /><Relationship Type="http://schemas.openxmlformats.org/officeDocument/2006/relationships/notesMaster" Target="/ppt/notesMasters/notesMaster1.xml" Id="Rcef7380a3dd7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Welcome learners in Microsoft Teams. Trainer: TCS Assets Consultant (C3A), SME. The Product Catalog uses fictional INR values.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Same four products as React Day 2: Bottle is now out of stock. Counts4/2/2. Source configuration drives changes today.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Reference slides cover decorators, directives and lifecycle recognition. Core timing excludes those slides.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Recall function parameters and object properties. Angular inputs are class field declarations, not destructured function parameters.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This is a structural outline. Avoid creating a component for each line of HTML. Section also wraps a different notes area.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Compare a plain import with Angular metadata registration. Keep class and metadata outside another component class.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The default-export example is a separate module illustration, not in the same file as the import. Angular does not require default component exports.</a:t>
            </a:r>
          </a:p>
          <a:p xmlns:a="http://schemas.openxmlformats.org/drawingml/2006/main">
            <a:r>
              <a:t>Source: https://developer.mozilla.org/en-US/docs/Web/JavaScript/Guide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Inputs can change as parent data changes. Required inputs cause a build error when omitted in a template. input.required must be in a component field initializer.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A one-time destructured local value does not stay linked when the input changes. Use product() or computed for reactive derived values, rather than caching inputs once.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With strictTemplates and a boolean input, showCategory="false" is not the intended typed binding. A configured booleanAttribute transform changes coercion rules; this project uses explicit property binding.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The default is for an omitted input. Binding undefined/null does not mean use the default; strict typing prevents these for the boolean input. The plain-JavaScript lesson compares parameter default undefined versus explicit null.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The Product interface uses readonly fields, but runtime objects are not deeply frozen. Mutating shared objects can still create hidden coupling. Outputs arrive Day 3.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ng-content replaces the React children pattern conceptually. Projected content keeps the parent template context. Do not conditionally create ng-content placeholders.</a:t>
            </a:r>
          </a:p>
          <a:p xmlns:a="http://schemas.openxmlformats.org/drawingml/2006/main">
            <a:r>
              <a:t>Source: https://angular.dev/guide/components/content-projection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Read SectionComponent. It owns the heading but not the projected card list data. Accessibility IDs must remain unique.</a:t>
            </a:r>
          </a:p>
          <a:p xmlns:a="http://schemas.openxmlformats.org/drawingml/2006/main">
            <a:r>
              <a:t>Source: https://angular.dev/guide/components/content-projection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This illustrates the React early-return topic without returning JSX from an Angular class. The actual ProductList uses @for with @empty.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Open StockBadge and compare text with CSS classes. The same plain JavaScript idea works in an Angular template expression.</a:t>
            </a:r>
          </a:p>
          <a:p xmlns:a="http://schemas.openxmlformats.org/drawingml/2006/main">
            <a:r>
              <a:t>Source: https://angular.dev/guide/templates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minute(s).</a:t>
            </a:r>
          </a:p>
          <a:p xmlns:a="http://schemas.openxmlformats.org/drawingml/2006/main">
            <a:r>
              <a:t>Angular uses an explicit control block for this UI instead of React &amp;&amp; JSX. The parent config can set showCategory=false.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React count &amp;&amp; JSX can display0. Angular @if does not insert its condition as text, so that exact React pitfall does not transfer. Explicit &gt;0 still improves clarity. This difference is documented in the coverage map.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Angular templates do not map arrays to JSX elements. This is the matching Angular rendering pattern.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Run the Node lesson to compare original/reversed IDs. Index tracking is suited to a static list, not a changing catalog. Avoid random IDs created during rendering.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This covers React key-versus-regular-prop. There is no Angular key input added automatically to ProductCard. Our card reads the ID from the product object.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Source selectedStock string and showCategory configuration match React Day 2. Browser controls arrive tomorrow. Passing [] demonstrates the fallback.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CurrencyPipe must be in standalone imports. It formats display without converting currency. It does not calculate taxes, checkout totals or payment.</a:t>
            </a:r>
          </a:p>
          <a:p xmlns:a="http://schemas.openxmlformats.org/drawingml/2006/main">
            <a:r>
              <a:t>Source: https://angular.dev/guide/templates/pipes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minute(s).</a:t>
            </a:r>
          </a:p>
          <a:p xmlns:a="http://schemas.openxmlformats.org/drawingml/2006/main">
            <a:r>
              <a:t>Use the actual Angular screenshot. Counts4/2/2 and fictional prices80,20,500,250. Show both Section instances.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 minute(s).</a:t>
            </a:r>
          </a:p>
          <a:p xmlns:a="http://schemas.openxmlformats.org/drawingml/2006/main">
            <a:r>
              <a:t>Guided file walkthrough: App, ProductList, ProductCard, StockBadge, Section. Ask learners to identify the class initializer receiving each input.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 minute(s).</a:t>
            </a:r>
          </a:p>
          <a:p xmlns:a="http://schemas.openxmlformats.org/drawingml/2006/main">
            <a:r>
              <a:t>Observe2cards, hidden categories with visible prices, and the empty message. The total summary remains4/2/2. Do not add browser controls during this lesson.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minute(s).</a:t>
            </a:r>
          </a:p>
          <a:p xmlns:a="http://schemas.openxmlformats.org/drawingml/2006/main">
            <a:r>
              <a:t>The Product interface already includes optional brand. Use fictional brand text. Learners add the field, input forwarding and display. The starter intentionally leaves that work.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 minute(s).</a:t>
            </a:r>
          </a:p>
          <a:p xmlns:a="http://schemas.openxmlformats.org/drawingml/2006/main">
            <a:r>
              <a:t>Answers: input, no, ng-content, stable item identity, no. Also ask whether track becomes a child input: no.</a:t>
            </a:r>
          </a:p>
          <a:p xmlns:a="http://schemas.openxmlformats.org/drawingml/2006/main">
            <a:r>
              <a:t>Source: https://angular.dev/guide/templates/control-flow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Ask one learner to trace one Notebook object through all components. Tomorrow signals and events let users change the screen.</a:t>
            </a:r>
          </a:p>
          <a:p xmlns:a="http://schemas.openxmlformats.org/drawingml/2006/main">
            <a:r>
              <a:t>Source: https://angular.dev/guide/components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 minute(s).</a:t>
            </a:r>
          </a:p>
          <a:p xmlns:a="http://schemas.openxmlformats.org/drawingml/2006/main">
            <a:r>
              <a:t>Reference slides expand directives, pipes and legacy recognition. Official TCS assessment requirements govern certification.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Structural control blocks @if/@for replace older *ngIf/*ngFor patterns in this course. Recognize legacy syntax when reading older applications.</a:t>
            </a:r>
          </a:p>
          <a:p xmlns:a="http://schemas.openxmlformats.org/drawingml/2006/main">
            <a:r>
              <a:t>Source: https://angular.dev/guide/templates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Standalone components must import used pipes. Keep expensive business work outside templates. No date field is required in the starter.</a:t>
            </a:r>
          </a:p>
          <a:p xmlns:a="http://schemas.openxmlformats.org/drawingml/2006/main">
            <a:r>
              <a:t>Source: https://angular.dev/guide/templates/pipes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This excerpt needs Input imported. EventEmitter/@Output are recognized in the notes; Day 3 uses output&lt;Product&gt;(). Decorator @Input is still supported.</a:t>
            </a:r>
          </a:p>
          <a:p xmlns:a="http://schemas.openxmlformats.org/drawingml/2006/main">
            <a:r>
              <a:t>Source: https://angular.dev/guide/components/inputs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 minute(s). Optional reference after class.</a:t>
            </a:r>
          </a:p>
          <a:p xmlns:a="http://schemas.openxmlformats.org/drawingml/2006/main">
            <a:r>
              <a:t>These are recognition examples. Day 4 uses ngOnInit and destruction cleanup for requests. Avoid changing state during view-check hooks.</a:t>
            </a:r>
          </a:p>
          <a:p xmlns:a="http://schemas.openxmlformats.org/drawingml/2006/main">
            <a:r>
              <a:t>Source: https://angular.dev/guide/components/lifecycle</a:t>
            </a:r>
          </a:p>
          <a:p xmlns:a="http://schemas.openxmlformats.org/drawingml/2006/main">
            <a:r>
              <a:t>Code blocks are excerpts unless they show a complete component. Prices are fictional INR values. The cart has one entry per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403caaa3649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a9e98b4f444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e74cf96fa44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2e3e8949c45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ac59d6cc84e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b46d7f09546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0A31C8-5CD1-4964-874A-69C50F8C5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9439DD-B815-4D4D-A727-69E1A8D789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276578-A3AD-418F-B8A3-B496C440B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F8F829-72B4-4A78-8283-8014F1F34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0531E1-0AA5-4516-BB9B-7CB2FB0CE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B85F77-1196-4DDD-8A4C-FC049C8D7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98E8F8-55DD-440F-87A2-6ADA79CF0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91927E-75BF-4EB6-85A6-BA823D97A1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84519-9854-4D93-8634-A543E8A65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4F4638-B2BB-473B-88B8-0DDDE3A0F1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3dfd7f345f4954" /><Relationship Type="http://schemas.openxmlformats.org/officeDocument/2006/relationships/slideLayout" Target="/ppt/slideLayouts/slideLayout1.xml" Id="Rdd2c80bf84ab49e8" /><Relationship Type="http://schemas.openxmlformats.org/officeDocument/2006/relationships/slideLayout" Target="/ppt/slideLayouts/slideLayout2.xml" Id="Rb20605dd24414157" /><Relationship Type="http://schemas.openxmlformats.org/officeDocument/2006/relationships/slideLayout" Target="/ppt/slideLayouts/slideLayout3.xml" Id="Rc44a0c8e01854f76" /><Relationship Type="http://schemas.openxmlformats.org/officeDocument/2006/relationships/slideLayout" Target="/ppt/slideLayouts/slideLayout4.xml" Id="Rfb1393a69e994e5c" /><Relationship Type="http://schemas.openxmlformats.org/officeDocument/2006/relationships/slideLayout" Target="/ppt/slideLayouts/slideLayout5.xml" Id="Rbcaf695b6eba4d5c" /><Relationship Type="http://schemas.openxmlformats.org/officeDocument/2006/relationships/slideLayout" Target="/ppt/slideLayouts/slideLayout6.xml" Id="Rd99b194fd6e749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c80bf84ab49e8"/>
    <p:sldLayoutId xmlns:r="http://schemas.openxmlformats.org/officeDocument/2006/relationships" id="2147483650" r:id="Rb20605dd24414157"/>
    <p:sldLayoutId xmlns:r="http://schemas.openxmlformats.org/officeDocument/2006/relationships" id="2147483651" r:id="Rc44a0c8e01854f76"/>
    <p:sldLayoutId xmlns:r="http://schemas.openxmlformats.org/officeDocument/2006/relationships" id="2147483652" r:id="Rfb1393a69e994e5c"/>
    <p:sldLayoutId xmlns:r="http://schemas.openxmlformats.org/officeDocument/2006/relationships" id="2147483653" r:id="Rbcaf695b6eba4d5c"/>
    <p:sldLayoutId xmlns:r="http://schemas.openxmlformats.org/officeDocument/2006/relationships" id="2147483654" r:id="Rd99b194fd6e749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b68932b4c4b58" /><Relationship Type="http://schemas.openxmlformats.org/officeDocument/2006/relationships/image" Target="/ppt/media/image.png" Id="R330d0720a6cb4b83" /><Relationship Type="http://schemas.openxmlformats.org/officeDocument/2006/relationships/notesSlide" Target="/ppt/notesSlides/notesSlide1.xml" Id="R5ca7ddb2967942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c92a9fcd74767" /><Relationship Type="http://schemas.openxmlformats.org/officeDocument/2006/relationships/notesSlide" Target="/ppt/notesSlides/notesSlide2.xml" Id="Rb340877081a943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6b03f504d402b" /><Relationship Type="http://schemas.openxmlformats.org/officeDocument/2006/relationships/notesSlide" Target="/ppt/notesSlides/notesSlide3.xml" Id="Rcb0fa8131108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9f2a53ce64718" /><Relationship Type="http://schemas.openxmlformats.org/officeDocument/2006/relationships/notesSlide" Target="/ppt/notesSlides/notesSlide4.xml" Id="R3af080f302524c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1be8a2e534561" /><Relationship Type="http://schemas.openxmlformats.org/officeDocument/2006/relationships/notesSlide" Target="/ppt/notesSlides/notesSlide5.xml" Id="R51247c529d4e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58247d4fe4897" /><Relationship Type="http://schemas.openxmlformats.org/officeDocument/2006/relationships/notesSlide" Target="/ppt/notesSlides/notesSlide6.xml" Id="R33d41e29e50f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b369ea5bc4ac0" /><Relationship Type="http://schemas.openxmlformats.org/officeDocument/2006/relationships/notesSlide" Target="/ppt/notesSlides/notesSlide7.xml" Id="R09d099c6e87047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cfbbcd5454d46" /><Relationship Type="http://schemas.openxmlformats.org/officeDocument/2006/relationships/notesSlide" Target="/ppt/notesSlides/notesSlide8.xml" Id="Re78b166fb34045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6d91721584434" /><Relationship Type="http://schemas.openxmlformats.org/officeDocument/2006/relationships/notesSlide" Target="/ppt/notesSlides/notesSlide9.xml" Id="Rfe3a5b9c14d24d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24adccf204fd8" /><Relationship Type="http://schemas.openxmlformats.org/officeDocument/2006/relationships/notesSlide" Target="/ppt/notesSlides/notesSlide10.xml" Id="Ra4f4a818ad274e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ec5e9d685418e" /><Relationship Type="http://schemas.openxmlformats.org/officeDocument/2006/relationships/notesSlide" Target="/ppt/notesSlides/notesSlide11.xml" Id="R9e9e6195218748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5fb37f7734de1" /><Relationship Type="http://schemas.openxmlformats.org/officeDocument/2006/relationships/notesSlide" Target="/ppt/notesSlides/notesSlide12.xml" Id="R8c537585e4ac41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106adb1594ec2" /><Relationship Type="http://schemas.openxmlformats.org/officeDocument/2006/relationships/notesSlide" Target="/ppt/notesSlides/notesSlide13.xml" Id="R5cd0a770097648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041e2a50a4cba" /><Relationship Type="http://schemas.openxmlformats.org/officeDocument/2006/relationships/notesSlide" Target="/ppt/notesSlides/notesSlide14.xml" Id="Rb7f705f6726748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2d727a2fe4d82" /><Relationship Type="http://schemas.openxmlformats.org/officeDocument/2006/relationships/notesSlide" Target="/ppt/notesSlides/notesSlide15.xml" Id="Rf0803ad534c740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82be4b9a345d6" /><Relationship Type="http://schemas.openxmlformats.org/officeDocument/2006/relationships/notesSlide" Target="/ppt/notesSlides/notesSlide16.xml" Id="Rab79e000d5b247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ef7902e434970" /><Relationship Type="http://schemas.openxmlformats.org/officeDocument/2006/relationships/notesSlide" Target="/ppt/notesSlides/notesSlide17.xml" Id="Reffabadd22f24b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91d9a4f8c47b9" /><Relationship Type="http://schemas.openxmlformats.org/officeDocument/2006/relationships/notesSlide" Target="/ppt/notesSlides/notesSlide18.xml" Id="Rd96c1f7d1cdc40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7b2c49fbc48a7" /><Relationship Type="http://schemas.openxmlformats.org/officeDocument/2006/relationships/notesSlide" Target="/ppt/notesSlides/notesSlide19.xml" Id="R8b4eb8fc5fea44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458fd0c244847" /><Relationship Type="http://schemas.openxmlformats.org/officeDocument/2006/relationships/notesSlide" Target="/ppt/notesSlides/notesSlide20.xml" Id="R9b2444e68fce40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3aad775b04ade" /><Relationship Type="http://schemas.openxmlformats.org/officeDocument/2006/relationships/notesSlide" Target="/ppt/notesSlides/notesSlide21.xml" Id="Ra37b2029601a47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7e48e66af4980" /><Relationship Type="http://schemas.openxmlformats.org/officeDocument/2006/relationships/notesSlide" Target="/ppt/notesSlides/notesSlide22.xml" Id="R265a4a849acb4c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811e820174965" /><Relationship Type="http://schemas.openxmlformats.org/officeDocument/2006/relationships/notesSlide" Target="/ppt/notesSlides/notesSlide23.xml" Id="Ra33dea166e9945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f0face1524154" /><Relationship Type="http://schemas.openxmlformats.org/officeDocument/2006/relationships/image" Target="/ppt/media/image2.png" Id="R1b713c3e028f44cf" /><Relationship Type="http://schemas.openxmlformats.org/officeDocument/2006/relationships/notesSlide" Target="/ppt/notesSlides/notesSlide24.xml" Id="R3c4a3ffb42b344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c15190658439c" /><Relationship Type="http://schemas.openxmlformats.org/officeDocument/2006/relationships/notesSlide" Target="/ppt/notesSlides/notesSlide25.xml" Id="R02d6ba24ac3347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85f2db7c74824" /><Relationship Type="http://schemas.openxmlformats.org/officeDocument/2006/relationships/notesSlide" Target="/ppt/notesSlides/notesSlide26.xml" Id="Rd973d4b65a4945d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734416cb84c99" /><Relationship Type="http://schemas.openxmlformats.org/officeDocument/2006/relationships/notesSlide" Target="/ppt/notesSlides/notesSlide27.xml" Id="R15849a4cc78341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c74d4755042b6" /><Relationship Type="http://schemas.openxmlformats.org/officeDocument/2006/relationships/notesSlide" Target="/ppt/notesSlides/notesSlide28.xml" Id="R7b8672210126424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7e326fa0544cd" /><Relationship Type="http://schemas.openxmlformats.org/officeDocument/2006/relationships/notesSlide" Target="/ppt/notesSlides/notesSlide29.xml" Id="R2c8464c0255f43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6f1a4172a41cc" /><Relationship Type="http://schemas.openxmlformats.org/officeDocument/2006/relationships/notesSlide" Target="/ppt/notesSlides/notesSlide30.xml" Id="Rf36a165b7c3745a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7e1da312b48b3" /><Relationship Type="http://schemas.openxmlformats.org/officeDocument/2006/relationships/notesSlide" Target="/ppt/notesSlides/notesSlide31.xml" Id="R6fc002ba10a14e5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2c3224d044c0c" /><Relationship Type="http://schemas.openxmlformats.org/officeDocument/2006/relationships/notesSlide" Target="/ppt/notesSlides/notesSlide32.xml" Id="R03688ecd46d14de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31ff1f7d84766" /><Relationship Type="http://schemas.openxmlformats.org/officeDocument/2006/relationships/notesSlide" Target="/ppt/notesSlides/notesSlide33.xml" Id="Raddc5e6c0bd4432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6065e61414186" /><Relationship Type="http://schemas.openxmlformats.org/officeDocument/2006/relationships/notesSlide" Target="/ppt/notesSlides/notesSlide34.xml" Id="Ra8426d2384364d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5DF3-D13A-419E-97D1-696D40A8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342A3-A7F2-4674-98DC-1EBFFE4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Angular · Day Two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25E96-67D7-479B-9EBB-A61A00E5D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d0720a6cb4b83"/>
          <a:stretch xmlns:a="http://schemas.openxmlformats.org/drawingml/2006/main"/>
        </p:blipFill>
        <p:spPr>
          <a:xfrm xmlns:a="http://schemas.openxmlformats.org/drawingml/2006/main">
            <a:off x="6477000" y="200025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F5068-DE6F-48CF-975A-BDB86045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Inputs, reusable components and template control flow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Subha Prasad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 October 2026 · 10:00–11:00 AM 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161D8-C431-44C2-A233-9AE555C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0946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2359-B515-4EDF-BE4D-3279090F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0FD1-2501-4553-8272-34E151EE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Today’s learning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B254-7018-413B-9C81-A04FFCD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Trace parent and child inputs.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Compose reusable wrappers.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Render conditions, lists and empty states.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Format prices and stock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656D2-8905-4072-9EDB-C4101DA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436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6D8BB-634E-417B-AD20-D1F6A18A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191DE-2B55-400D-8416-B84C0737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Day 2 topic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B8FBD-6CA3-4927-97CE-697737D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01  Components and modules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02  Inputs, types, defaults and immutability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03  ng-content and composition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04  @if, @for, track and pipes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05  Product Catalog experiments and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62495-F70D-4F21-8747-BB779AA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8954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54798-D866-47B4-9B04-240BC61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8D7CE-5B7B-4847-9753-7FCBDD64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Day 1 in one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8757-EB2D-45AB-96AC-121C469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component receives a product.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template displays its fields.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Today we trace and vary those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19771-BAAB-4078-B292-FBCE1C6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435C4-9D94-429D-BCEB-6BE30146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C9A4B-5985-4556-80DC-09B611F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110CA-8FEE-4FCC-BE6C-BCEB0C2B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readonly product = input.required&lt;Product&gt;();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&lt;h3&gt;{{ product().name }}&lt;/h3&gt;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3A7EC-3611-4FE6-BEBF-76B50A2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Notebook is data supplied by the parent</a:t>
            </a:r>
          </a:p>
        </p:txBody>
      </p:sp>
    </p:spTree>
    <p:extLst>
      <p:ext uri="{BB962C8B-B14F-4D97-AF65-F5344CB8AC3E}">
        <p14:creationId xmlns:p14="http://schemas.microsoft.com/office/powerpoint/2010/main" val="297570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9EF56-C100-4CB6-8E1B-AE748E0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C086B-EAAE-4892-96B0-D44AF3BB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component has a clear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F19E9-4F1B-46E5-9735-DA49108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PageHeader displays the session details.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ProductList repeats the cards.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ProductCard displays a product.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StockBadge displays stock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E7ED0-9206-4350-AFBA-D077AE5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72C25-7686-445A-8F8C-F92C895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1FE80-71B1-47DA-9C92-1309BDA2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26AA2-98D4-4960-99B3-695C1F5F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App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PageHeader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ProductSummary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Section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ProductList / ProductCard / StockBadge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47479-8CF0-4B68-B5A3-68C4FBBA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One component handles one clear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564781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F1910-4B6D-4156-B098-FEBCEA6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89963-B76F-4CFF-96A1-BF4CC59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Component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798B9-3C29-463E-A7E8-A1EE659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Move a repeated template into a component.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Import it in the parent TypeScript file.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Add it to standalone imports.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D2ED8-A065-4126-B1AC-0B4C242C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import { StockBadgeComponent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from "./stock-badge.component";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@Component({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imports: [StockBadgeComponent],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// other metadata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EB337-D985-4DA4-9B9A-415AC13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parent can use app-stock-badge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A5B32-87A0-4DEC-A105-CAF51697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485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D285-8DFC-45AB-97A4-916D239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D54DE-4922-4AA3-8ACE-E76D7BE3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Default and named imports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231C6-F917-436C-BC61-25CA5092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Named exports use braces in imports.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Default exports use a chosen import name.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Angular components here use named exports.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26CF6-B69C-4611-AC7C-B9CFEAAF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class ProductCardComponent {}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import { ProductCardComponent } from "./card";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JavaScript default export example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default function getLabel() {}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86EAC-8E65-41E2-AB93-BA4959E0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Import syntax follows the export kind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B4E58-ADE0-46B6-8B5B-42365930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6325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02E84-4724-4929-9D6B-0D6409F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9E5FF-1A47-430A-A6A5-18F07E1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Inputs are component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3AD51-FB15-4713-B7E3-2AAB46CF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parent supplies named input values.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Square brackets evaluate an expression.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child reads its input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9FDC-ED82-417A-8B6B-8198BA3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&lt;app-product-card [product]="product" /&gt;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readonly product = input.required&lt;Product&gt;();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8D979-E2DB-4F6E-8CE5-4AAFF8A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complete object reaches the child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CB27F-BA14-419F-9693-6C2D23A6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324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B2C02-1904-4C64-A42E-AB044865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B84A-9F63-454C-B58C-1664E42F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Reading fields from an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00082-E942-47E9-8387-E22BCC0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Call the signal to get its value.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Read object properties from that value.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Destructuring still works in TypeScript.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07E32-30A5-4068-A3CD-53502425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{ name } = this.product();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Template reads the current input.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&lt;h3&gt;{{ product().name }}&lt;/h3&gt;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E6E49-A873-4235-92B6-95D7FAA8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current product supplies the displayed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4BC57-CAD2-40DE-93BE-3F59787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3203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33E6C-60CB-480D-B900-B067547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A6E81-1A2E-45A1-8386-BCA4D22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Passing different value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CE18A-64BA-47A9-9F76-415E65F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Inputs can accept strings or objects.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property binding for real booleans.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Literal text attributes supply strings.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E4F9F-08C4-402D-817C-2793F4D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&lt;app-product-list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[products]="products"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[showCategory]="false"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3945B-FB28-4431-B1D3-6AC12228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false is a boolean when evaluated in brackets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348A6-2E3A-4DD2-A07C-4571FC4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206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70EC7-D4D2-4889-B02F-8731D264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09BC3-4065-4DF1-A411-0CF3E8A3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Default and required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E5330-8974-493B-B6DB-6F47985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input(true) supplies a default.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input.required&lt;Product&gt;() requires a value.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Omitted and explicitly supplied values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B9D29-B8FC-46CC-AEA6-D9C74130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readonly showCategory = input(true);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readonly product = input.required&lt;Product&gt;();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F14A7-BB9B-4663-A520-1CEB55A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Omitting showCategory keeps categories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3BB42-A051-4A8B-8847-2394050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6560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5643F-0EDC-4DEB-8E2F-ED184EF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07E77-CA8D-43FF-BBEB-A377890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Inputs are read-only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323DD-19C9-4294-9818-50A84104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InputSignal cannot be set by the child.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Avoid mutating the supplied product object.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Request parent changes with outputs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E0D84-0366-4874-8D3D-A97C68E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Read the supplied value.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ready = this.product().inStock;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Do not assign to input object fields.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C2C45-1A7A-4AD1-A5DD-EA9A4CF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parent owns the source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133E6-31F1-484C-A8B7-65FB7C7B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157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ED08-6711-47F5-8AA0-E8B537C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08BD1-FABA-48D7-9132-E71AEC8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Nested content with ng-content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2A70A-4725-4226-B548-FBBACA1A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parent writes nested markup.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wrapper projects it at ng-content.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This is Angular’s content projection.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47D34-1091-43AC-868B-A1DE200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&lt;app-section title="Learning notes"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headingId="notes-heading"&gt;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&lt;p&gt;Our stock rules&lt;/p&gt;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&lt;/app-section&gt;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Wrapper template includes &lt;ng-content /&gt;.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D38E-B188-41E0-B671-F50DE41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paragraph appears inside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9155A-B52C-48F8-A5EF-FC0D3605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4600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CA9D0-6601-40FC-91A4-F4A03355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58E6A-8ACE-4035-A020-508F040F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same wrapper, different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A1849-80C1-4160-B325-0617730F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Reuse Section for the catalog and notes.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Give each heading a unique ID.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title is an input.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71A68-CD96-4E57-857F-6A4F7F9D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&lt;section [attr.aria-labelledby]="headingId()"&gt;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&lt;h2 [id]="headingId()"&gt;{{ title() }}&lt;/h2&gt;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&lt;ng-content /&gt;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&lt;/section&gt;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63708-CCB3-44DB-94E0-930ED8C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One wrapper displays different nested templates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3BC92-C2B5-4091-BF4C-A566759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9236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8C591-2857-4BA0-AC4A-A1346496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F67D9-2CED-436A-BF8B-60858EA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condition chooses another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7B5F8-136A-48E3-A0A0-E81D08D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@if creates a branch of markup.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@else provides the alternative.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@empty handles a zero-item @for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686C4-537C-4DF7-A520-796E7EB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@if (products().length === 0)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&lt;p&gt;No products match your filters.&lt;/p&gt;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 @else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&lt;p&gt;Products are available.&lt;/p&gt;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98D14-7F41-4FB2-A932-D035106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An empty list gets an explicit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DE250-25D4-4821-9D33-BAD9CA8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121386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B5E12-EBB7-4981-8E95-69B33A8C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13E26-E927-4449-8967-77A8881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ternary selects a displayed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80799-DD83-4785-A547-617DE456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? and : inside an expression.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boolean determines the stock label.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B7888-6FF0-4771-A484-3F57C608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{{ inStock() ? "In stock"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: "Out of stock" }}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52D19-8D37-4473-962F-46AFC7C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Notebook selects In 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340A1-64B3-48F4-9005-44AF101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5238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D0F7C-D528-48D5-ABF7-6CB39E5B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9ED03-6C51-4310-9596-FF804DC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Optional content with @if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3982-6186-4E97-8138-228B439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showCategory controls one paragraph.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Keep the price outside the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A87E-D00C-46B1-86DE-C8CD61F5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@if (showCategory())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&lt;p&gt;Category: {{ product().category }}&lt;/p&gt;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&lt;p&gt;{{ product().price }}&lt;/p&gt;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474C8-57F1-4FFF-8AE2-CDD655F1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Hiding categories keeps prices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8E0FC-CDCB-4247-994F-3BF576D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734790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A08D8-9A95-4742-BFF7-61AD85AC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07686-15EC-4231-AE86-E8A35E9C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Zero in a template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229B8-BFD4-4349-9257-DAAC9D7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@if evaluates whether a condition is truthy.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a comparison to make intent clear.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Angular block does not render numeric zero.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31376-0173-4BE5-A21E-E3AAEDBA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@if (products().length &gt; 0)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&lt;p&gt;Products are available.&lt;/p&gt;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F1E16-0840-4BDB-9038-799E5E05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Zero means the block is absent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BDEFE-7F61-4F36-B4C9-C1192E6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4114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8783F-D8B7-4D29-A17B-00C5629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F38BA-D295-4245-9326-E3CDAA4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One template per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5F14-9FE1-4B8F-B58F-4391583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@for repeats markup for every product.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@empty supplies the fallback.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map remains useful for data transformations.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F199-350B-4CFC-8B84-1801B6F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@for (product of products(); track product.id) 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&lt;app-product-card [product]="product" /&gt;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 @empty 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&lt;p&gt;No products match your filters.&lt;/p&gt;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921C8-2EFE-45E0-B0A0-FCD2051C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Four products produce four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01AC7-812A-4918-9BAA-856F009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6089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02A38-F794-47A6-A5C8-A528226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1CD5B-ED7B-4013-9021-E21161C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track follows the item’s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0E5D5-E9A4-4AFF-BEFA-6153030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stable ID connects data with its view.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Reordering keeps identity with the product.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unique IDs across the repeated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FAD76-8632-4A8B-9751-BE8B34C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FF046-D10A-49F9-BCBE-13FC7E6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552AC-8B9D-4331-A4A1-7712CD2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C038B-B961-474A-8819-E41D05A7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@for (product of products(); track product.id) {</a:t>
            </a:r>
          </a:p>
          <a:p xmlns:a="http://schemas.openxmlformats.org/drawingml/2006/main">
            <a:pPr algn="l"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&lt;app-product-card [product]="product" /&gt;</a:t>
            </a:r>
          </a:p>
          <a:p xmlns:a="http://schemas.openxmlformats.org/drawingml/2006/main">
            <a:pPr algn="l"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0383E-4B0B-4A02-8338-E557634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P-101 always identifies Notebook</a:t>
            </a:r>
          </a:p>
        </p:txBody>
      </p:sp>
    </p:spTree>
    <p:extLst>
      <p:ext uri="{BB962C8B-B14F-4D97-AF65-F5344CB8AC3E}">
        <p14:creationId xmlns:p14="http://schemas.microsoft.com/office/powerpoint/2010/main" val="3522559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9156A-EE3F-4B95-AF39-BB85565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7B319-3EC8-4981-837F-E71BCE1E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Tracking metadata and normal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CAC1-8436-4612-8ED2-364C754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track belongs to the @for block.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It is not forwarded to the child.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Pass the ID explicitly if a child needs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353C5-1E63-4B5A-8A0E-2C0D24B8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@for (product of products(); track product.id) 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&lt;app-product-card [product]="product" /&gt;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372FD-BE14-47A1-BB21-D909954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ID is available through product().id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49D33-0C9E-440F-A260-21699475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61572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A2DEE-FAC9-4E83-BF95-FA1A7F38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F2595-855A-4888-9726-F766589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Filtering before rendering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95FA6-A587-4FAE-BC30-E992AEE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App selects the list before passing it down.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summary still uses the full dataset.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Today the selection changes in source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400FA-322B-44AD-8737-9E3D859B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7A647-8768-4204-B0E9-B670D38E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2FDE8-F4AA-4A24-8B59-2B1E31A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12447-DA95-423A-8B90-13538099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get visibleProducts() {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this.selectedStock === "In stock"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? this.products.filter(p =&gt; p.inStock)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: this.products;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1268D-1959-4D1C-B23C-EDE54760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In stock gives 2 cards, summary stays 4/2/2</a:t>
            </a:r>
          </a:p>
        </p:txBody>
      </p:sp>
    </p:spTree>
    <p:extLst>
      <p:ext uri="{BB962C8B-B14F-4D97-AF65-F5344CB8AC3E}">
        <p14:creationId xmlns:p14="http://schemas.microsoft.com/office/powerpoint/2010/main" val="4214156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B812-67D1-45F3-B3EB-F0A4476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3660D-0993-4878-84E5-CF0E33E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Styling and price formatting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16A95-5C1E-4255-B392-4F1D47A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Class bindings express stock styles.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Text also states the meaning.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CurrencyPipe formats INR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A472C-D522-44B2-B1A5-5FF30076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&lt;span [class.in-stock]="inStock()"&gt;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{{ inStock() ? "In stock" : "Out of stock" }}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&lt;/span&gt;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{{ price | currency:"INR":"symbol":"1.0-0" }}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71CA-477B-4657-828F-3A953B39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price displays as ₹80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9D854-7503-4657-9F7A-76A29B2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027634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5BBBF-AE34-4F54-BABF-B66A3834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HANDS-ON ·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40004-0D30-4BC1-A0EE-4D52635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Our composed Product Catalog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911B0-7AFF-4D81-9519-1973CF3EF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13c3e028f44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29250" y="3426512"/>
            <a:ext cx="6191250" cy="138610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20A99-1D36-49AA-94E6-4F58340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4291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products use reusable cards.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summary shows total and stock counts.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projects the list and notes.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Inputs select the displayed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A2F74-AF31-4A60-A5A7-44620A01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30538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290A5-A802-4E3B-B6F4-7579301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HANDS-ON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D854-081E-430F-B021-095AC41E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Tracing parent and child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2B246-09B5-450D-A690-F8B3425C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App passes products to ProductList.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ProductList passes one product to ProductCard.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ProductCard passes inStock to StockBadge.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showCategory travels through the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5F727-0BCC-4817-B56B-DA175B9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A30F0-AD7E-4821-9026-603875A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B4860-FBFE-404E-9C14-2E746FD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596071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10BAD-D10D-40B0-9A76-583CB05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HANDS-ON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C77B9-AEFD-4AD8-84B8-F4396A9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Changing component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DD210-84F5-45A8-AAB8-B365C82B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Set selectedStock to In stock.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Set showCategory to false.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Pass an empty list to ProductList.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Restore the prepared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0641B-F8F2-4C32-A644-7F139175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87DDD-8254-4CD0-95CC-731D19C1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15B07-F5BA-41AD-AE88-86DCF9D2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177206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B4A46-48F3-4EA6-99D7-C85C7AB2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YOUR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35481-FB27-4CC4-8AEE-22D49B0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brand on every 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4BE56-B8D6-4128-9AAD-19FF9AED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Add brand to the product objects.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Add showBrand = input(true) to the card.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Forward it from ProductList.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Show the brand with @if.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F3749-33F9-474A-8091-ED76112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50BA9-D418-4B01-AA96-5C85350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AAA13-FDC8-430C-A69D-B4C2071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89C73-3E16-4AAA-A04F-6056B79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readonly showBrand = input(true);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@if (showBrand() &amp;&amp; product().brand) {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&lt;p&gt;{{ product().brand }}&lt;/p&gt;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189FB-D17E-4A75-8AA9-9E77F48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 parent can show or hide all brand paragraphs</a:t>
            </a:r>
          </a:p>
        </p:txBody>
      </p:sp>
    </p:spTree>
    <p:extLst>
      <p:ext uri="{BB962C8B-B14F-4D97-AF65-F5344CB8AC3E}">
        <p14:creationId xmlns:p14="http://schemas.microsoft.com/office/powerpoint/2010/main" val="8362166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D695-4211-45A9-89CC-B8DD40D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QUIZ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D0D22-B800-4749-91A2-A977DD5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Day 2 knowledge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AA501-0592-469E-9BC3-B33F5DC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1  How does a child receive data?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2  Can it set an InputSignal?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3  Which placeholder projects nested content?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4  What does track identify?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5  Does @if insert zero as text?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2B4C9-EB36-44CA-894B-ACA052A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F92B2-48EE-49A4-B3F1-DC67818F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8B6C2-5A1B-4DD6-9EAC-83578543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01312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795CA-0429-4729-9979-D09C691A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BA0F8-D2D6-4C9E-95B2-312CF68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Components describe UI from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9C2CD-2DB1-43E2-98B4-35585FE4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parent supplies values.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Children display those values.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Projection reuses wrappers.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Control flow selects the visible template.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5F717-7DEA-4822-9923-B3435BD1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293447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TRY AT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Practice and learning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Try at home: add a showBrand toggle in source.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Reorder products while keeping their IDs.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Explain empty and optional content.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Read Angular inputs, projection and control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Directives and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component owns a template.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attribute directive changes host behavior.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Built-in bindings handle many simple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C0327-30A7-4665-B266-552D6AEE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 [class.in-stock]="ready"&gt;In stock&lt;/p&gt;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Angular also supports reusable directives.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9A583-8AEC-49E7-BA51-5A16B49B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Choose the simplest tool for the behavior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Pipes and pure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Pipes format values for display.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CurrencyPipe and DatePipe are built-in.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custom pure pipe transforms an input.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1568F-0116-4B51-BC95-C273A9D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{{ price | currency:"INR" }}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{{ sessionDate | date:"longDate" }}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C3AA9-5783-4A56-85A5-9BEA306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Formatting does not change stored data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Decorator inputs and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Older applications use @Input and @Output.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Modern code can use input and output.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Both support parent/child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D6483-8D92-433D-9B52-D4990048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@Input() showCategory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Modern project form:</a:t>
            </a:r>
          </a:p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readonly showCategory = input(true);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44857-C14F-4DCB-9ADE-6C6134C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Recognize both styles without mixing examples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REFERENCE · 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Lifecycle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Angular creates and checks component instances.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ngOnInit runs after initial inputs.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ngOnChanges reacts to input changes.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DestroyRef supports cleanup.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12385-FBDE-476B-AAC2-3C7C5229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ngOnInit() { /* initial setup */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2092B-A2A0-487E-97B1-F327EB5A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Lifecycle belongs to the component instance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2026-10-11T18:10:15.5720000Z</dcterms:created>
  <dcterms:modified xsi:type="dcterms:W3CDTF">2026-10-11T18:10:15.5730000Z</dcterms:modified>
</coreProperties>
</file>