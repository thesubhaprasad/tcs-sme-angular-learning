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849256acc143bc" /><Relationship Type="http://schemas.openxmlformats.org/officeDocument/2006/relationships/extended-properties" Target="/docProps/app.xml" Id="R1ef10ae13c0c4b5a" /><Relationship Type="http://schemas.openxmlformats.org/officeDocument/2006/relationships/officeDocument" Target="/ppt/presentation.xml" Id="R2f7f907e140648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19355dac6547b6"/>
  </p:sldMasterIdLst>
  <p:notesMasterIdLst>
    <p:notesMasterId xmlns:r="http://schemas.openxmlformats.org/officeDocument/2006/relationships" r:id="Rad78bfd5ed1640f7"/>
  </p:notesMasterIdLst>
  <p:sldIdLst>
    <p:sldId xmlns:r="http://schemas.openxmlformats.org/officeDocument/2006/relationships" id="256" r:id="R97606f0d23dd4923"/>
    <p:sldId xmlns:r="http://schemas.openxmlformats.org/officeDocument/2006/relationships" id="257" r:id="Rb5a71dbb7b844110"/>
    <p:sldId xmlns:r="http://schemas.openxmlformats.org/officeDocument/2006/relationships" id="258" r:id="Ra44c8bae5ec34b41"/>
    <p:sldId xmlns:r="http://schemas.openxmlformats.org/officeDocument/2006/relationships" id="259" r:id="R4d943e24ad0644c3"/>
    <p:sldId xmlns:r="http://schemas.openxmlformats.org/officeDocument/2006/relationships" id="260" r:id="R6caad5613a244a72"/>
    <p:sldId xmlns:r="http://schemas.openxmlformats.org/officeDocument/2006/relationships" id="261" r:id="Rf977669420e24cb2"/>
    <p:sldId xmlns:r="http://schemas.openxmlformats.org/officeDocument/2006/relationships" id="262" r:id="R4ad1f1a6ce694c00"/>
    <p:sldId xmlns:r="http://schemas.openxmlformats.org/officeDocument/2006/relationships" id="263" r:id="R7481437ca92d4ff6"/>
    <p:sldId xmlns:r="http://schemas.openxmlformats.org/officeDocument/2006/relationships" id="264" r:id="R0b95ea8b86d54d03"/>
    <p:sldId xmlns:r="http://schemas.openxmlformats.org/officeDocument/2006/relationships" id="265" r:id="Rf7a0471a2d154bdd"/>
    <p:sldId xmlns:r="http://schemas.openxmlformats.org/officeDocument/2006/relationships" id="266" r:id="R775c14cbefad4303"/>
    <p:sldId xmlns:r="http://schemas.openxmlformats.org/officeDocument/2006/relationships" id="267" r:id="R9e2e24881c2242bb"/>
    <p:sldId xmlns:r="http://schemas.openxmlformats.org/officeDocument/2006/relationships" id="268" r:id="R2bd0ace60b4943b2"/>
    <p:sldId xmlns:r="http://schemas.openxmlformats.org/officeDocument/2006/relationships" id="269" r:id="R5faeaeac0bc5419d"/>
    <p:sldId xmlns:r="http://schemas.openxmlformats.org/officeDocument/2006/relationships" id="270" r:id="Rdf5cbb305fc24c3a"/>
    <p:sldId xmlns:r="http://schemas.openxmlformats.org/officeDocument/2006/relationships" id="271" r:id="R1af89846297043e1"/>
    <p:sldId xmlns:r="http://schemas.openxmlformats.org/officeDocument/2006/relationships" id="272" r:id="R6cfd731e5f594812"/>
    <p:sldId xmlns:r="http://schemas.openxmlformats.org/officeDocument/2006/relationships" id="273" r:id="R6f2bc9c0f5214b79"/>
    <p:sldId xmlns:r="http://schemas.openxmlformats.org/officeDocument/2006/relationships" id="274" r:id="Rbec010fdee794aaf"/>
    <p:sldId xmlns:r="http://schemas.openxmlformats.org/officeDocument/2006/relationships" id="275" r:id="R0a24ec2c40204068"/>
    <p:sldId xmlns:r="http://schemas.openxmlformats.org/officeDocument/2006/relationships" id="276" r:id="Re02b11946984444e"/>
    <p:sldId xmlns:r="http://schemas.openxmlformats.org/officeDocument/2006/relationships" id="277" r:id="R1f842d17749c4d3f"/>
    <p:sldId xmlns:r="http://schemas.openxmlformats.org/officeDocument/2006/relationships" id="278" r:id="R9dfdf6fc6990414a"/>
    <p:sldId xmlns:r="http://schemas.openxmlformats.org/officeDocument/2006/relationships" id="279" r:id="R74cbfcd15ba941f2"/>
    <p:sldId xmlns:r="http://schemas.openxmlformats.org/officeDocument/2006/relationships" id="280" r:id="R178a3c7e72e34c21"/>
    <p:sldId xmlns:r="http://schemas.openxmlformats.org/officeDocument/2006/relationships" id="281" r:id="Rddc68ebd9e0b4f24"/>
    <p:sldId xmlns:r="http://schemas.openxmlformats.org/officeDocument/2006/relationships" id="282" r:id="R643bc9f55ff14a11"/>
    <p:sldId xmlns:r="http://schemas.openxmlformats.org/officeDocument/2006/relationships" id="283" r:id="R108bf184ae2949fb"/>
    <p:sldId xmlns:r="http://schemas.openxmlformats.org/officeDocument/2006/relationships" id="284" r:id="Rd14c4177287241bb"/>
    <p:sldId xmlns:r="http://schemas.openxmlformats.org/officeDocument/2006/relationships" id="285" r:id="R8485c89af87f40a5"/>
    <p:sldId xmlns:r="http://schemas.openxmlformats.org/officeDocument/2006/relationships" id="286" r:id="R6aecec6f946f4398"/>
    <p:sldId xmlns:r="http://schemas.openxmlformats.org/officeDocument/2006/relationships" id="287" r:id="R4bf86650c0d9445f"/>
    <p:sldId xmlns:r="http://schemas.openxmlformats.org/officeDocument/2006/relationships" id="288" r:id="R454a002a9ba84f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fc4c2fe4ce41be" /><Relationship Type="http://schemas.openxmlformats.org/officeDocument/2006/relationships/slideMaster" Target="/ppt/slideMasters/slideMaster1.xml" Id="R5219355dac6547b6" /><Relationship Type="http://schemas.openxmlformats.org/officeDocument/2006/relationships/notesMaster" Target="/ppt/notesMasters/notesMaster1.xml" Id="Rad78bfd5ed1640f7" /><Relationship Type="http://schemas.openxmlformats.org/officeDocument/2006/relationships/presProps" Target="/ppt/presProps.xml" Id="R014d347f685c4dba" /><Relationship Type="http://schemas.openxmlformats.org/officeDocument/2006/relationships/tableStyles" Target="/ppt/tableStyles.xml" Id="Rf85877adec0045ff" /><Relationship Type="http://schemas.openxmlformats.org/officeDocument/2006/relationships/slide" Target="/ppt/slides/slide1.xml" Id="R97606f0d23dd4923" /><Relationship Type="http://schemas.openxmlformats.org/officeDocument/2006/relationships/slide" Target="/ppt/slides/slide2.xml" Id="Rb5a71dbb7b844110" /><Relationship Type="http://schemas.openxmlformats.org/officeDocument/2006/relationships/slide" Target="/ppt/slides/slide3.xml" Id="Ra44c8bae5ec34b41" /><Relationship Type="http://schemas.openxmlformats.org/officeDocument/2006/relationships/slide" Target="/ppt/slides/slide4.xml" Id="R4d943e24ad0644c3" /><Relationship Type="http://schemas.openxmlformats.org/officeDocument/2006/relationships/slide" Target="/ppt/slides/slide5.xml" Id="R6caad5613a244a72" /><Relationship Type="http://schemas.openxmlformats.org/officeDocument/2006/relationships/slide" Target="/ppt/slides/slide6.xml" Id="Rf977669420e24cb2" /><Relationship Type="http://schemas.openxmlformats.org/officeDocument/2006/relationships/slide" Target="/ppt/slides/slide7.xml" Id="R4ad1f1a6ce694c00" /><Relationship Type="http://schemas.openxmlformats.org/officeDocument/2006/relationships/slide" Target="/ppt/slides/slide8.xml" Id="R7481437ca92d4ff6" /><Relationship Type="http://schemas.openxmlformats.org/officeDocument/2006/relationships/slide" Target="/ppt/slides/slide9.xml" Id="R0b95ea8b86d54d03" /><Relationship Type="http://schemas.openxmlformats.org/officeDocument/2006/relationships/slide" Target="/ppt/slides/slide10.xml" Id="Rf7a0471a2d154bdd" /><Relationship Type="http://schemas.openxmlformats.org/officeDocument/2006/relationships/slide" Target="/ppt/slides/slide11.xml" Id="R775c14cbefad4303" /><Relationship Type="http://schemas.openxmlformats.org/officeDocument/2006/relationships/slide" Target="/ppt/slides/slide12.xml" Id="R9e2e24881c2242bb" /><Relationship Type="http://schemas.openxmlformats.org/officeDocument/2006/relationships/slide" Target="/ppt/slides/slide13.xml" Id="R2bd0ace60b4943b2" /><Relationship Type="http://schemas.openxmlformats.org/officeDocument/2006/relationships/slide" Target="/ppt/slides/slide14.xml" Id="R5faeaeac0bc5419d" /><Relationship Type="http://schemas.openxmlformats.org/officeDocument/2006/relationships/slide" Target="/ppt/slides/slide15.xml" Id="Rdf5cbb305fc24c3a" /><Relationship Type="http://schemas.openxmlformats.org/officeDocument/2006/relationships/slide" Target="/ppt/slides/slide16.xml" Id="R1af89846297043e1" /><Relationship Type="http://schemas.openxmlformats.org/officeDocument/2006/relationships/slide" Target="/ppt/slides/slide17.xml" Id="R6cfd731e5f594812" /><Relationship Type="http://schemas.openxmlformats.org/officeDocument/2006/relationships/slide" Target="/ppt/slides/slide18.xml" Id="R6f2bc9c0f5214b79" /><Relationship Type="http://schemas.openxmlformats.org/officeDocument/2006/relationships/slide" Target="/ppt/slides/slide19.xml" Id="Rbec010fdee794aaf" /><Relationship Type="http://schemas.openxmlformats.org/officeDocument/2006/relationships/slide" Target="/ppt/slides/slide20.xml" Id="R0a24ec2c40204068" /><Relationship Type="http://schemas.openxmlformats.org/officeDocument/2006/relationships/slide" Target="/ppt/slides/slide21.xml" Id="Re02b11946984444e" /><Relationship Type="http://schemas.openxmlformats.org/officeDocument/2006/relationships/slide" Target="/ppt/slides/slide22.xml" Id="R1f842d17749c4d3f" /><Relationship Type="http://schemas.openxmlformats.org/officeDocument/2006/relationships/slide" Target="/ppt/slides/slide23.xml" Id="R9dfdf6fc6990414a" /><Relationship Type="http://schemas.openxmlformats.org/officeDocument/2006/relationships/slide" Target="/ppt/slides/slide24.xml" Id="R74cbfcd15ba941f2" /><Relationship Type="http://schemas.openxmlformats.org/officeDocument/2006/relationships/slide" Target="/ppt/slides/slide25.xml" Id="R178a3c7e72e34c21" /><Relationship Type="http://schemas.openxmlformats.org/officeDocument/2006/relationships/slide" Target="/ppt/slides/slide26.xml" Id="Rddc68ebd9e0b4f24" /><Relationship Type="http://schemas.openxmlformats.org/officeDocument/2006/relationships/slide" Target="/ppt/slides/slide27.xml" Id="R643bc9f55ff14a11" /><Relationship Type="http://schemas.openxmlformats.org/officeDocument/2006/relationships/slide" Target="/ppt/slides/slide28.xml" Id="R108bf184ae2949fb" /><Relationship Type="http://schemas.openxmlformats.org/officeDocument/2006/relationships/slide" Target="/ppt/slides/slide29.xml" Id="Rd14c4177287241bb" /><Relationship Type="http://schemas.openxmlformats.org/officeDocument/2006/relationships/slide" Target="/ppt/slides/slide30.xml" Id="R8485c89af87f40a5" /><Relationship Type="http://schemas.openxmlformats.org/officeDocument/2006/relationships/slide" Target="/ppt/slides/slide31.xml" Id="R6aecec6f946f4398" /><Relationship Type="http://schemas.openxmlformats.org/officeDocument/2006/relationships/slide" Target="/ppt/slides/slide32.xml" Id="R4bf86650c0d9445f" /><Relationship Type="http://schemas.openxmlformats.org/officeDocument/2006/relationships/slide" Target="/ppt/slides/slide33.xml" Id="R454a002a9ba8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7fe6d406234d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16352c144c4533" /><Relationship Type="http://schemas.openxmlformats.org/officeDocument/2006/relationships/notesMaster" Target="/ppt/notesMasters/notesMaster1.xml" Id="R985beacf62a64d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3bafad7bc4427b" /><Relationship Type="http://schemas.openxmlformats.org/officeDocument/2006/relationships/notesMaster" Target="/ppt/notesMasters/notesMaster1.xml" Id="Rffa93a25fc3b43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7c93878134ac9" /><Relationship Type="http://schemas.openxmlformats.org/officeDocument/2006/relationships/notesMaster" Target="/ppt/notesMasters/notesMaster1.xml" Id="Ra250755053f7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60012f9a1947d9" /><Relationship Type="http://schemas.openxmlformats.org/officeDocument/2006/relationships/notesMaster" Target="/ppt/notesMasters/notesMaster1.xml" Id="R7bae3b5a8ca344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72b7a3e9d34b6a" /><Relationship Type="http://schemas.openxmlformats.org/officeDocument/2006/relationships/notesMaster" Target="/ppt/notesMasters/notesMaster1.xml" Id="Rbb6c3d1fdb7548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74f2c940b64614" /><Relationship Type="http://schemas.openxmlformats.org/officeDocument/2006/relationships/notesMaster" Target="/ppt/notesMasters/notesMaster1.xml" Id="Rc20869f56928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9de49703de4477" /><Relationship Type="http://schemas.openxmlformats.org/officeDocument/2006/relationships/notesMaster" Target="/ppt/notesMasters/notesMaster1.xml" Id="R0888801b20ae43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e47174954e4b9d" /><Relationship Type="http://schemas.openxmlformats.org/officeDocument/2006/relationships/notesMaster" Target="/ppt/notesMasters/notesMaster1.xml" Id="R35815ab3a34546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a2cf74394a44fb" /><Relationship Type="http://schemas.openxmlformats.org/officeDocument/2006/relationships/notesMaster" Target="/ppt/notesMasters/notesMaster1.xml" Id="Rb59521b5dd5c45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591d45d4374cea" /><Relationship Type="http://schemas.openxmlformats.org/officeDocument/2006/relationships/notesMaster" Target="/ppt/notesMasters/notesMaster1.xml" Id="R1bad13a146db4e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0f4107cd044cfb" /><Relationship Type="http://schemas.openxmlformats.org/officeDocument/2006/relationships/notesMaster" Target="/ppt/notesMasters/notesMaster1.xml" Id="Re94500e453604e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e051c6c0c04c33" /><Relationship Type="http://schemas.openxmlformats.org/officeDocument/2006/relationships/notesMaster" Target="/ppt/notesMasters/notesMaster1.xml" Id="Rbbcbd4ab0d4d41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bb0f18c4f54b7e" /><Relationship Type="http://schemas.openxmlformats.org/officeDocument/2006/relationships/notesMaster" Target="/ppt/notesMasters/notesMaster1.xml" Id="Rf386078af46340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4c4c497c6a41c1" /><Relationship Type="http://schemas.openxmlformats.org/officeDocument/2006/relationships/notesMaster" Target="/ppt/notesMasters/notesMaster1.xml" Id="R464f4a9b58a14d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8268d8ac28490b" /><Relationship Type="http://schemas.openxmlformats.org/officeDocument/2006/relationships/notesMaster" Target="/ppt/notesMasters/notesMaster1.xml" Id="R815c6204f05846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0e7ea7db9542ca" /><Relationship Type="http://schemas.openxmlformats.org/officeDocument/2006/relationships/notesMaster" Target="/ppt/notesMasters/notesMaster1.xml" Id="Rc91631f9ef244a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a755ad0a1f42af" /><Relationship Type="http://schemas.openxmlformats.org/officeDocument/2006/relationships/notesMaster" Target="/ppt/notesMasters/notesMaster1.xml" Id="R99d21c2070c84d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e1c956eba4489c" /><Relationship Type="http://schemas.openxmlformats.org/officeDocument/2006/relationships/notesMaster" Target="/ppt/notesMasters/notesMaster1.xml" Id="R5d477e53825146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2a7e81bdee4a81" /><Relationship Type="http://schemas.openxmlformats.org/officeDocument/2006/relationships/notesMaster" Target="/ppt/notesMasters/notesMaster1.xml" Id="R478bfb0e27b040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50b2a175524ba5" /><Relationship Type="http://schemas.openxmlformats.org/officeDocument/2006/relationships/notesMaster" Target="/ppt/notesMasters/notesMaster1.xml" Id="Rd6f4edbab80346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39622069364c72" /><Relationship Type="http://schemas.openxmlformats.org/officeDocument/2006/relationships/notesMaster" Target="/ppt/notesMasters/notesMaster1.xml" Id="R2923f39b674243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732b35b79fe46e7" /><Relationship Type="http://schemas.openxmlformats.org/officeDocument/2006/relationships/notesMaster" Target="/ppt/notesMasters/notesMaster1.xml" Id="R57a095d84c5540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d1f6af08389489f" /><Relationship Type="http://schemas.openxmlformats.org/officeDocument/2006/relationships/notesMaster" Target="/ppt/notesMasters/notesMaster1.xml" Id="R82212b40704345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b444402f8a4dcc" /><Relationship Type="http://schemas.openxmlformats.org/officeDocument/2006/relationships/notesMaster" Target="/ppt/notesMasters/notesMaster1.xml" Id="R208dc6ed9c3545f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7292cc9b3f40b5" /><Relationship Type="http://schemas.openxmlformats.org/officeDocument/2006/relationships/notesMaster" Target="/ppt/notesMasters/notesMaster1.xml" Id="R0eb1f1c9cab944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dc6edaa57c4c2c" /><Relationship Type="http://schemas.openxmlformats.org/officeDocument/2006/relationships/notesMaster" Target="/ppt/notesMasters/notesMaster1.xml" Id="Rfb0744bc047648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66a6f9ed3f4239" /><Relationship Type="http://schemas.openxmlformats.org/officeDocument/2006/relationships/notesMaster" Target="/ppt/notesMasters/notesMaster1.xml" Id="Rbfc663dccb7b44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bcbc5065454023" /><Relationship Type="http://schemas.openxmlformats.org/officeDocument/2006/relationships/notesMaster" Target="/ppt/notesMasters/notesMaster1.xml" Id="R6c1a1e6858524a0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79f5813a4b42bf" /><Relationship Type="http://schemas.openxmlformats.org/officeDocument/2006/relationships/notesMaster" Target="/ppt/notesMasters/notesMaster1.xml" Id="R68ca9db8df144a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3a2f12a0a0d4e9f" /><Relationship Type="http://schemas.openxmlformats.org/officeDocument/2006/relationships/notesMaster" Target="/ppt/notesMasters/notesMaster1.xml" Id="R05f6117fc66e41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67f7ff57494ba2" /><Relationship Type="http://schemas.openxmlformats.org/officeDocument/2006/relationships/notesMaster" Target="/ppt/notesMasters/notesMaster1.xml" Id="R0f35fe35e4f1491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5f80712a8e94e6c" /><Relationship Type="http://schemas.openxmlformats.org/officeDocument/2006/relationships/notesMaster" Target="/ppt/notesMasters/notesMaster1.xml" Id="R0ff08d1ad2524d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3a84ffadda4e9b" /><Relationship Type="http://schemas.openxmlformats.org/officeDocument/2006/relationships/notesMaster" Target="/ppt/notesMasters/notesMaster1.xml" Id="Re4d9d65469bb4a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Welcome learners in Microsoft Teams. Trainer: TCS Assets Consultant (C3A), SME. The Product Catalog uses fictional INR values.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Ask learners about JavaScript experience in Teams chat. Beginners can use the prepared project while learning one syntax example at a time.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The one-hour path covers slides 1–29. Reference slides follow for slower review and additional TypeScript examples. No separate schedule slide.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Connect the visible heading and colours to the browser app. Angular adds template bindings and TypeScript classes.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This metadata excerpt assumes Component imported from @angular/core. Angular is distinct from AngularJS. This series uses standalone Angular 22 components, not an NgModule scaffold.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Remove the annotations to see the same JavaScript values. TypeScript annotations do not exist at runtime.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Use const by default for local bindings. Component fields and signal state have their own roles. readonly is a TypeScript restriction, not a deep runtime freeze.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Use exactly the same product domain as React. Ask learners to locate the boolean and add an optional brand in later practice.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Find PRODUCTS in src/app/data/products.ts. Initial Day 1 data: Notebook, Pen and Bag, with two in stock.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This excerpt assumes Product and PRODUCTS imported. Definition and call are different. Without return the function returns undefined.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Explain ? and : slowly. Angular supports ternary expressions in interpolation; statements such as if belong in TypeScript or template control blocks.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Compare these with the function declaration from the previous slide. Class methods normally use method syntax rather than arrows.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Unlike JSX, Angular repeats markup with @for. map still serves plain JavaScript transformations. Run check:day-one.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Connect ready.length to the stock summary. Out-of-stock count uses !product.inStock.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Nested objects still share references in a shallow copy. Spread and array copies are used for cart state on Day 3. This syntax belongs in TypeScript files, not every Angular template expression.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Angular component imports in @Component metadata are separate from JavaScript imports. This data snippet is illustrative; the actual dataset is typed and nonempty.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Clone branch tcs-sme-angular/day-one first. Pinned Angular/CLI 22.2.2, TypeScript 6.0.3. Compatible Node: ^22.22.3, ^24.15.0 or &gt;=26. Use an organisation-approved version. Never run these commands in the root React app.</a:t>
            </a:r>
          </a:p>
          <a:p xmlns:a="http://schemas.openxmlformats.org/drawingml/2006/main">
            <a:r>
              <a:t>Source: https://angular.dev/reference/versions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Open src/index.html to find app-root. angular.json configures the CLI; tsconfig configures TypeScript and strict template checks.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Metadata is an object passed to a decorator. The actual App uses templateUrl. Standalone is explicit for learning, even though it is the modern default.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There is no JSX return or fragment requirement. Angular template expressions are a restricted expression language, not arbitrary JavaScript. Import child components in standalone metadata.</a:t>
            </a:r>
          </a:p>
          <a:p xmlns:a="http://schemas.openxmlformats.org/drawingml/2006/main">
            <a:r>
              <a:t>Source: https://angular.dev/guide/templates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Interpolation is for displayed text. Square brackets supply a value to a property. TypeScript if statements do not belong inside interpolation.</a:t>
            </a:r>
          </a:p>
          <a:p xmlns:a="http://schemas.openxmlformats.org/drawingml/2006/main">
            <a:r>
              <a:t>Source: https://angular.dev/guide/templates/binding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input is a compiler-recognized class initializer. Call product() to read it inside the child. Day 2 covers inputs, defaults and read-only data in depth.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track is control-flow metadata, not a key input. Use unique IDs; avoid index tracking for a changing list. The Angular @for loop replaces React map-to-JSX.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minute(s).</a:t>
            </a:r>
          </a:p>
          <a:p xmlns:a="http://schemas.openxmlformats.org/drawingml/2006/main">
            <a:r>
              <a:t>Share the actual Angular browser app. Initial prices Notebook80, Pen20, Bag500; stock true,false,true. The screenshot and code agree.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minute(s).</a:t>
            </a:r>
          </a:p>
          <a:p xmlns:a="http://schemas.openxmlformats.org/drawingml/2006/main">
            <a:r>
              <a:t>Use a unique ID and a comma between objects. Give learners time to find the file, edit and describe @for. Restore the prepared data before branch switching. Day 2 intentionally has Bottle out of stock.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Show a compiler message with file/line. There is no React capitalization rule for template selectors: Angular selectors are usually kebab-case and TypeScript classes use PascalCase.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 minute(s).</a:t>
            </a:r>
          </a:p>
          <a:p xmlns:a="http://schemas.openxmlformats.org/drawingml/2006/main">
            <a:r>
              <a:t>Answers: let, map, filter, interpolation {{ field }}, track product.id. Ask why a template component must appear in the parent imports.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Ask one learner to trace products.ts through App into the HTML. Day 2 adds deeper inputs, composition, conditions and pipes.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Day 1 homework matches the React brand/count exercise. Optional reference slides provide TypeScript examples. E1 coverage follows the official TCS syllabus and assessment rules.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Look at the actual Product interface. Categories form a union. Runtime JSON still needs validation on Day 4.</a:t>
            </a:r>
          </a:p>
          <a:p xmlns:a="http://schemas.openxmlformats.org/drawingml/2006/main">
            <a:r>
              <a:t>Source: https://www.typescriptlang.org/docs/handbook/2/everyday-types.html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readonly is shallow compile-time protection. Do not confuse a class with an HTML class attribute.</a:t>
            </a:r>
          </a:p>
          <a:p xmlns:a="http://schemas.openxmlformats.org/drawingml/2006/main">
            <a:r>
              <a:t>Source: https://www.typescriptlang.org/docs/handbook/2/classes.html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Explain declarations/imports/bootstrap in an NgModule as recognition only. AngularJS is a separate older framework. Do not mix both setup styles in this project.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Angular22.2.2 and TypeScript6.0.3 are pinned. The original React Vite setup remains in the repository root. Angular commands run in angular/product-catalog.</a:t>
            </a:r>
          </a:p>
          <a:p xmlns:a="http://schemas.openxmlformats.org/drawingml/2006/main">
            <a:r>
              <a:t>Source: https://angular.dev/reference/versions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5cd1503d841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62f94d1864a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ca1ed8a084e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e2992d55e4f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b44c7c9434f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81b0137ea47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0A31C8-5CD1-4964-874A-69C50F8C5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9439DD-B815-4D4D-A727-69E1A8D789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276578-A3AD-418F-B8A3-B496C440B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F8F829-72B4-4A78-8283-8014F1F34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0531E1-0AA5-4516-BB9B-7CB2FB0CE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B85F77-1196-4DDD-8A4C-FC049C8D7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98E8F8-55DD-440F-87A2-6ADA79CF0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91927E-75BF-4EB6-85A6-BA823D97A1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84519-9854-4D93-8634-A543E8A65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4F4638-B2BB-473B-88B8-0DDDE3A0F1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7ab879a7c48ea" /><Relationship Type="http://schemas.openxmlformats.org/officeDocument/2006/relationships/slideLayout" Target="/ppt/slideLayouts/slideLayout1.xml" Id="R467bd69332bd4b6c" /><Relationship Type="http://schemas.openxmlformats.org/officeDocument/2006/relationships/slideLayout" Target="/ppt/slideLayouts/slideLayout2.xml" Id="R90581dddf2a748a0" /><Relationship Type="http://schemas.openxmlformats.org/officeDocument/2006/relationships/slideLayout" Target="/ppt/slideLayouts/slideLayout3.xml" Id="R5d80e859131f4fde" /><Relationship Type="http://schemas.openxmlformats.org/officeDocument/2006/relationships/slideLayout" Target="/ppt/slideLayouts/slideLayout4.xml" Id="R4605049efa2a4d48" /><Relationship Type="http://schemas.openxmlformats.org/officeDocument/2006/relationships/slideLayout" Target="/ppt/slideLayouts/slideLayout5.xml" Id="R2cac4340e70d47f6" /><Relationship Type="http://schemas.openxmlformats.org/officeDocument/2006/relationships/slideLayout" Target="/ppt/slideLayouts/slideLayout6.xml" Id="Radea1fb9d27a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bd69332bd4b6c"/>
    <p:sldLayoutId xmlns:r="http://schemas.openxmlformats.org/officeDocument/2006/relationships" id="2147483650" r:id="R90581dddf2a748a0"/>
    <p:sldLayoutId xmlns:r="http://schemas.openxmlformats.org/officeDocument/2006/relationships" id="2147483651" r:id="R5d80e859131f4fde"/>
    <p:sldLayoutId xmlns:r="http://schemas.openxmlformats.org/officeDocument/2006/relationships" id="2147483652" r:id="R4605049efa2a4d48"/>
    <p:sldLayoutId xmlns:r="http://schemas.openxmlformats.org/officeDocument/2006/relationships" id="2147483653" r:id="R2cac4340e70d47f6"/>
    <p:sldLayoutId xmlns:r="http://schemas.openxmlformats.org/officeDocument/2006/relationships" id="2147483654" r:id="Radea1fb9d27a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534cb1f6d4f67" /><Relationship Type="http://schemas.openxmlformats.org/officeDocument/2006/relationships/image" Target="/ppt/media/image.png" Id="Rb9b42415534b4476" /><Relationship Type="http://schemas.openxmlformats.org/officeDocument/2006/relationships/notesSlide" Target="/ppt/notesSlides/notesSlide1.xml" Id="R24a7ab55f3404f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e52e65299464e" /><Relationship Type="http://schemas.openxmlformats.org/officeDocument/2006/relationships/notesSlide" Target="/ppt/notesSlides/notesSlide2.xml" Id="Rad876e5a662b46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b6e6798b84392" /><Relationship Type="http://schemas.openxmlformats.org/officeDocument/2006/relationships/notesSlide" Target="/ppt/notesSlides/notesSlide3.xml" Id="R99a3aaf8437245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9c3b2abfe4de4" /><Relationship Type="http://schemas.openxmlformats.org/officeDocument/2006/relationships/notesSlide" Target="/ppt/notesSlides/notesSlide4.xml" Id="R77469db4a3db46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d441e23ab4eb2" /><Relationship Type="http://schemas.openxmlformats.org/officeDocument/2006/relationships/notesSlide" Target="/ppt/notesSlides/notesSlide5.xml" Id="R77d6cff5a50543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dd81691b44239" /><Relationship Type="http://schemas.openxmlformats.org/officeDocument/2006/relationships/notesSlide" Target="/ppt/notesSlides/notesSlide6.xml" Id="R245751152f194a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8bc3ab35e4ad1" /><Relationship Type="http://schemas.openxmlformats.org/officeDocument/2006/relationships/notesSlide" Target="/ppt/notesSlides/notesSlide7.xml" Id="Rb26e21d634da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68467f2ff49c3" /><Relationship Type="http://schemas.openxmlformats.org/officeDocument/2006/relationships/notesSlide" Target="/ppt/notesSlides/notesSlide8.xml" Id="Rbcab1b46c6b540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e69d7508942d4" /><Relationship Type="http://schemas.openxmlformats.org/officeDocument/2006/relationships/notesSlide" Target="/ppt/notesSlides/notesSlide9.xml" Id="R96919f29b71445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69edbf921456d" /><Relationship Type="http://schemas.openxmlformats.org/officeDocument/2006/relationships/notesSlide" Target="/ppt/notesSlides/notesSlide10.xml" Id="Rcdce7aae6aa648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23064ba1f4eef" /><Relationship Type="http://schemas.openxmlformats.org/officeDocument/2006/relationships/notesSlide" Target="/ppt/notesSlides/notesSlide11.xml" Id="Rb8770026745249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3d05dc2714db2" /><Relationship Type="http://schemas.openxmlformats.org/officeDocument/2006/relationships/notesSlide" Target="/ppt/notesSlides/notesSlide12.xml" Id="R9a09faa37daf47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a1475fda54e57" /><Relationship Type="http://schemas.openxmlformats.org/officeDocument/2006/relationships/notesSlide" Target="/ppt/notesSlides/notesSlide13.xml" Id="R8da2637fcb1747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0eb5cd6524b97" /><Relationship Type="http://schemas.openxmlformats.org/officeDocument/2006/relationships/notesSlide" Target="/ppt/notesSlides/notesSlide14.xml" Id="R0ced3daeda264d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6218442a54e26" /><Relationship Type="http://schemas.openxmlformats.org/officeDocument/2006/relationships/notesSlide" Target="/ppt/notesSlides/notesSlide15.xml" Id="Rcda2417f1b664e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38dde10bf4a8c" /><Relationship Type="http://schemas.openxmlformats.org/officeDocument/2006/relationships/notesSlide" Target="/ppt/notesSlides/notesSlide16.xml" Id="R866eadae296c45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6d7e181064073" /><Relationship Type="http://schemas.openxmlformats.org/officeDocument/2006/relationships/notesSlide" Target="/ppt/notesSlides/notesSlide17.xml" Id="R0c4921cc735f43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c7f808e0b48cc" /><Relationship Type="http://schemas.openxmlformats.org/officeDocument/2006/relationships/notesSlide" Target="/ppt/notesSlides/notesSlide18.xml" Id="Re3d8920e22934f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f42285f874982" /><Relationship Type="http://schemas.openxmlformats.org/officeDocument/2006/relationships/notesSlide" Target="/ppt/notesSlides/notesSlide19.xml" Id="R256d9044cf1440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ff594686348e7" /><Relationship Type="http://schemas.openxmlformats.org/officeDocument/2006/relationships/notesSlide" Target="/ppt/notesSlides/notesSlide20.xml" Id="R14de38c8985640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bd2f564934eb0" /><Relationship Type="http://schemas.openxmlformats.org/officeDocument/2006/relationships/notesSlide" Target="/ppt/notesSlides/notesSlide21.xml" Id="R880b56e995794e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c4afc931844f4" /><Relationship Type="http://schemas.openxmlformats.org/officeDocument/2006/relationships/notesSlide" Target="/ppt/notesSlides/notesSlide22.xml" Id="R98bbe2871d7d47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1467a9c8d4772" /><Relationship Type="http://schemas.openxmlformats.org/officeDocument/2006/relationships/notesSlide" Target="/ppt/notesSlides/notesSlide23.xml" Id="R49641720a73e4a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d125b022743e3" /><Relationship Type="http://schemas.openxmlformats.org/officeDocument/2006/relationships/image" Target="/ppt/media/image2.png" Id="R228fb673ce5b4793" /><Relationship Type="http://schemas.openxmlformats.org/officeDocument/2006/relationships/notesSlide" Target="/ppt/notesSlides/notesSlide24.xml" Id="R690d132992b240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ee2dd74e44cc1" /><Relationship Type="http://schemas.openxmlformats.org/officeDocument/2006/relationships/notesSlide" Target="/ppt/notesSlides/notesSlide25.xml" Id="Re5e8925b54e243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90329c7834370" /><Relationship Type="http://schemas.openxmlformats.org/officeDocument/2006/relationships/notesSlide" Target="/ppt/notesSlides/notesSlide26.xml" Id="R64b9dd6137e945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8f6244df546cf" /><Relationship Type="http://schemas.openxmlformats.org/officeDocument/2006/relationships/notesSlide" Target="/ppt/notesSlides/notesSlide27.xml" Id="R4488a8fd97db40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93e385da2401e" /><Relationship Type="http://schemas.openxmlformats.org/officeDocument/2006/relationships/notesSlide" Target="/ppt/notesSlides/notesSlide28.xml" Id="R51405850b7fc49f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2ff7bca474864" /><Relationship Type="http://schemas.openxmlformats.org/officeDocument/2006/relationships/notesSlide" Target="/ppt/notesSlides/notesSlide29.xml" Id="Rea7e5bb151464e9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d8fd586614470" /><Relationship Type="http://schemas.openxmlformats.org/officeDocument/2006/relationships/notesSlide" Target="/ppt/notesSlides/notesSlide30.xml" Id="Ra725024a350d4d7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b6dcdafe3453c" /><Relationship Type="http://schemas.openxmlformats.org/officeDocument/2006/relationships/notesSlide" Target="/ppt/notesSlides/notesSlide31.xml" Id="Rdb7b808f95aa409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e5223bc624e62" /><Relationship Type="http://schemas.openxmlformats.org/officeDocument/2006/relationships/notesSlide" Target="/ppt/notesSlides/notesSlide32.xml" Id="R995efb422a80404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b300392f14f9c" /><Relationship Type="http://schemas.openxmlformats.org/officeDocument/2006/relationships/notesSlide" Target="/ppt/notesSlides/notesSlide33.xml" Id="Rc32f790a1d1b45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5DF3-D13A-419E-97D1-696D40A8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342A3-A7F2-4674-98DC-1EBFFE4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Angular · Day One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D5E60-07B4-42A1-B968-344BF9127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42415534b4476"/>
          <a:stretch xmlns:a="http://schemas.openxmlformats.org/drawingml/2006/main"/>
        </p:blipFill>
        <p:spPr>
          <a:xfrm xmlns:a="http://schemas.openxmlformats.org/drawingml/2006/main">
            <a:off x="6477000" y="200025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F5068-DE6F-48CF-975A-BDB86045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JavaScript, TypeScript and your first Angular screen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Subha Prasad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October 2026 · 10:00–11:00 AM 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161D8-C431-44C2-A233-9AE555C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0946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2359-B515-4EDF-BE4D-3279090F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0FD1-2501-4553-8272-34E151EE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Meet your trainer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B254-7018-413B-9C81-A04FFCD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Subha Prasad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TCS · Assets Consultant (C3A)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SME trainer for this Angular programme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We learn with a small Product Catalog.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656D2-8905-4072-9EDB-C4101DA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436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6D8BB-634E-417B-AD20-D1F6A18A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191DE-2B55-400D-8416-B84C0737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Day 1 topic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B8FBD-6CA3-4927-97CE-697737D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01  The web and Angular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02  Values, objects, arrays and functions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03  map, filter, spread and modules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04  Angular setup, components and templates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05  Product Catalog practice and quiz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Reference: TypeScript and Angular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62495-F70D-4F21-8747-BB779AA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8954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54798-D866-47B4-9B04-240BC61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WEB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8D7CE-5B7B-4847-9753-7FCBDD64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HTML, CSS and JavaScript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8757-EB2D-45AB-96AC-121C469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HTML describes structure.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CSS controls appearance.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JavaScript works with data and behaviour.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19771-BAAB-4078-B292-FBCE1C6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435C4-9D94-429D-BCEB-6BE30146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C9A4B-5985-4556-80DC-09B611F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8E34C-DC44-4D6A-ABB0-934BA83F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&lt;h1&gt;Product Catalog&lt;/h1&gt;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h1 { color: teal;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productCount = 3;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AADF6-3ECB-4E24-A109-B5EC82D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One heading, one style rule, one value</a:t>
            </a:r>
          </a:p>
        </p:txBody>
      </p:sp>
    </p:spTree>
    <p:extLst>
      <p:ext uri="{BB962C8B-B14F-4D97-AF65-F5344CB8AC3E}">
        <p14:creationId xmlns:p14="http://schemas.microsoft.com/office/powerpoint/2010/main" val="297570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9EF56-C100-4CB6-8E1B-AE748E0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C086B-EAAE-4892-96B0-D44AF3BB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What Angular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F19E9-4F1B-46E5-9735-DA49108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Angular is a framework for web applications.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Components combine a class and template.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Data binding connects data to the view.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CLI serves and builds the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E7ED0-9206-4350-AFBA-D077AE5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72C25-7686-445A-8F8C-F92C895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1FE80-71B1-47DA-9C92-1309BDA2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A8C6E-274E-4079-959A-51EBD6C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@Component({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selector: "app-heading",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template: "&lt;h1&gt;Product Catalog&lt;/h1&gt;"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})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class HeadingComponent {}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7097C-F259-48FE-91CE-C66EA493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selector places a component in a template</a:t>
            </a:r>
          </a:p>
        </p:txBody>
      </p:sp>
    </p:spTree>
    <p:extLst>
      <p:ext uri="{BB962C8B-B14F-4D97-AF65-F5344CB8AC3E}">
        <p14:creationId xmlns:p14="http://schemas.microsoft.com/office/powerpoint/2010/main" val="564781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F1910-4B6D-4156-B098-FEBCEA6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89963-B76F-4CFF-96A1-BF4CC59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Values and data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798B9-3C29-463E-A7E8-A1EE659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Text uses strings.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Prices use numbers.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Stock flags use booleans.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TypeScript can check these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D2ED8-A065-4126-B1AC-0B4C242C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name: string = "Notebook";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price: number = 80;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inStock: boolean = true;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console.log(typeof price);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EB337-D985-4DA4-9B9A-415AC13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number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A5B32-87A0-4DEC-A105-CAF51697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485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D285-8DFC-45AB-97A4-916D239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D54DE-4922-4AA3-8ACE-E76D7BE3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const and 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231C6-F917-436C-BC61-25CA5092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const prevents binding reassignment.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let permits reassignment.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const object can still have mutable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26CF6-B69C-4611-AC7C-B9CFEAAF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trainer = "Subha Prasad";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let topic = "JavaScript";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topic = "Angular";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console.log(topic);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86EAC-8E65-41E2-AB93-BA4959E0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Angular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B4E58-ADE0-46B6-8B5B-42365930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6325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02E84-4724-4929-9D6B-0D6409F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9E5FF-1A47-430A-A6A5-18F07E1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An object describes one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3AD51-FB15-4713-B7E3-2AAB46CF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Properties group related facts.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Each property has a name and value.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Dot notation reads a property.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9FDC-ED82-417A-8B6B-8198BA3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product =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id: "P-101", name: "Notebook",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price: 80, category: "Stationery",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inStock: true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console.log(product.name);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8D979-E2DB-4F6E-8CE5-4AAFF8A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CB27F-BA14-419F-9693-6C2D23A6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324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B2C02-1904-4C64-A42E-AB044865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B84A-9F63-454C-B58C-1664E42F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An array stores a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00082-E942-47E9-8387-E22BCC0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array stores ordered values.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Indexes start at zero.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length gives the item 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07E32-30A5-4068-A3CD-53502425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names = ["Notebook", "Pen"];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console.log(names[0]);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console.log(names.length);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E6E49-A873-4235-92B6-95D7FAA8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Notebook, then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4BC57-CAD2-40DE-93BE-3F59787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3203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33E6C-60CB-480D-B900-B067547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A6E81-1A2E-45A1-8386-BCA4D22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Functions turn inputs into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CE18A-64BA-47A9-9F76-415E65F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Parameters name the inputs.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body performs work.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return supplies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E4F9F-08C4-402D-817C-2793F4D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getName(product: Product)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product.name;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 = getName(PRODUCTS[0]);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3945B-FB28-4431-B1D3-6AC12228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name contains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348A6-2E3A-4DD2-A07C-4571FC4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206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70EC7-D4D2-4889-B02F-8731D264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09BC3-4065-4DF1-A411-0CF3E8A3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Conditions choose an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E5330-8974-493B-B6DB-6F47985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if executes a true branch.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=== compares without type conversion.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ternary expression chooses a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B9D29-B8FC-46CC-AEA6-D9C74130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if (product.inStock === true)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console.log("Ready to add");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label = product.inStock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? "In stock" : "Out of stock";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F14A7-BB9B-4663-A520-1CEB55A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Notebook selects In 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3BB42-A051-4A8B-8847-2394050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6560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5643F-0EDC-4DEB-8E2F-ED184EF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07E77-CA8D-43FF-BBEB-A377890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Arrow function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323DD-19C9-4294-9818-50A84104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arrow function can return one expression.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Array callbacks often use this syntax.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block body needs an explicit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E0D84-0366-4874-8D3D-A97C68E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getName = (p: Product) =&gt; p.name;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getNameLong = (p: Product) =&gt;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p.name;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C2C45-1A7A-4AD1-A5DD-EA9A4CF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Both return the product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133E6-31F1-484C-A8B7-65FB7C7B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157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ED08-6711-47F5-8AA0-E8B537C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08BD1-FABA-48D7-9132-E71AEC8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map transforms every item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2A70A-4725-4226-B548-FBBACA1A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map calls a callback for each item.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It returns a new array of results.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it for data transformations.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47D34-1091-43AC-868B-A1DE200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names = PRODUCTS.map(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product =&gt; product.name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D38E-B188-41E0-B671-F50DE41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Notebook, Pen and Bag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9155A-B52C-48F8-A5EF-FC0D3605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4600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CA9D0-6601-40FC-91A4-F4A03355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58E6A-8ACE-4035-A020-508F040F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filter selects matching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A1849-80C1-4160-B325-0617730F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Return true to keep an item.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filter creates a matching array.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original array remains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71A68-CD96-4E57-857F-6A4F7F9D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ready = PRODUCTS.filter(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product =&gt; product.inStock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console.log(ready.length);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63708-CCB3-44DB-94E0-930ED8C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3BC92-C2B5-4091-BF4C-A566759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9236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8C591-2857-4BA0-AC4A-A1346496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F67D9-2CED-436A-BF8B-60858EA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Destructuring and spread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7B5F8-136A-48E3-A0A0-E81D08D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Destructuring reads named values.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Spread makes a shallow copy.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Later properties override earlier 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686C4-537C-4DF7-A520-796E7EB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{ id, name } = product;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copy = { ...product, price: 100 };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next = [...PRODUCTS, newProduct];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98D14-7F41-4FB2-A932-D035106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original Notebook price stays ₹80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DE250-25D4-4821-9D33-BAD9CA8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121386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B5E12-EBB7-4981-8E95-69B33A8C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13E26-E927-4449-8967-77A8881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import and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80799-DD83-4785-A547-617DE456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module is a file with declarations.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export exposes a value or class.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import brings it into another module.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B7888-6FF0-4771-A484-3F57C608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products.ts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const PRODUCTS = [];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app.component.ts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import { PRODUCTS } from "./data/products";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52D19-8D37-4473-962F-46AFC7C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Named imports use matching braces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340A1-64B3-48F4-9005-44AF101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5238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D0F7C-D528-48D5-ABF7-6CB39E5B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9ED03-6C51-4310-9596-FF804DC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prepared Angular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3982-6186-4E97-8138-228B439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Node runs the development tools.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Angular CLI serves and builds.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lockfile fixes dependency versions.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A87E-D00C-46B1-86DE-C8CD61F5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cd angular/product-catalog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npm ci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npm run check:day-one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npm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474C8-57F1-4FFF-8AE2-CDD655F1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Open the local URL printed by Angular CLI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8E0FC-CDCB-4247-994F-3BF576D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734790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A08D8-9A95-4742-BFF7-61AD85AC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07686-15EC-4231-AE86-E8A35E9C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Where each piece belongs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229B8-BFD4-4349-9257-DAAC9D7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main.ts bootstraps the root component.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App composes the page.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ProductCard displays one product.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products.ts stores the initial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31376-0173-4BE5-A21E-E3AAEDBA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src/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main.ts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app/app.component.ts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app/app.component.html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app/components/product-card.component.ts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app/data/products.ts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app/models/product.model.ts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F1E16-0840-4BDB-9038-799E5E05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Data, templates and classes have clear homes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BDEFE-7F61-4F36-B4C9-C1192E6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4114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8783F-D8B7-4D29-A17B-00C5629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F38BA-D295-4245-9326-E3CDAA4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Your first Angular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5F14-9FE1-4B8F-B58F-4391583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class supplies fields and methods.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@Component supplies Angular metadata.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selector names the component element.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F199-350B-4CFC-8B84-1801B6F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@Component({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selector: "app-root",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standalone: true,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template: "&lt;h1&gt;{{ title }}&lt;/h1&gt;"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class AppComponent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title = "Product Catalog";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921C8-2EFE-45E0-B0A0-FCD2051C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template reads the class title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01AC7-812A-4918-9BAA-856F009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6089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02A38-F794-47A6-A5C8-A528226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1CD5B-ED7B-4013-9021-E21161C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Angular template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0E5D5-E9A4-4AFF-BEFA-6153030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Templates use HTML and Angular syntax.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class rather than className.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Close tags and match selectors.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template can contain sibling elements.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FAD76-8632-4A8B-9751-BE8B34C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FF046-D10A-49F9-BCBE-13FC7E6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552AC-8B9D-4331-A4A1-7712CD2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BCA3B-D16A-44A2-AAC6-79A9D04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&lt;h1 class="title"&gt;Products&lt;/h1&gt;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&lt;p&gt;{{ trainer }}&lt;/p&gt;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&lt;app-product-card [product]="product" /&gt;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FE6E8-64E9-428B-A63A-B713382A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Angular templates replace JSX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3522559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9156A-EE3F-4B95-AF39-BB85565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7B319-3EC8-4981-837F-E71BCE1E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Values inside interpolation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CAC1-8436-4612-8ED2-364C754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Double braces display an expression.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Read a field, property or calculation.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Property binding sets an element property.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353C5-1E63-4B5A-8A0E-2C0D24B8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&lt;p&gt;{{ trainer }}: {{ products.length }}&lt;/p&gt;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&lt;input [value]="trainer"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372FD-BE14-47A1-BB21-D909954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Subha Prasad: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49D33-0C9E-440F-A260-21699475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61572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A2DEE-FAC9-4E83-BF95-FA1A7F38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F2595-855A-4888-9726-F766589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One component, different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95FA6-A587-4FAE-BC30-E992AEE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parent passes a product input.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child reads its input signal.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Reuse the same component for each item.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400FA-322B-44AD-8737-9E3D859B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7A647-8768-4204-B0E9-B670D38E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2FDE8-F4AA-4A24-8B59-2B1E31A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D24B4-9AED-4A51-886E-B5EBA3D8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readonly product = input.required&lt;Product&gt;();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Parent template</a:t>
            </a:r>
          </a:p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&lt;app-product-card [product]="products[0]" /&gt;</a:t>
            </a:r>
          </a:p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&lt;app-product-card [product]="products[1]" /&gt;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305C7-2B5E-4100-B513-D40B5C3A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same card displays Notebook and Pen</a:t>
            </a:r>
          </a:p>
        </p:txBody>
      </p:sp>
    </p:spTree>
    <p:extLst>
      <p:ext uri="{BB962C8B-B14F-4D97-AF65-F5344CB8AC3E}">
        <p14:creationId xmlns:p14="http://schemas.microsoft.com/office/powerpoint/2010/main" val="4214156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B812-67D1-45F3-B3EB-F0A4476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3660D-0993-4878-84E5-CF0E33E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 data becomes a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16A95-5C1E-4255-B392-4F1D47A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@for repeats the card template.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track follows stable item identity.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product input carries the object.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A472C-D522-44B2-B1A5-5FF30076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@for (product of products; track product.id)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&lt;app-product-card [product]="product" /&gt;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71CA-477B-4657-828F-3A953B39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Three product objects produce three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9D854-7503-4657-9F7A-76A29B2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027634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5BBBF-AE34-4F54-BABF-B66A3834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HANDS-ON ·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40004-0D30-4BC1-A0EE-4D52635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Product Catalog demo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41ACC-0C88-4839-9E62-659BB1907B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fb673ce5b47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29250" y="3426512"/>
            <a:ext cx="6191250" cy="138610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20A99-1D36-49AA-94E6-4F58340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4291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the JavaScript examples.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three product objects.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 data into each card input.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the two initial stock counts.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A2F74-AF31-4A60-A5A7-44620A01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30538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290A5-A802-4E3B-B6F4-7579301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YOUR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D854-081E-430F-B021-095AC41E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fourth product on the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2B246-09B5-450D-A690-F8B3425C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Add Bottle in the data file.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Save and inspect the browser.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Explain why both counts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5F727-0BCC-4817-B56B-DA175B9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A30F0-AD7E-4821-9026-603875A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B4860-FBFE-404E-9C14-2E746FD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A966C-892E-44E4-B294-D9E12B0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id: "P-104", name: "Bottle",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price: 250, category: "Accessories",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inStock: true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CC088-6F46-4D74-8A95-61406311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Expected counts: 4 total, 3 in stock</a:t>
            </a:r>
          </a:p>
        </p:txBody>
      </p:sp>
    </p:spTree>
    <p:extLst>
      <p:ext uri="{BB962C8B-B14F-4D97-AF65-F5344CB8AC3E}">
        <p14:creationId xmlns:p14="http://schemas.microsoft.com/office/powerpoint/2010/main" val="3596071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10BAD-D10D-40B0-9A76-583CB05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C77B9-AEFD-4AD8-84B8-F4396A9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Common Day 1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DD210-84F5-45A8-AAB8-B365C82B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Missing commas or incorrect import paths.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Unknown selectors without a component import.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Confusing className with class.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Reading an input signal without ().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Duplicate IDs in a tracked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0641B-F8F2-4C32-A644-7F139175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87DDD-8254-4CD0-95CC-731D19C1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15B07-F5BA-41AD-AE88-86DCF9D2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177206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B4A46-48F3-4EA6-99D7-C85C7AB2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QUIZ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35481-FB27-4CC4-8AEE-22D49B0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Day 1 knowledge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4BE56-B8D6-4128-9AAD-19FF9AED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1  Which keyword allows reassignment?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2  Which method transforms every array item?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3  Which method selects matching items?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4  How does Angular display a field?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5  What identifies each repeated product?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F3749-33F9-474A-8091-ED76112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50BA9-D418-4B01-AA96-5C85350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AAA13-FDC8-430C-A69D-B4C2071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362166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D695-4211-45A9-89CC-B8DD40D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D0D22-B800-4749-91A2-A977DD5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What you can now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AA501-0592-469E-9BC3-B33F5DC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JavaScript holds and transforms product data.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TypeScript documents the shape.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component class supplies template values.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Inputs reuse a card for different products.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2B4C9-EB36-44CA-894B-ACA052A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F92B2-48EE-49A4-B3F1-DC67818F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8B6C2-5A1B-4DD6-9EAC-83578543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01312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795CA-0429-4729-9979-D09C691A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TRY AT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BA0F8-D2D6-4C9E-95B2-312CF68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Practice and learning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9C2CD-2DB1-43E2-98B4-35585FE4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Try at home: add brand to every card.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Compute the out-of-stock count with filter.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Repeat the JavaScript lesson without copying.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Angular: angular.dev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JavaScript: MDN JavaScript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5F717-7DEA-4822-9923-B3435BD1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293447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TypeScript types and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string, number and boolean describe values.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interface groups property types.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Optional properties use ?.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Type checks happen before runtime.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6CDF6-8131-45CE-9E09-D574A51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interface Product {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id: string; name: string; price: number;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inStock: boolean; brand?: string;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86AA0-E984-4B0E-93AE-3D749928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compiler catches incompatible assignments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Classes, this and readonly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class groups fields and methods.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this reads the current instance.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readonly blocks assignment in TypeScript.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6B962-196F-432A-A385-07E77A64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class CatalogExample {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readonly title = "Product Catalog";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count = 3;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label() { return this.title; }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D5164-310E-4CBB-9571-3EAF3E0D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 component class is still a TypeScript class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Standalone imports and NgModules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Standalone components import their dependencies.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Older projects can group declarations in NgModules.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This project uses standalone bootstrapping.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FA134-2359-460C-B87D-37D1B5F7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@Component({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standalone: true,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imports: [ProductCardComponent],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templateUrl: "./app.component.html"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DD544-BC63-4450-9A61-B603B045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bootstrapApplication starts the root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Setup and compiler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Angular and CLI versions must align.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Node and TypeScript must be compatible.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strictTemplates checks bindings.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package-lock.json supports npm 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E068C-8EB7-45B5-8DE4-A840F994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npm run build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Review angular.json and tsconfig.json.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424A8-8A47-489E-AD7C-F9F01229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first compiler error usually identifies the file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2026-10-11T18:09:39.0910000Z</dcterms:created>
  <dcterms:modified xsi:type="dcterms:W3CDTF">2026-10-11T18:09:39.0910000Z</dcterms:modified>
</coreProperties>
</file>