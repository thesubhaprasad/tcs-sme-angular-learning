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0146b62e184299" /><Relationship Type="http://schemas.openxmlformats.org/officeDocument/2006/relationships/extended-properties" Target="/docProps/app.xml" Id="R857678e4cafb470c" /><Relationship Type="http://schemas.openxmlformats.org/officeDocument/2006/relationships/officeDocument" Target="/ppt/presentation.xml" Id="Rd386cc2b34eb47f1" /></Relationships>
</file>

<file path=ppt/presentation.xml><?xml version="1.0" encoding="utf-8"?>
<p:presentation xmlns:p="http://schemas.openxmlformats.org/presentationml/2006/main">
  <p:sldMasterIdLst>
    <p:sldMasterId xmlns:r="http://schemas.openxmlformats.org/officeDocument/2006/relationships" id="2147483648" r:id="R939cdf57a1874c09"/>
  </p:sldMasterIdLst>
  <p:notesMasterIdLst>
    <p:notesMasterId xmlns:r="http://schemas.openxmlformats.org/officeDocument/2006/relationships" r:id="R942d45e961e144b5"/>
  </p:notesMasterIdLst>
  <p:sldIdLst>
    <p:sldId xmlns:r="http://schemas.openxmlformats.org/officeDocument/2006/relationships" id="256" r:id="R4ccba1fa404a4b99"/>
    <p:sldId xmlns:r="http://schemas.openxmlformats.org/officeDocument/2006/relationships" id="257" r:id="R12e95bc6ed5c4e8f"/>
    <p:sldId xmlns:r="http://schemas.openxmlformats.org/officeDocument/2006/relationships" id="258" r:id="R823495f2720246ba"/>
    <p:sldId xmlns:r="http://schemas.openxmlformats.org/officeDocument/2006/relationships" id="259" r:id="Rcbcd8147f3f24687"/>
    <p:sldId xmlns:r="http://schemas.openxmlformats.org/officeDocument/2006/relationships" id="260" r:id="R2d91168d436f4dad"/>
    <p:sldId xmlns:r="http://schemas.openxmlformats.org/officeDocument/2006/relationships" id="261" r:id="R5098bfe13ec34712"/>
    <p:sldId xmlns:r="http://schemas.openxmlformats.org/officeDocument/2006/relationships" id="262" r:id="R5905d7ffb17b4ac0"/>
    <p:sldId xmlns:r="http://schemas.openxmlformats.org/officeDocument/2006/relationships" id="263" r:id="R8fafa619f2844134"/>
    <p:sldId xmlns:r="http://schemas.openxmlformats.org/officeDocument/2006/relationships" id="264" r:id="R2b68ae1f960f4c12"/>
    <p:sldId xmlns:r="http://schemas.openxmlformats.org/officeDocument/2006/relationships" id="265" r:id="R447bcc56b8a34208"/>
    <p:sldId xmlns:r="http://schemas.openxmlformats.org/officeDocument/2006/relationships" id="266" r:id="R4c252ed066d64f6f"/>
    <p:sldId xmlns:r="http://schemas.openxmlformats.org/officeDocument/2006/relationships" id="267" r:id="R8b26e9da84e7450f"/>
    <p:sldId xmlns:r="http://schemas.openxmlformats.org/officeDocument/2006/relationships" id="268" r:id="Rc7127a7606bf4bfb"/>
    <p:sldId xmlns:r="http://schemas.openxmlformats.org/officeDocument/2006/relationships" id="269" r:id="R76ca5615bc954a8e"/>
    <p:sldId xmlns:r="http://schemas.openxmlformats.org/officeDocument/2006/relationships" id="270" r:id="R9836995017f14c3f"/>
    <p:sldId xmlns:r="http://schemas.openxmlformats.org/officeDocument/2006/relationships" id="271" r:id="Ra8436ad9173e4420"/>
    <p:sldId xmlns:r="http://schemas.openxmlformats.org/officeDocument/2006/relationships" id="272" r:id="R4944b802c6eb4c37"/>
    <p:sldId xmlns:r="http://schemas.openxmlformats.org/officeDocument/2006/relationships" id="273" r:id="Rb232502d8d374922"/>
    <p:sldId xmlns:r="http://schemas.openxmlformats.org/officeDocument/2006/relationships" id="274" r:id="R7cd33307827048e9"/>
    <p:sldId xmlns:r="http://schemas.openxmlformats.org/officeDocument/2006/relationships" id="275" r:id="R8a0baf88024f4440"/>
    <p:sldId xmlns:r="http://schemas.openxmlformats.org/officeDocument/2006/relationships" id="276" r:id="R103b7cb8977c492e"/>
    <p:sldId xmlns:r="http://schemas.openxmlformats.org/officeDocument/2006/relationships" id="277" r:id="R405ed371698d4792"/>
    <p:sldId xmlns:r="http://schemas.openxmlformats.org/officeDocument/2006/relationships" id="278" r:id="R5c2e06bd69924404"/>
    <p:sldId xmlns:r="http://schemas.openxmlformats.org/officeDocument/2006/relationships" id="279" r:id="R4fab2167d4fc434f"/>
    <p:sldId xmlns:r="http://schemas.openxmlformats.org/officeDocument/2006/relationships" id="280" r:id="Rc358e9d616a84a64"/>
    <p:sldId xmlns:r="http://schemas.openxmlformats.org/officeDocument/2006/relationships" id="281" r:id="R1985ded8ccea400a"/>
    <p:sldId xmlns:r="http://schemas.openxmlformats.org/officeDocument/2006/relationships" id="282" r:id="R560920ae71764578"/>
    <p:sldId xmlns:r="http://schemas.openxmlformats.org/officeDocument/2006/relationships" id="283" r:id="R203179d879b549d5"/>
    <p:sldId xmlns:r="http://schemas.openxmlformats.org/officeDocument/2006/relationships" id="284" r:id="R41d60ca1629843c5"/>
    <p:sldId xmlns:r="http://schemas.openxmlformats.org/officeDocument/2006/relationships" id="285" r:id="R6dfb992653004c2e"/>
    <p:sldId xmlns:r="http://schemas.openxmlformats.org/officeDocument/2006/relationships" id="286" r:id="Rede137741b2e4973"/>
    <p:sldId xmlns:r="http://schemas.openxmlformats.org/officeDocument/2006/relationships" id="287" r:id="R7a096e9826ef4244"/>
    <p:sldId xmlns:r="http://schemas.openxmlformats.org/officeDocument/2006/relationships" id="288" r:id="R9d8f920d0f6c44da"/>
    <p:sldId xmlns:r="http://schemas.openxmlformats.org/officeDocument/2006/relationships" id="289" r:id="Ra44a598b4c444845"/>
    <p:sldId xmlns:r="http://schemas.openxmlformats.org/officeDocument/2006/relationships" id="290" r:id="R236d979dbfa049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beb986f6074502" /><Relationship Type="http://schemas.openxmlformats.org/officeDocument/2006/relationships/slideMaster" Target="/ppt/slideMasters/slideMaster1.xml" Id="R939cdf57a1874c09" /><Relationship Type="http://schemas.openxmlformats.org/officeDocument/2006/relationships/notesMaster" Target="/ppt/notesMasters/notesMaster1.xml" Id="R942d45e961e144b5" /><Relationship Type="http://schemas.openxmlformats.org/officeDocument/2006/relationships/presProps" Target="/ppt/presProps.xml" Id="R6a18b0783b0e4ede" /><Relationship Type="http://schemas.openxmlformats.org/officeDocument/2006/relationships/tableStyles" Target="/ppt/tableStyles.xml" Id="R0cffb53ca95d4640" /><Relationship Type="http://schemas.openxmlformats.org/officeDocument/2006/relationships/slide" Target="/ppt/slides/slide1.xml" Id="R4ccba1fa404a4b99" /><Relationship Type="http://schemas.openxmlformats.org/officeDocument/2006/relationships/slide" Target="/ppt/slides/slide2.xml" Id="R12e95bc6ed5c4e8f" /><Relationship Type="http://schemas.openxmlformats.org/officeDocument/2006/relationships/slide" Target="/ppt/slides/slide3.xml" Id="R823495f2720246ba" /><Relationship Type="http://schemas.openxmlformats.org/officeDocument/2006/relationships/slide" Target="/ppt/slides/slide4.xml" Id="Rcbcd8147f3f24687" /><Relationship Type="http://schemas.openxmlformats.org/officeDocument/2006/relationships/slide" Target="/ppt/slides/slide5.xml" Id="R2d91168d436f4dad" /><Relationship Type="http://schemas.openxmlformats.org/officeDocument/2006/relationships/slide" Target="/ppt/slides/slide6.xml" Id="R5098bfe13ec34712" /><Relationship Type="http://schemas.openxmlformats.org/officeDocument/2006/relationships/slide" Target="/ppt/slides/slide7.xml" Id="R5905d7ffb17b4ac0" /><Relationship Type="http://schemas.openxmlformats.org/officeDocument/2006/relationships/slide" Target="/ppt/slides/slide8.xml" Id="R8fafa619f2844134" /><Relationship Type="http://schemas.openxmlformats.org/officeDocument/2006/relationships/slide" Target="/ppt/slides/slide9.xml" Id="R2b68ae1f960f4c12" /><Relationship Type="http://schemas.openxmlformats.org/officeDocument/2006/relationships/slide" Target="/ppt/slides/slide10.xml" Id="R447bcc56b8a34208" /><Relationship Type="http://schemas.openxmlformats.org/officeDocument/2006/relationships/slide" Target="/ppt/slides/slide11.xml" Id="R4c252ed066d64f6f" /><Relationship Type="http://schemas.openxmlformats.org/officeDocument/2006/relationships/slide" Target="/ppt/slides/slide12.xml" Id="R8b26e9da84e7450f" /><Relationship Type="http://schemas.openxmlformats.org/officeDocument/2006/relationships/slide" Target="/ppt/slides/slide13.xml" Id="Rc7127a7606bf4bfb" /><Relationship Type="http://schemas.openxmlformats.org/officeDocument/2006/relationships/slide" Target="/ppt/slides/slide14.xml" Id="R76ca5615bc954a8e" /><Relationship Type="http://schemas.openxmlformats.org/officeDocument/2006/relationships/slide" Target="/ppt/slides/slide15.xml" Id="R9836995017f14c3f" /><Relationship Type="http://schemas.openxmlformats.org/officeDocument/2006/relationships/slide" Target="/ppt/slides/slide16.xml" Id="Ra8436ad9173e4420" /><Relationship Type="http://schemas.openxmlformats.org/officeDocument/2006/relationships/slide" Target="/ppt/slides/slide17.xml" Id="R4944b802c6eb4c37" /><Relationship Type="http://schemas.openxmlformats.org/officeDocument/2006/relationships/slide" Target="/ppt/slides/slide18.xml" Id="Rb232502d8d374922" /><Relationship Type="http://schemas.openxmlformats.org/officeDocument/2006/relationships/slide" Target="/ppt/slides/slide19.xml" Id="R7cd33307827048e9" /><Relationship Type="http://schemas.openxmlformats.org/officeDocument/2006/relationships/slide" Target="/ppt/slides/slide20.xml" Id="R8a0baf88024f4440" /><Relationship Type="http://schemas.openxmlformats.org/officeDocument/2006/relationships/slide" Target="/ppt/slides/slide21.xml" Id="R103b7cb8977c492e" /><Relationship Type="http://schemas.openxmlformats.org/officeDocument/2006/relationships/slide" Target="/ppt/slides/slide22.xml" Id="R405ed371698d4792" /><Relationship Type="http://schemas.openxmlformats.org/officeDocument/2006/relationships/slide" Target="/ppt/slides/slide23.xml" Id="R5c2e06bd69924404" /><Relationship Type="http://schemas.openxmlformats.org/officeDocument/2006/relationships/slide" Target="/ppt/slides/slide24.xml" Id="R4fab2167d4fc434f" /><Relationship Type="http://schemas.openxmlformats.org/officeDocument/2006/relationships/slide" Target="/ppt/slides/slide25.xml" Id="Rc358e9d616a84a64" /><Relationship Type="http://schemas.openxmlformats.org/officeDocument/2006/relationships/slide" Target="/ppt/slides/slide26.xml" Id="R1985ded8ccea400a" /><Relationship Type="http://schemas.openxmlformats.org/officeDocument/2006/relationships/slide" Target="/ppt/slides/slide27.xml" Id="R560920ae71764578" /><Relationship Type="http://schemas.openxmlformats.org/officeDocument/2006/relationships/slide" Target="/ppt/slides/slide28.xml" Id="R203179d879b549d5" /><Relationship Type="http://schemas.openxmlformats.org/officeDocument/2006/relationships/slide" Target="/ppt/slides/slide29.xml" Id="R41d60ca1629843c5" /><Relationship Type="http://schemas.openxmlformats.org/officeDocument/2006/relationships/slide" Target="/ppt/slides/slide30.xml" Id="R6dfb992653004c2e" /><Relationship Type="http://schemas.openxmlformats.org/officeDocument/2006/relationships/slide" Target="/ppt/slides/slide31.xml" Id="Rede137741b2e4973" /><Relationship Type="http://schemas.openxmlformats.org/officeDocument/2006/relationships/slide" Target="/ppt/slides/slide32.xml" Id="R7a096e9826ef4244" /><Relationship Type="http://schemas.openxmlformats.org/officeDocument/2006/relationships/slide" Target="/ppt/slides/slide33.xml" Id="R9d8f920d0f6c44da" /><Relationship Type="http://schemas.openxmlformats.org/officeDocument/2006/relationships/slide" Target="/ppt/slides/slide34.xml" Id="Ra44a598b4c444845" /><Relationship Type="http://schemas.openxmlformats.org/officeDocument/2006/relationships/slide" Target="/ppt/slides/slide35.xml" Id="R236d979dbfa049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d7b36a18de41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bbfd78f0134153" /><Relationship Type="http://schemas.openxmlformats.org/officeDocument/2006/relationships/notesMaster" Target="/ppt/notesMasters/notesMaster1.xml" Id="R22b349f80a40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f3882555a946de" /><Relationship Type="http://schemas.openxmlformats.org/officeDocument/2006/relationships/notesMaster" Target="/ppt/notesMasters/notesMaster1.xml" Id="R97a8e31135854d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b0f2d2dfb7473a" /><Relationship Type="http://schemas.openxmlformats.org/officeDocument/2006/relationships/notesMaster" Target="/ppt/notesMasters/notesMaster1.xml" Id="Rc176beb2725246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e4509351784efc" /><Relationship Type="http://schemas.openxmlformats.org/officeDocument/2006/relationships/notesMaster" Target="/ppt/notesMasters/notesMaster1.xml" Id="R7e8dc65578b54e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362bef98d74c1e" /><Relationship Type="http://schemas.openxmlformats.org/officeDocument/2006/relationships/notesMaster" Target="/ppt/notesMasters/notesMaster1.xml" Id="R8d00af9c02d142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a8c6c208274118" /><Relationship Type="http://schemas.openxmlformats.org/officeDocument/2006/relationships/notesMaster" Target="/ppt/notesMasters/notesMaster1.xml" Id="R6e8ff2d9063a41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4da51bf82941c1" /><Relationship Type="http://schemas.openxmlformats.org/officeDocument/2006/relationships/notesMaster" Target="/ppt/notesMasters/notesMaster1.xml" Id="R8e6ab83cfd9a48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16936d6fbc4cf9" /><Relationship Type="http://schemas.openxmlformats.org/officeDocument/2006/relationships/notesMaster" Target="/ppt/notesMasters/notesMaster1.xml" Id="Rc8c91ff88c2148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218bc538c14441" /><Relationship Type="http://schemas.openxmlformats.org/officeDocument/2006/relationships/notesMaster" Target="/ppt/notesMasters/notesMaster1.xml" Id="R5bad6aa2e52140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1fecdc1e004802" /><Relationship Type="http://schemas.openxmlformats.org/officeDocument/2006/relationships/notesMaster" Target="/ppt/notesMasters/notesMaster1.xml" Id="R89b134be4f4647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43df2c11274135" /><Relationship Type="http://schemas.openxmlformats.org/officeDocument/2006/relationships/notesMaster" Target="/ppt/notesMasters/notesMaster1.xml" Id="R8da509fb728e4c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7928c41af8440d" /><Relationship Type="http://schemas.openxmlformats.org/officeDocument/2006/relationships/notesMaster" Target="/ppt/notesMasters/notesMaster1.xml" Id="R6678070e8f164e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2ea39cb0f5402a" /><Relationship Type="http://schemas.openxmlformats.org/officeDocument/2006/relationships/notesMaster" Target="/ppt/notesMasters/notesMaster1.xml" Id="Rf77c1a6bb3b545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2261d795164e50" /><Relationship Type="http://schemas.openxmlformats.org/officeDocument/2006/relationships/notesMaster" Target="/ppt/notesMasters/notesMaster1.xml" Id="Rc8eeddae18314e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4019f33b914bec" /><Relationship Type="http://schemas.openxmlformats.org/officeDocument/2006/relationships/notesMaster" Target="/ppt/notesMasters/notesMaster1.xml" Id="R380639669eea44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ded8e037ef747bc" /><Relationship Type="http://schemas.openxmlformats.org/officeDocument/2006/relationships/notesMaster" Target="/ppt/notesMasters/notesMaster1.xml" Id="Rf104b60d509346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f9aad14e784012" /><Relationship Type="http://schemas.openxmlformats.org/officeDocument/2006/relationships/notesMaster" Target="/ppt/notesMasters/notesMaster1.xml" Id="Rcd06a0759c2041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0c969a639e4a96" /><Relationship Type="http://schemas.openxmlformats.org/officeDocument/2006/relationships/notesMaster" Target="/ppt/notesMasters/notesMaster1.xml" Id="R3434cf805ff74a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8c885e61df34e13" /><Relationship Type="http://schemas.openxmlformats.org/officeDocument/2006/relationships/notesMaster" Target="/ppt/notesMasters/notesMaster1.xml" Id="R1a84b805c0354f0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4e600d20924992" /><Relationship Type="http://schemas.openxmlformats.org/officeDocument/2006/relationships/notesMaster" Target="/ppt/notesMasters/notesMaster1.xml" Id="Recf8bf07298140f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bbbe10d9744fe7" /><Relationship Type="http://schemas.openxmlformats.org/officeDocument/2006/relationships/notesMaster" Target="/ppt/notesMasters/notesMaster1.xml" Id="R3b59527ce0e846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bdb3d71561c4af9" /><Relationship Type="http://schemas.openxmlformats.org/officeDocument/2006/relationships/notesMaster" Target="/ppt/notesMasters/notesMaster1.xml" Id="R7206a393b64e418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b24400479584706" /><Relationship Type="http://schemas.openxmlformats.org/officeDocument/2006/relationships/notesMaster" Target="/ppt/notesMasters/notesMaster1.xml" Id="R5ddedd027fa244f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e64d0441c9447b2" /><Relationship Type="http://schemas.openxmlformats.org/officeDocument/2006/relationships/notesMaster" Target="/ppt/notesMasters/notesMaster1.xml" Id="R47cd64520e7349d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d22620532a54116" /><Relationship Type="http://schemas.openxmlformats.org/officeDocument/2006/relationships/notesMaster" Target="/ppt/notesMasters/notesMaster1.xml" Id="Rd8db82e5f8ca439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5c95cb8aa814b76" /><Relationship Type="http://schemas.openxmlformats.org/officeDocument/2006/relationships/notesMaster" Target="/ppt/notesMasters/notesMaster1.xml" Id="Rb5962f353278454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8402398c0d34934" /><Relationship Type="http://schemas.openxmlformats.org/officeDocument/2006/relationships/notesMaster" Target="/ppt/notesMasters/notesMaster1.xml" Id="Rdaf007f9ae04483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8abe656e8ed45dd" /><Relationship Type="http://schemas.openxmlformats.org/officeDocument/2006/relationships/notesMaster" Target="/ppt/notesMasters/notesMaster1.xml" Id="R2d661cca012c40e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0c87b6725294c7b" /><Relationship Type="http://schemas.openxmlformats.org/officeDocument/2006/relationships/notesMaster" Target="/ppt/notesMasters/notesMaster1.xml" Id="R7d7ba8dcd8b246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47355c1e7c84c9c" /><Relationship Type="http://schemas.openxmlformats.org/officeDocument/2006/relationships/notesMaster" Target="/ppt/notesMasters/notesMaster1.xml" Id="R94b0715bfcfd466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ed095640f2d4e21" /><Relationship Type="http://schemas.openxmlformats.org/officeDocument/2006/relationships/notesMaster" Target="/ppt/notesMasters/notesMaster1.xml" Id="R608e0d8ae4554d3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195007f96c3445b" /><Relationship Type="http://schemas.openxmlformats.org/officeDocument/2006/relationships/notesMaster" Target="/ppt/notesMasters/notesMaster1.xml" Id="R84fd6c4a9fbf42e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baddc9d86604ea0" /><Relationship Type="http://schemas.openxmlformats.org/officeDocument/2006/relationships/notesMaster" Target="/ppt/notesMasters/notesMaster1.xml" Id="R92e7838a61dc4a4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645fcffccfc4820" /><Relationship Type="http://schemas.openxmlformats.org/officeDocument/2006/relationships/notesMaster" Target="/ppt/notesMasters/notesMaster1.xml" Id="R702f770f5b534bb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a3cc8e12be143c4" /><Relationship Type="http://schemas.openxmlformats.org/officeDocument/2006/relationships/notesMaster" Target="/ppt/notesMasters/notesMaster1.xml" Id="Rfa7da76119ac4d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Welcome learners in Microsoft Teams. Trainer: TCS Assets Consultant (C3A), SME. The Product Catalog uses fictional INR values.</a:t>
            </a:r>
          </a:p>
          <a:p xmlns:a="http://schemas.openxmlformats.org/drawingml/2006/main">
            <a:r>
              <a:t>Source: https://angular.dev/guide/components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Use a fictional customer name such as Demo Customer. The app never submits an order, sends customer details or charges money. Request state moves into a reusable component-scoped DI store. The shared cart remains owned by App.</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live teaching slides total 60 minutes. Untimed reference slides cover routing, guards, interceptors, testing and deployment recognition. The final slide remains last and contains the requested course IDs 75214 and 62104.</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Ask learners to provide one concrete example from each day. JavaScript/TypeScript describe product data. Inputs/projection compose the page. Signals/events drive interaction. HTTP/DI handle the resource. Forms capture validated user input. The coverage checklist maps every original React slide to an Angular slide.</a:t>
            </a:r>
          </a:p>
          <a:p xmlns:a="http://schemas.openxmlformats.org/drawingml/2006/main">
            <a:r>
              <a:t>Source: https://angular.dev/guide/components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The cart accepts one entry per in-stock product, with no quantities. The practice preview captures the selected items, name, note and total at submission time. It stays in memory. Later edits do not rewrite an earlier snapshot until another valid submission.</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App is the nearest shared cart owner. It passes cart() to OrderForm. CatalogStore is provided by App, so its DestroyRef lifetime matches App. The form owns its own controls and preview; no sibling needs the customer name.</a:t>
            </a:r>
          </a:p>
          <a:p xmlns:a="http://schemas.openxmlformats.org/drawingml/2006/main">
            <a:r>
              <a:t>Source: https://angular.dev/guide/di</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is a conceptual counterpart of the React useProducts custom Hook. Angular uses injection and provider scopes rather than Hook invocation. Consumers in the same provider scope can share an instance. A component provider creates a new store per App instance. Do not describe DI services as automatically independent on every inject call.</a:t>
            </a:r>
          </a:p>
          <a:p xmlns:a="http://schemas.openxmlformats.org/drawingml/2006/main">
            <a:r>
              <a:t>Source: https://angular.dev/guide/di</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screen snippet is structural. The full CatalogStore has typed readonly-product and status signals, an active subscription, ProductService, requestMessage and DestroyRef. The extracted method retains HTTP validation, loading, failure, retry and cancellation behavior.</a:t>
            </a:r>
          </a:p>
          <a:p xmlns:a="http://schemas.openxmlformats.org/drawingml/2006/main">
            <a:r>
              <a:t>Source: https://angular.dev/guide/di</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App calls store.load in ngOnInit and exposes a wrapper for Retry. Search/cart state does not invoke it. The resource URL stays fixed in ProductService. A dynamic URL would need an explicit parameter and trigger strategy. React dependency arrays and Hook-order rules do not apply.</a:t>
            </a:r>
          </a:p>
          <a:p xmlns:a="http://schemas.openxmlformats.org/drawingml/2006/main">
            <a:r>
              <a:t>Source: https://angular.dev/guide/components/lifecycle</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validateOrder and createOrderDraft are pure functions that require no injector. A class that calls inject must be constructed by Angular in a supported context. Node lessons exercise the pure helpers, not Angular component or service decorators.</a:t>
            </a:r>
          </a:p>
          <a:p xmlns:a="http://schemas.openxmlformats.org/drawingml/2006/main">
            <a:r>
              <a:t>Source: https://angular.dev/guide/di</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actual customerName FormControl uses the custom trimmedName validator. Both controls are nonNullable, so reset returns them to their initial empty strings. FormGroup defines the control names and ReactiveFormsModule connects [formGroup]/formControlName to the template.</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Show form.controls.customerName.value while typing. The reactive control owns its value. Use for/id labels. Do not combine ngModel with formControlName on the same input. Angular strict template checks help find missing control/template names.</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Type Gift wrap please. The form reads note with getRawValue. The control has no required validator, so an empty note is valid. The captured preview displays None for an empty trimmed note.</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Angular form directive handles default browser navigation through ngSubmit. A raw DOM submit handler without that directive would use preventDefault. novalidate disables native HTML constraint validation, while explicit reactive validators still run. The enabled button lets learners see friendly error messages.</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 validator returns null when valid and a ValidationErrors object when invalid. This trimmed two-character rule rejects blank/one-character values for the teaching example. It is not a universal rule for real names. validateOrder also checks that the cart is nonempty before creating a draft.</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full submit method first marks all controls touched, then gets typed values, calls the helper, sets the message and returns early on error or an invalid form. A previous valid snapshot may remain after a failed later attempt, clearly labelled as its earlier captured data.</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name input uses aria-required, aria-invalid and aria-describedby. An empty-cart error does not mark the name invalid. Reactive controls also expose touched/dirty/invalid state. For the city exercise, associate city-specific feedback with the city input.</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OrderDraft documents submitted values. map creates a new array and new item objects rather than storing a reference to the editable cart. reduce computes the snapshot total. Notebook ₹80 plus Bag ₹500 equals ₹580, with no delivery charge or tax calculation in this practice app.</a:t>
            </a:r>
          </a:p>
          <a:p xmlns:a="http://schemas.openxmlformats.org/drawingml/2006/main">
            <a:r>
              <a:t>Source: https://developer.mozilla.org/en-US/docs/Web/JavaScript/Guide</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real preview uses CurrencyPipe, the submitted name/note and a tracked item list. The message explicitly says no order has been placed. Standard interpolation treats user text as text; do not use raw HTML to display delivery notes.</a:t>
            </a:r>
          </a:p>
          <a:p xmlns:a="http://schemas.openxmlformats.org/drawingml/2006/main">
            <a:r>
              <a:t>Source: https://angular.dev/guide/templates/control-flow</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Demo: preview Notebook+Bag at ₹580, remove Notebook and observe current cart ₹500 but snapshot ₹580. Submit again and observe preview ₹500. This illustrates deliberate captured data, not React render timing.</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nonNullable controls reset to the initial empty strings. Reset also clears error and draft. Its button uses type=button, so it does not submit. The current App cart remains selected. Page reload resets all app memory and starts loading again.</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Check empty cart, spaces-only and one-character names, trimming, optional note, keyboard Enter, stock guards, filters, current-cart versus snapshot behavior, reset isolation and reload. Check HTTP error/Retry and a narrow viewport too.</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Angular build writes browser files under dist/product-catalog/browser, including the public JSON resource. A local static server checks that output; it does not publish a site. This app uses hash routing for its optional route demo so the static preview needs no path fallback. Production hosting and asset subpaths need their own configuration.</a:t>
            </a:r>
          </a:p>
          <a:p xmlns:a="http://schemas.openxmlformats.org/drawingml/2006/main">
            <a:r>
              <a:t>Source: https://angular.dev/tools/cli/deployment</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 minute(s).</a:t>
            </a:r>
          </a:p>
          <a:p xmlns:a="http://schemas.openxmlformats.org/drawingml/2006/main">
            <a:r>
              <a:t>Show the actual Angular browser screenshot with fictional Demo Customer and Gift wrap please. Trace cart inputs, reactive controls, the trimmed-name validator, pure draft helper and conditional preview. The app does not send an order or payment.</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Run npm run check:day-five. Read App, CatalogStore, ProductService, OrderForm and order-draft.ts. The Node example uses the static product dataset for isolated pure helpers, while the live app fetches JSON. A course-reference route is implemented below the persistent catalog shell.</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 minute(s).</a:t>
            </a:r>
          </a:p>
          <a:p xmlns:a="http://schemas.openxmlformats.org/drawingml/2006/main">
            <a:r>
              <a:t>Learner task: add a nonNullable city control with trimmed required validation, pass it to the helper, extend OrderDraft, render it and reset it. Blank city must block, Kolkata must appear, reset must clear, and Notebook+Bag must still total ₹580. Add city-specific accessible feedback. The starter leaves this feature for learners.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A missing ReactiveFormsModule breaks form directives. A mismatched formControlName cannot connect to the group. Keep reactive controls separate from ngModel. Provider scope controls service sharing. Pure helpers need no DI. A local preview never implies an actual placed order.</a:t>
            </a:r>
          </a:p>
          <a:p xmlns:a="http://schemas.openxmlformats.org/drawingml/2006/main">
            <a:r>
              <a:t>Source: https://angular.dev/guide/forms/reactive-forms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Answers: 1 Provider scope. 2 A named reactive control. 3 Validators plus the helper message and early return. 4 Items and total were copied at submission time. 5 No, ng build writes local files. Also compare raw preventDefault with Angular ngSubmit.</a:t>
            </a:r>
          </a:p>
          <a:p xmlns:a="http://schemas.openxmlformats.org/drawingml/2006/main">
            <a:r>
              <a:t>Source: https://angular.dev/guide/di</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Homework: store maximum-price input text in a signal, treat blank as no limit, validate before Number and compute the matches. At ₹100, Notebook and Pen appear before applying stock. Explain the whole app and practise request errors. The official TCS syllabus has not been supplied; certification follows official requirements.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Read app.routes.ts. The first match wins and wildcard belongs last. The root path uses pathMatch full. The catalog/cart stay mounted above RouterOutlet, so their state survives navigation. withHashLocation supports the simple static-build preview.</a:t>
            </a:r>
          </a:p>
          <a:p xmlns:a="http://schemas.openxmlformats.org/drawingml/2006/main">
            <a:r>
              <a:t>Source: https://angular.dev/guide/routing/define-routes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The Day 5 project implements RouterLink to the courses route and RouterOutlet below the catalog shell. Import both in the standalone App and register provideRouter(routes, withHashLocation()) in main.ts. Navigation shows the course references without reloading the app.</a:t>
            </a:r>
          </a:p>
          <a:p xmlns:a="http://schemas.openxmlformats.org/drawingml/2006/main">
            <a:r>
              <a:t>Source: https://angular.dev/guide/routing/show-routes-with-outlets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This is a future extension example. A product-detail file and parameterized route are not included in the beginner starter. ActivatedRoute can read the parameter, and loadComponent can import a page lazily. Explain the URL/resource relation before implementing it.</a:t>
            </a:r>
          </a:p>
          <a:p xmlns:a="http://schemas.openxmlformats.org/drawingml/2006/main">
            <a:r>
              <a:t>Source: https://angular.dev/guide/routing/define-routes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Guards control browser route navigation; they do not secure a backend. Interceptors can add headers or handle request/response behavior centrally. Real authorization and validation belong on the server too. Do not place secret API keys in a browser bundle. This is reference coverage rather than a live auth implementation.</a:t>
            </a:r>
          </a:p>
          <a:p xmlns:a="http://schemas.openxmlformats.org/drawingml/2006/main">
            <a:r>
              <a:t>Source: https://angular.dev/guide/http/interceptors</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 minute(s). Optional reference after class.</a:t>
            </a:r>
          </a:p>
          <a:p xmlns:a="http://schemas.openxmlformats.org/drawingml/2006/main">
            <a:r>
              <a:t>The delivered examples include runnable helper checks and full browser interaction checks. Angular TestBed and HttpTestingController are next-step testing tools. They are explained without claiming an unconfigured npm test script exists. Hash routing works with the simple static server; path routing needs a server fallback.</a:t>
            </a:r>
          </a:p>
          <a:p xmlns:a="http://schemas.openxmlformats.org/drawingml/2006/main">
            <a:r>
              <a:t>Source: https://angular.dev/guide/http/testing</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minute(s).</a:t>
            </a:r>
          </a:p>
          <a:p xmlns:a="http://schemas.openxmlformats.org/drawingml/2006/main">
            <a:r>
              <a:t>The two course IDs 75214 and 62104 were supplied by Subha Prasad. Course titles, portal links and deadlines were not supplied. Check the internal learning portal. Close with questions and continued practice, without promising certification.</a:t>
            </a:r>
          </a:p>
          <a:p xmlns:a="http://schemas.openxmlformats.org/drawingml/2006/main">
            <a:r>
              <a:t>Code blocks are excerpts unless they show a complete component.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4019f6ed8448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21dfc54cba42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80b1c8db654c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be46ee5a9845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86493a066348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f82213e8f94c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0A31C8-5CD1-4964-874A-69C50F8C5F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9439DD-B815-4D4D-A727-69E1A8D789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276578-A3AD-418F-B8A3-B496C440B6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F8F829-72B4-4A78-8283-8014F1F349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0531E1-0AA5-4516-BB9B-7CB2FB0CE6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B85F77-1196-4DDD-8A4C-FC049C8D78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98E8F8-55DD-440F-87A2-6ADA79CF0D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91927E-75BF-4EB6-85A6-BA823D97A1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84519-9854-4D93-8634-A543E8A659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4F4638-B2BB-473B-88B8-0DDDE3A0F1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6faae43ba740fc" /><Relationship Type="http://schemas.openxmlformats.org/officeDocument/2006/relationships/slideLayout" Target="/ppt/slideLayouts/slideLayout1.xml" Id="R0e184cdc67d14c0b" /><Relationship Type="http://schemas.openxmlformats.org/officeDocument/2006/relationships/slideLayout" Target="/ppt/slideLayouts/slideLayout2.xml" Id="Rf664012740ca45d5" /><Relationship Type="http://schemas.openxmlformats.org/officeDocument/2006/relationships/slideLayout" Target="/ppt/slideLayouts/slideLayout3.xml" Id="Rb026e4ee1a4d40af" /><Relationship Type="http://schemas.openxmlformats.org/officeDocument/2006/relationships/slideLayout" Target="/ppt/slideLayouts/slideLayout4.xml" Id="R079c17ec4cb44ee3" /><Relationship Type="http://schemas.openxmlformats.org/officeDocument/2006/relationships/slideLayout" Target="/ppt/slideLayouts/slideLayout5.xml" Id="R79ffb2258d0046f1" /><Relationship Type="http://schemas.openxmlformats.org/officeDocument/2006/relationships/slideLayout" Target="/ppt/slideLayouts/slideLayout6.xml" Id="Raf13d0ba36b04d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184cdc67d14c0b"/>
    <p:sldLayoutId xmlns:r="http://schemas.openxmlformats.org/officeDocument/2006/relationships" id="2147483650" r:id="Rf664012740ca45d5"/>
    <p:sldLayoutId xmlns:r="http://schemas.openxmlformats.org/officeDocument/2006/relationships" id="2147483651" r:id="Rb026e4ee1a4d40af"/>
    <p:sldLayoutId xmlns:r="http://schemas.openxmlformats.org/officeDocument/2006/relationships" id="2147483652" r:id="R079c17ec4cb44ee3"/>
    <p:sldLayoutId xmlns:r="http://schemas.openxmlformats.org/officeDocument/2006/relationships" id="2147483653" r:id="R79ffb2258d0046f1"/>
    <p:sldLayoutId xmlns:r="http://schemas.openxmlformats.org/officeDocument/2006/relationships" id="2147483654" r:id="Raf13d0ba36b04d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e12f5f36e84e1f" /><Relationship Type="http://schemas.openxmlformats.org/officeDocument/2006/relationships/image" Target="/ppt/media/image.png" Id="R4654edc8c77646e3" /><Relationship Type="http://schemas.openxmlformats.org/officeDocument/2006/relationships/notesSlide" Target="/ppt/notesSlides/notesSlide1.xml" Id="R2c4427c5cced42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f2a963e9d14ed7" /><Relationship Type="http://schemas.openxmlformats.org/officeDocument/2006/relationships/notesSlide" Target="/ppt/notesSlides/notesSlide2.xml" Id="R2c92239bc06b41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2843261ef94216" /><Relationship Type="http://schemas.openxmlformats.org/officeDocument/2006/relationships/notesSlide" Target="/ppt/notesSlides/notesSlide3.xml" Id="R3f8f97cb61f345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e08a235a72443d" /><Relationship Type="http://schemas.openxmlformats.org/officeDocument/2006/relationships/notesSlide" Target="/ppt/notesSlides/notesSlide4.xml" Id="Rf21a036b20f147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57fb974bb644a8" /><Relationship Type="http://schemas.openxmlformats.org/officeDocument/2006/relationships/notesSlide" Target="/ppt/notesSlides/notesSlide5.xml" Id="R0b3234acf27b47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10740b14b1245a6" /><Relationship Type="http://schemas.openxmlformats.org/officeDocument/2006/relationships/notesSlide" Target="/ppt/notesSlides/notesSlide6.xml" Id="Ree0519f407c444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dc7c1568144db2" /><Relationship Type="http://schemas.openxmlformats.org/officeDocument/2006/relationships/notesSlide" Target="/ppt/notesSlides/notesSlide7.xml" Id="R4d5d6632deda42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0c2d98c3d74c46" /><Relationship Type="http://schemas.openxmlformats.org/officeDocument/2006/relationships/notesSlide" Target="/ppt/notesSlides/notesSlide8.xml" Id="R6961ad720ae949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f83eb66d9f24cd1" /><Relationship Type="http://schemas.openxmlformats.org/officeDocument/2006/relationships/notesSlide" Target="/ppt/notesSlides/notesSlide9.xml" Id="Redddaf2974f94f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119385f943441c" /><Relationship Type="http://schemas.openxmlformats.org/officeDocument/2006/relationships/notesSlide" Target="/ppt/notesSlides/notesSlide10.xml" Id="Re38102c9b60947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92ac269b4c343d5" /><Relationship Type="http://schemas.openxmlformats.org/officeDocument/2006/relationships/notesSlide" Target="/ppt/notesSlides/notesSlide11.xml" Id="Re4d57a91743244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1f900fb545d4e92" /><Relationship Type="http://schemas.openxmlformats.org/officeDocument/2006/relationships/notesSlide" Target="/ppt/notesSlides/notesSlide12.xml" Id="R363b72fc09e244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18a4285d3b4084" /><Relationship Type="http://schemas.openxmlformats.org/officeDocument/2006/relationships/notesSlide" Target="/ppt/notesSlides/notesSlide13.xml" Id="Rdb39a5e482a745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55185f4635d40bb" /><Relationship Type="http://schemas.openxmlformats.org/officeDocument/2006/relationships/notesSlide" Target="/ppt/notesSlides/notesSlide14.xml" Id="R2259b1f42f0a44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0fd5d0a853f480d" /><Relationship Type="http://schemas.openxmlformats.org/officeDocument/2006/relationships/notesSlide" Target="/ppt/notesSlides/notesSlide15.xml" Id="R970dea59494a4e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7208c6dda4143bf" /><Relationship Type="http://schemas.openxmlformats.org/officeDocument/2006/relationships/notesSlide" Target="/ppt/notesSlides/notesSlide16.xml" Id="R399d5536262247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4181321e2624156" /><Relationship Type="http://schemas.openxmlformats.org/officeDocument/2006/relationships/notesSlide" Target="/ppt/notesSlides/notesSlide17.xml" Id="R81cbeaa1271a4fd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f5abc551aa84f24" /><Relationship Type="http://schemas.openxmlformats.org/officeDocument/2006/relationships/notesSlide" Target="/ppt/notesSlides/notesSlide18.xml" Id="R3f45309a62e445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51385c29100442c" /><Relationship Type="http://schemas.openxmlformats.org/officeDocument/2006/relationships/notesSlide" Target="/ppt/notesSlides/notesSlide19.xml" Id="R291d8c94968a429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88c92c505ad4faf" /><Relationship Type="http://schemas.openxmlformats.org/officeDocument/2006/relationships/notesSlide" Target="/ppt/notesSlides/notesSlide20.xml" Id="R754ba97a86254b0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8afbe9205884191" /><Relationship Type="http://schemas.openxmlformats.org/officeDocument/2006/relationships/notesSlide" Target="/ppt/notesSlides/notesSlide21.xml" Id="Ra41e30f00742456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cd33fff66334d49" /><Relationship Type="http://schemas.openxmlformats.org/officeDocument/2006/relationships/notesSlide" Target="/ppt/notesSlides/notesSlide22.xml" Id="R473e9028a428481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145a0be92e547c5" /><Relationship Type="http://schemas.openxmlformats.org/officeDocument/2006/relationships/notesSlide" Target="/ppt/notesSlides/notesSlide23.xml" Id="R0b3e4f947513421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005f4077dde4ec8" /><Relationship Type="http://schemas.openxmlformats.org/officeDocument/2006/relationships/image" Target="/ppt/media/image2.png" Id="Rf5796315726840a4" /><Relationship Type="http://schemas.openxmlformats.org/officeDocument/2006/relationships/notesSlide" Target="/ppt/notesSlides/notesSlide24.xml" Id="R4afba71f4d2b498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28b107dd1da4d1e" /><Relationship Type="http://schemas.openxmlformats.org/officeDocument/2006/relationships/notesSlide" Target="/ppt/notesSlides/notesSlide25.xml" Id="Rae5b758bc75d444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2f305a3f3d743a3" /><Relationship Type="http://schemas.openxmlformats.org/officeDocument/2006/relationships/notesSlide" Target="/ppt/notesSlides/notesSlide26.xml" Id="R0245137a32e34db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79915b09248454f" /><Relationship Type="http://schemas.openxmlformats.org/officeDocument/2006/relationships/notesSlide" Target="/ppt/notesSlides/notesSlide27.xml" Id="R19b76d59fd124ea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32afb07c6364517" /><Relationship Type="http://schemas.openxmlformats.org/officeDocument/2006/relationships/notesSlide" Target="/ppt/notesSlides/notesSlide28.xml" Id="R749470912cae49d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b56ef37b3594abe" /><Relationship Type="http://schemas.openxmlformats.org/officeDocument/2006/relationships/notesSlide" Target="/ppt/notesSlides/notesSlide29.xml" Id="Rb17bf219c463432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0039c09f4924537" /><Relationship Type="http://schemas.openxmlformats.org/officeDocument/2006/relationships/notesSlide" Target="/ppt/notesSlides/notesSlide30.xml" Id="Rcae0a7f132c74ce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a699b357e04443e" /><Relationship Type="http://schemas.openxmlformats.org/officeDocument/2006/relationships/notesSlide" Target="/ppt/notesSlides/notesSlide31.xml" Id="Raa8d91f4edf2499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2758293cc6d475c" /><Relationship Type="http://schemas.openxmlformats.org/officeDocument/2006/relationships/notesSlide" Target="/ppt/notesSlides/notesSlide32.xml" Id="R496bdca0e5a34f0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f26a0fe89074298" /><Relationship Type="http://schemas.openxmlformats.org/officeDocument/2006/relationships/notesSlide" Target="/ppt/notesSlides/notesSlide33.xml" Id="R52e40199b8f1454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85b18b8196e4d0e" /><Relationship Type="http://schemas.openxmlformats.org/officeDocument/2006/relationships/notesSlide" Target="/ppt/notesSlides/notesSlide34.xml" Id="Rabc5035ce4cf4e1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3e38010c56b4fe6" /><Relationship Type="http://schemas.openxmlformats.org/officeDocument/2006/relationships/notesSlide" Target="/ppt/notesSlides/notesSlide35.xml" Id="R4287ea44b0754876" /></Relationships>
</file>

<file path=ppt/slides/slide1.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2D5DF3-D13A-419E-97D1-696D40A8F4A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DD9342A3-A7F2-4674-98DC-1EBFFE46F6DB}"/>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Angular · Day Five</a:t>
            </a:r>
          </a:p>
        </p:txBody>
      </p:sp>
      <p:pic>
        <p:nvPicPr>
          <p:cNvPr id="3" name="">
            <a:extLst xmlns:a="http://schemas.openxmlformats.org/drawingml/2006/main">
              <a:ext uri="{FF2B5EF4-FFF2-40B4-BE49-F238E27FC236}">
                <a16:creationId xmlns:a16="http://schemas.microsoft.com/office/drawing/2014/main" id="{8D3F269A-E6D8-4DBC-B8B2-A93CD38BD2A6}"/>
              </a:ext>
            </a:extLst>
          </p:cNvPr>
          <p:cNvPicPr>
            <a:picLocks xmlns:a="http://schemas.openxmlformats.org/drawingml/2006/main" noChangeAspect="1"/>
          </p:cNvPicPr>
          <p:nvPr/>
        </p:nvPicPr>
        <p:blipFill>
          <a:blip xmlns:r="http://schemas.openxmlformats.org/officeDocument/2006/relationships" xmlns:a="http://schemas.openxmlformats.org/drawingml/2006/main" r:embed="R4654edc8c77646e3"/>
          <a:stretch xmlns:a="http://schemas.openxmlformats.org/drawingml/2006/main"/>
        </p:blipFill>
        <p:spPr>
          <a:xfrm xmlns:a="http://schemas.openxmlformats.org/drawingml/2006/main">
            <a:off x="6477000" y="2000250"/>
            <a:ext cx="5143500"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0F5068-DE6F-48CF-975A-BDB860453FEF}"/>
              </a:ext>
            </a:extLst>
          </p:cNvPr>
          <p:cNvSpPr>
            <a:spLocks xmlns:a="http://schemas.openxmlformats.org/drawingml/2006/main" noGrp="1"/>
          </p:cNvSpPr>
          <p:nvPr/>
        </p:nvSpPr>
        <p:spPr>
          <a:xfrm xmlns:a="http://schemas.openxmlformats.org/drawingml/2006/main">
            <a:off x="609600" y="2381250"/>
            <a:ext cx="5524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FFFFFF"/>
                </a:solidFill>
                <a:latin typeface="Arial"/>
                <a:ea typeface="Arial"/>
                <a:cs typeface="Arial"/>
              </a:defRPr>
            </a:defPPr>
          </a:lstStyle>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Reactive forms and the final Product Catalog mini-project</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Subha Prasad</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16 October 2026 · 10:00–11:00 AM IST</a:t>
            </a:r>
          </a:p>
        </p:txBody>
      </p:sp>
      <p:sp>
        <p:nvSpPr>
          <p:cNvPr id="5" name="">
            <a:extLst xmlns:a="http://schemas.openxmlformats.org/drawingml/2006/main">
              <a:ext uri="{FF2B5EF4-FFF2-40B4-BE49-F238E27FC236}">
                <a16:creationId xmlns:a16="http://schemas.microsoft.com/office/drawing/2014/main" id="{BDF161D8-C431-44C2-A233-9AE555C0A8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01</a:t>
            </a:r>
          </a:p>
        </p:txBody>
      </p:sp>
    </p:spTree>
    <p:extLst>
      <p:ext uri="{BB962C8B-B14F-4D97-AF65-F5344CB8AC3E}">
        <p14:creationId xmlns:p14="http://schemas.microsoft.com/office/powerpoint/2010/main" val="1290946295"/>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902359-B515-4EDF-BE4D-3279090F137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180E0FD1-2501-4553-8272-34E151EE01D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Today’s learning goals</a:t>
            </a:r>
          </a:p>
        </p:txBody>
      </p:sp>
      <p:sp>
        <p:nvSpPr>
          <p:cNvPr id="3" name="">
            <a:extLst xmlns:a="http://schemas.openxmlformats.org/drawingml/2006/main">
              <a:ext uri="{FF2B5EF4-FFF2-40B4-BE49-F238E27FC236}">
                <a16:creationId xmlns:a16="http://schemas.microsoft.com/office/drawing/2014/main" id="{5791B254-7018-413B-9C81-A04FFCD4A71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Extract request state into a scoped service.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Validate a reactive form.</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Capture a practice order snapshot.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Explain the complete five-day application.</a:t>
            </a:r>
          </a:p>
        </p:txBody>
      </p:sp>
      <p:sp>
        <p:nvSpPr>
          <p:cNvPr id="4" name="">
            <a:extLst xmlns:a="http://schemas.openxmlformats.org/drawingml/2006/main">
              <a:ext uri="{FF2B5EF4-FFF2-40B4-BE49-F238E27FC236}">
                <a16:creationId xmlns:a16="http://schemas.microsoft.com/office/drawing/2014/main" id="{22D656D2-8905-4072-9EDB-C4101DA6CFE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02</a:t>
            </a:r>
          </a:p>
        </p:txBody>
      </p:sp>
    </p:spTree>
    <p:extLst>
      <p:ext uri="{BB962C8B-B14F-4D97-AF65-F5344CB8AC3E}">
        <p14:creationId xmlns:p14="http://schemas.microsoft.com/office/powerpoint/2010/main" val="111436435"/>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66D8BB-634E-417B-AD20-D1F6A18A9CB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INDEX</a:t>
            </a:r>
          </a:p>
        </p:txBody>
      </p:sp>
      <p:sp>
        <p:nvSpPr>
          <p:cNvPr id="2" name="">
            <a:extLst xmlns:a="http://schemas.openxmlformats.org/drawingml/2006/main">
              <a:ext uri="{FF2B5EF4-FFF2-40B4-BE49-F238E27FC236}">
                <a16:creationId xmlns:a16="http://schemas.microsoft.com/office/drawing/2014/main" id="{33D191DE-2B55-400D-8416-B84C0737ADD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5 topic index</a:t>
            </a:r>
          </a:p>
        </p:txBody>
      </p:sp>
      <p:sp>
        <p:nvSpPr>
          <p:cNvPr id="3" name="">
            <a:extLst xmlns:a="http://schemas.openxmlformats.org/drawingml/2006/main">
              <a:ext uri="{FF2B5EF4-FFF2-40B4-BE49-F238E27FC236}">
                <a16:creationId xmlns:a16="http://schemas.microsoft.com/office/drawing/2014/main" id="{A3FB8FBD-6CA3-4927-97CE-697737DE2D9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01  Recap and project responsibilities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02  A reusable CatalogStore service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03  Reactive forms and validation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04  Preview, reset, build and hands-on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05  Quiz, reference topics and course IDs</a:t>
            </a:r>
          </a:p>
        </p:txBody>
      </p:sp>
      <p:sp>
        <p:nvSpPr>
          <p:cNvPr id="4" name="">
            <a:extLst xmlns:a="http://schemas.openxmlformats.org/drawingml/2006/main">
              <a:ext uri="{FF2B5EF4-FFF2-40B4-BE49-F238E27FC236}">
                <a16:creationId xmlns:a16="http://schemas.microsoft.com/office/drawing/2014/main" id="{A7E62495-F70D-4F21-8747-BB779AA40E1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03</a:t>
            </a:r>
          </a:p>
        </p:txBody>
      </p:sp>
    </p:spTree>
    <p:extLst>
      <p:ext uri="{BB962C8B-B14F-4D97-AF65-F5344CB8AC3E}">
        <p14:creationId xmlns:p14="http://schemas.microsoft.com/office/powerpoint/2010/main" val="238954120"/>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054798-D866-47B4-9B04-240BC61AF67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RECAP</a:t>
            </a:r>
          </a:p>
        </p:txBody>
      </p:sp>
      <p:sp>
        <p:nvSpPr>
          <p:cNvPr id="2" name="">
            <a:extLst xmlns:a="http://schemas.openxmlformats.org/drawingml/2006/main">
              <a:ext uri="{FF2B5EF4-FFF2-40B4-BE49-F238E27FC236}">
                <a16:creationId xmlns:a16="http://schemas.microsoft.com/office/drawing/2014/main" id="{3C68D7CE-5B7B-4847-9753-7FCBDD6416A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Our five-day learning path</a:t>
            </a:r>
          </a:p>
        </p:txBody>
      </p:sp>
      <p:sp>
        <p:nvSpPr>
          <p:cNvPr id="3" name="">
            <a:extLst xmlns:a="http://schemas.openxmlformats.org/drawingml/2006/main">
              <a:ext uri="{FF2B5EF4-FFF2-40B4-BE49-F238E27FC236}">
                <a16:creationId xmlns:a16="http://schemas.microsoft.com/office/drawing/2014/main" id="{FEE58757-EB2D-45AB-96AC-121C4698A1C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1  JavaScript, TypeScript and templates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2  Inputs, projection, conditions and lists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3  Signals, events, filters and cart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4  DI, HTTP, Observables and request states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5  Reactive forms and final practice</a:t>
            </a:r>
          </a:p>
        </p:txBody>
      </p:sp>
      <p:sp>
        <p:nvSpPr>
          <p:cNvPr id="4" name="">
            <a:extLst xmlns:a="http://schemas.openxmlformats.org/drawingml/2006/main">
              <a:ext uri="{FF2B5EF4-FFF2-40B4-BE49-F238E27FC236}">
                <a16:creationId xmlns:a16="http://schemas.microsoft.com/office/drawing/2014/main" id="{DD819771-BAAB-4078-B292-FBCE1C6CFD5F}"/>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346435C4-9D94-429D-BCEB-6BE3014681C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3C2C9A4B-5985-4556-80DC-09B611FDBB9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04</a:t>
            </a:r>
          </a:p>
        </p:txBody>
      </p:sp>
    </p:spTree>
    <p:extLst>
      <p:ext uri="{BB962C8B-B14F-4D97-AF65-F5344CB8AC3E}">
        <p14:creationId xmlns:p14="http://schemas.microsoft.com/office/powerpoint/2010/main" val="297570866"/>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A9EF56-C100-4CB6-8E1B-AE748E05984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PROJECT</a:t>
            </a:r>
          </a:p>
        </p:txBody>
      </p:sp>
      <p:sp>
        <p:nvSpPr>
          <p:cNvPr id="2" name="">
            <a:extLst xmlns:a="http://schemas.openxmlformats.org/drawingml/2006/main">
              <a:ext uri="{FF2B5EF4-FFF2-40B4-BE49-F238E27FC236}">
                <a16:creationId xmlns:a16="http://schemas.microsoft.com/office/drawing/2014/main" id="{3F6C086B-EAAE-4892-96B0-D44AF3BB704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The complete user flow</a:t>
            </a:r>
          </a:p>
        </p:txBody>
      </p:sp>
      <p:sp>
        <p:nvSpPr>
          <p:cNvPr id="3" name="">
            <a:extLst xmlns:a="http://schemas.openxmlformats.org/drawingml/2006/main">
              <a:ext uri="{FF2B5EF4-FFF2-40B4-BE49-F238E27FC236}">
                <a16:creationId xmlns:a16="http://schemas.microsoft.com/office/drawing/2014/main" id="{5E8F19E9-4F1B-46E5-9735-DA491087C234}"/>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Load JSON products.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Search and select in-stock items.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Enter a fictional name and optional note.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Preview the selected items and total.</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Reset or create another snapshot.</a:t>
            </a:r>
          </a:p>
        </p:txBody>
      </p:sp>
      <p:sp>
        <p:nvSpPr>
          <p:cNvPr id="4" name="">
            <a:extLst xmlns:a="http://schemas.openxmlformats.org/drawingml/2006/main">
              <a:ext uri="{FF2B5EF4-FFF2-40B4-BE49-F238E27FC236}">
                <a16:creationId xmlns:a16="http://schemas.microsoft.com/office/drawing/2014/main" id="{DCBE7ED0-9206-4350-AFBA-D077AE5E686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C1172C25-7686-445A-8F8C-F92C8952248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BE01FE80-71B1-47DA-9C92-1309BDA273E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05</a:t>
            </a:r>
          </a:p>
        </p:txBody>
      </p:sp>
    </p:spTree>
    <p:extLst>
      <p:ext uri="{BB962C8B-B14F-4D97-AF65-F5344CB8AC3E}">
        <p14:creationId xmlns:p14="http://schemas.microsoft.com/office/powerpoint/2010/main" val="564781948"/>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AF1910-4B6D-4156-B098-FEBCEA62CE6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BCE89963-B76F-4CFF-96A1-BF4CC593045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Component and service responsibilities</a:t>
            </a:r>
          </a:p>
        </p:txBody>
      </p:sp>
      <p:sp>
        <p:nvSpPr>
          <p:cNvPr id="3" name="">
            <a:extLst xmlns:a="http://schemas.openxmlformats.org/drawingml/2006/main">
              <a:ext uri="{FF2B5EF4-FFF2-40B4-BE49-F238E27FC236}">
                <a16:creationId xmlns:a16="http://schemas.microsoft.com/office/drawing/2014/main" id="{744798B9-3C29-463E-A7E8-A1EE6593299A}"/>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App owns the shared cart and filters.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CatalogStore owns request state and cleanup.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OrderForm owns reactive controls and preview.</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Display components receive inputs.</a:t>
            </a:r>
          </a:p>
        </p:txBody>
      </p:sp>
      <p:sp>
        <p:nvSpPr>
          <p:cNvPr id="4" name="">
            <a:extLst xmlns:a="http://schemas.openxmlformats.org/drawingml/2006/main">
              <a:ext uri="{FF2B5EF4-FFF2-40B4-BE49-F238E27FC236}">
                <a16:creationId xmlns:a16="http://schemas.microsoft.com/office/drawing/2014/main" id="{AEAD2ED8-A065-4126-B1AC-0B4C242CE2F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&lt;app-order-form [cart]="cart()" /&gt;</a:t>
            </a:r>
          </a:p>
        </p:txBody>
      </p:sp>
      <p:sp>
        <p:nvSpPr>
          <p:cNvPr id="5" name="">
            <a:extLst xmlns:a="http://schemas.openxmlformats.org/drawingml/2006/main">
              <a:ext uri="{FF2B5EF4-FFF2-40B4-BE49-F238E27FC236}">
                <a16:creationId xmlns:a16="http://schemas.microsoft.com/office/drawing/2014/main" id="{7B8EB337-D985-4DA4-9B9A-415AC135FCF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State stays with its relevant owner</a:t>
            </a:r>
          </a:p>
        </p:txBody>
      </p:sp>
      <p:sp>
        <p:nvSpPr>
          <p:cNvPr id="6" name="">
            <a:extLst xmlns:a="http://schemas.openxmlformats.org/drawingml/2006/main">
              <a:ext uri="{FF2B5EF4-FFF2-40B4-BE49-F238E27FC236}">
                <a16:creationId xmlns:a16="http://schemas.microsoft.com/office/drawing/2014/main" id="{B49A5B32-87A0-4DEC-A105-CAF51697C72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06</a:t>
            </a:r>
          </a:p>
        </p:txBody>
      </p:sp>
    </p:spTree>
    <p:extLst>
      <p:ext uri="{BB962C8B-B14F-4D97-AF65-F5344CB8AC3E}">
        <p14:creationId xmlns:p14="http://schemas.microsoft.com/office/powerpoint/2010/main" val="187485302"/>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87D285-8DFC-45AB-97A4-916D239CAC1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A5DD54DE-4922-4AA3-8ACE-E76D7BE3823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Reusable stateful logic in a service</a:t>
            </a:r>
          </a:p>
        </p:txBody>
      </p:sp>
      <p:sp>
        <p:nvSpPr>
          <p:cNvPr id="3" name="">
            <a:extLst xmlns:a="http://schemas.openxmlformats.org/drawingml/2006/main">
              <a:ext uri="{FF2B5EF4-FFF2-40B4-BE49-F238E27FC236}">
                <a16:creationId xmlns:a16="http://schemas.microsoft.com/office/drawing/2014/main" id="{87F231C6-F917-436C-BC61-25CA509205C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service groups request logic and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inject obtains the provided instance.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provider scope determines sharing.</a:t>
            </a:r>
          </a:p>
        </p:txBody>
      </p:sp>
      <p:sp>
        <p:nvSpPr>
          <p:cNvPr id="4" name="">
            <a:extLst xmlns:a="http://schemas.openxmlformats.org/drawingml/2006/main">
              <a:ext uri="{FF2B5EF4-FFF2-40B4-BE49-F238E27FC236}">
                <a16:creationId xmlns:a16="http://schemas.microsoft.com/office/drawing/2014/main" id="{C5D26CF6-B69C-4611-AC7C-B9CFEAAFA87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@Component({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providers: [CatalogStore],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other metadata</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private store = inject(CatalogStore);</a:t>
            </a:r>
          </a:p>
        </p:txBody>
      </p:sp>
      <p:sp>
        <p:nvSpPr>
          <p:cNvPr id="5" name="">
            <a:extLst xmlns:a="http://schemas.openxmlformats.org/drawingml/2006/main">
              <a:ext uri="{FF2B5EF4-FFF2-40B4-BE49-F238E27FC236}">
                <a16:creationId xmlns:a16="http://schemas.microsoft.com/office/drawing/2014/main" id="{70D86EAC-8E65-41E2-AB93-BA4959E06A0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Each App instance owns a separate store</a:t>
            </a:r>
          </a:p>
        </p:txBody>
      </p:sp>
      <p:sp>
        <p:nvSpPr>
          <p:cNvPr id="6" name="">
            <a:extLst xmlns:a="http://schemas.openxmlformats.org/drawingml/2006/main">
              <a:ext uri="{FF2B5EF4-FFF2-40B4-BE49-F238E27FC236}">
                <a16:creationId xmlns:a16="http://schemas.microsoft.com/office/drawing/2014/main" id="{987B4E58-ADE0-46B6-8B5B-42365930E9E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07</a:t>
            </a:r>
          </a:p>
        </p:txBody>
      </p:sp>
    </p:spTree>
    <p:extLst>
      <p:ext uri="{BB962C8B-B14F-4D97-AF65-F5344CB8AC3E}">
        <p14:creationId xmlns:p14="http://schemas.microsoft.com/office/powerpoint/2010/main" val="436325472"/>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E02E84-4724-4929-9D6B-0D6409F6CDE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DA69E5FF-1A47-430A-A6A5-18F07E1BD41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Extracting the Day 4 request logic</a:t>
            </a:r>
          </a:p>
        </p:txBody>
      </p:sp>
      <p:sp>
        <p:nvSpPr>
          <p:cNvPr id="3" name="">
            <a:extLst xmlns:a="http://schemas.openxmlformats.org/drawingml/2006/main">
              <a:ext uri="{FF2B5EF4-FFF2-40B4-BE49-F238E27FC236}">
                <a16:creationId xmlns:a16="http://schemas.microsoft.com/office/drawing/2014/main" id="{A113AD51-FB15-4713-B7E3-2AAB46CF0C8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Move products, status and error signals.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Move request/cancellation logic.</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Expose a load method and readable state.</a:t>
            </a:r>
          </a:p>
        </p:txBody>
      </p:sp>
      <p:sp>
        <p:nvSpPr>
          <p:cNvPr id="4" name="">
            <a:extLst xmlns:a="http://schemas.openxmlformats.org/drawingml/2006/main">
              <a:ext uri="{FF2B5EF4-FFF2-40B4-BE49-F238E27FC236}">
                <a16:creationId xmlns:a16="http://schemas.microsoft.com/office/drawing/2014/main" id="{79CC9FDC-ED82-417A-8B6B-8198BA31B0B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0">
                <a:solidFill>
                  <a:srgbClr val="087B80"/>
                </a:solidFill>
                <a:latin typeface="Consolas"/>
                <a:ea typeface="Consolas"/>
                <a:cs typeface="Consolas"/>
              </a:defRPr>
            </a:defPPr>
          </a:lstStyle>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@Injectable()</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export class CatalogStore {</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readonly products = signal&lt;Product[]&gt;([]);</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readonly status = signal("loading");</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load() { /* Day 4 request logic */ }</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E3F8D979-E2DB-4F6E-8CE5-4AAFF8A8819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App delegates loading to the injected store</a:t>
            </a:r>
          </a:p>
        </p:txBody>
      </p:sp>
      <p:sp>
        <p:nvSpPr>
          <p:cNvPr id="6" name="">
            <a:extLst xmlns:a="http://schemas.openxmlformats.org/drawingml/2006/main">
              <a:ext uri="{FF2B5EF4-FFF2-40B4-BE49-F238E27FC236}">
                <a16:creationId xmlns:a16="http://schemas.microsoft.com/office/drawing/2014/main" id="{A98CB27F-BA14-419F-9693-6C2D23A6822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08</a:t>
            </a:r>
          </a:p>
        </p:txBody>
      </p:sp>
    </p:spTree>
    <p:extLst>
      <p:ext uri="{BB962C8B-B14F-4D97-AF65-F5344CB8AC3E}">
        <p14:creationId xmlns:p14="http://schemas.microsoft.com/office/powerpoint/2010/main" val="1941324740"/>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7B2C02-1904-4C64-A42E-AB044865199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8C3FB84A-9F63-454C-B58C-1664E42F90F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Request triggers after extraction</a:t>
            </a:r>
          </a:p>
        </p:txBody>
      </p:sp>
      <p:sp>
        <p:nvSpPr>
          <p:cNvPr id="3" name="">
            <a:extLst xmlns:a="http://schemas.openxmlformats.org/drawingml/2006/main">
              <a:ext uri="{FF2B5EF4-FFF2-40B4-BE49-F238E27FC236}">
                <a16:creationId xmlns:a16="http://schemas.microsoft.com/office/drawing/2014/main" id="{05B00082-E942-47E9-8387-E22BCC02AA9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ngOnInit starts the store’s initial load.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Retry calls load again.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component scope owns cleanup.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Search and cart do not reload the catalog.</a:t>
            </a:r>
          </a:p>
        </p:txBody>
      </p:sp>
      <p:sp>
        <p:nvSpPr>
          <p:cNvPr id="4" name="">
            <a:extLst xmlns:a="http://schemas.openxmlformats.org/drawingml/2006/main">
              <a:ext uri="{FF2B5EF4-FFF2-40B4-BE49-F238E27FC236}">
                <a16:creationId xmlns:a16="http://schemas.microsoft.com/office/drawing/2014/main" id="{38C07E32-30A5-4068-A3CD-53502425F21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ngOnInit() { this.store.load();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loadProducts() { this.store.load(); }</a:t>
            </a:r>
          </a:p>
        </p:txBody>
      </p:sp>
      <p:sp>
        <p:nvSpPr>
          <p:cNvPr id="5" name="">
            <a:extLst xmlns:a="http://schemas.openxmlformats.org/drawingml/2006/main">
              <a:ext uri="{FF2B5EF4-FFF2-40B4-BE49-F238E27FC236}">
                <a16:creationId xmlns:a16="http://schemas.microsoft.com/office/drawing/2014/main" id="{DF4E6E49-A873-4235-92B6-95D7FAA806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Explicit methods define request triggers</a:t>
            </a:r>
          </a:p>
        </p:txBody>
      </p:sp>
      <p:sp>
        <p:nvSpPr>
          <p:cNvPr id="6" name="">
            <a:extLst xmlns:a="http://schemas.openxmlformats.org/drawingml/2006/main">
              <a:ext uri="{FF2B5EF4-FFF2-40B4-BE49-F238E27FC236}">
                <a16:creationId xmlns:a16="http://schemas.microsoft.com/office/drawing/2014/main" id="{D554BC57-CAD2-40DE-93BE-3F5978736F0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09</a:t>
            </a:r>
          </a:p>
        </p:txBody>
      </p:sp>
    </p:spTree>
    <p:extLst>
      <p:ext uri="{BB962C8B-B14F-4D97-AF65-F5344CB8AC3E}">
        <p14:creationId xmlns:p14="http://schemas.microsoft.com/office/powerpoint/2010/main" val="823203504"/>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E33E6C-60CB-480D-B900-B06754725780}"/>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171A6E81-1A2E-45A1-8386-BCA4D226FF7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Services and plain helper functions</a:t>
            </a:r>
          </a:p>
        </p:txBody>
      </p:sp>
      <p:sp>
        <p:nvSpPr>
          <p:cNvPr id="3" name="">
            <a:extLst xmlns:a="http://schemas.openxmlformats.org/drawingml/2006/main">
              <a:ext uri="{FF2B5EF4-FFF2-40B4-BE49-F238E27FC236}">
                <a16:creationId xmlns:a16="http://schemas.microsoft.com/office/drawing/2014/main" id="{04DCE18A-64BA-47A9-9F76-415E65FA202F}"/>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CatalogStore uses injected dependencies.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validateOrder is an ordinary function.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createOrderDraft returns calculated data.</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Pure helpers can run in Node.</a:t>
            </a:r>
          </a:p>
        </p:txBody>
      </p:sp>
      <p:sp>
        <p:nvSpPr>
          <p:cNvPr id="4" name="">
            <a:extLst xmlns:a="http://schemas.openxmlformats.org/drawingml/2006/main">
              <a:ext uri="{FF2B5EF4-FFF2-40B4-BE49-F238E27FC236}">
                <a16:creationId xmlns:a16="http://schemas.microsoft.com/office/drawing/2014/main" id="{FB3E4F9F-08C4-402D-817C-2793F4DDB79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message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validateOrder(cart, customerName);</a:t>
            </a:r>
          </a:p>
        </p:txBody>
      </p:sp>
      <p:sp>
        <p:nvSpPr>
          <p:cNvPr id="5" name="">
            <a:extLst xmlns:a="http://schemas.openxmlformats.org/drawingml/2006/main">
              <a:ext uri="{FF2B5EF4-FFF2-40B4-BE49-F238E27FC236}">
                <a16:creationId xmlns:a16="http://schemas.microsoft.com/office/drawing/2014/main" id="{C973945B-FB28-4431-B1D3-6AC1222854F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pure helper needs no Angular injection</a:t>
            </a:r>
          </a:p>
        </p:txBody>
      </p:sp>
      <p:sp>
        <p:nvSpPr>
          <p:cNvPr id="6" name="">
            <a:extLst xmlns:a="http://schemas.openxmlformats.org/drawingml/2006/main">
              <a:ext uri="{FF2B5EF4-FFF2-40B4-BE49-F238E27FC236}">
                <a16:creationId xmlns:a16="http://schemas.microsoft.com/office/drawing/2014/main" id="{362348A6-2E3A-4DD2-A07C-4571FC40236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10</a:t>
            </a:r>
          </a:p>
        </p:txBody>
      </p:sp>
    </p:spTree>
    <p:extLst>
      <p:ext uri="{BB962C8B-B14F-4D97-AF65-F5344CB8AC3E}">
        <p14:creationId xmlns:p14="http://schemas.microsoft.com/office/powerpoint/2010/main" val="80206476"/>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70EC7-D4D2-4889-B02F-8731D264AF8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B2C09BC3-4065-4DF1-A411-0CF3E8A3F2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Typed reactive form controls</a:t>
            </a:r>
          </a:p>
        </p:txBody>
      </p:sp>
      <p:sp>
        <p:nvSpPr>
          <p:cNvPr id="3" name="">
            <a:extLst xmlns:a="http://schemas.openxmlformats.org/drawingml/2006/main">
              <a:ext uri="{FF2B5EF4-FFF2-40B4-BE49-F238E27FC236}">
                <a16:creationId xmlns:a16="http://schemas.microsoft.com/office/drawing/2014/main" id="{8FBE5330-8974-493B-B6DB-6F47985E3E1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FormGroup holds named controls.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FormControl stores a field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ReactiveFormsModule connects template directives.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Submitted preview state stays separate.</a:t>
            </a:r>
          </a:p>
        </p:txBody>
      </p:sp>
      <p:sp>
        <p:nvSpPr>
          <p:cNvPr id="4" name="">
            <a:extLst xmlns:a="http://schemas.openxmlformats.org/drawingml/2006/main">
              <a:ext uri="{FF2B5EF4-FFF2-40B4-BE49-F238E27FC236}">
                <a16:creationId xmlns:a16="http://schemas.microsoft.com/office/drawing/2014/main" id="{489B9D29-B8FC-46CC-AEA6-D9C74130D02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readonly form = new FormGroup({</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customerName: new FormControl("",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nonNullable: true</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note: new FormControl("", { nonNullable: true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460F14A7-BB9B-4663-A520-1CEB55A818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Form controls hold the editable values</a:t>
            </a:r>
          </a:p>
        </p:txBody>
      </p:sp>
      <p:sp>
        <p:nvSpPr>
          <p:cNvPr id="6" name="">
            <a:extLst xmlns:a="http://schemas.openxmlformats.org/drawingml/2006/main">
              <a:ext uri="{FF2B5EF4-FFF2-40B4-BE49-F238E27FC236}">
                <a16:creationId xmlns:a16="http://schemas.microsoft.com/office/drawing/2014/main" id="{8B63BB42-A051-4A8B-8847-2394050D6EE3}"/>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11</a:t>
            </a:r>
          </a:p>
        </p:txBody>
      </p:sp>
    </p:spTree>
    <p:extLst>
      <p:ext uri="{BB962C8B-B14F-4D97-AF65-F5344CB8AC3E}">
        <p14:creationId xmlns:p14="http://schemas.microsoft.com/office/powerpoint/2010/main" val="916560646"/>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5643F-0EDC-4DEB-8E2F-ED184EF69ED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F6B07E77-CA8D-43FF-BBEB-A377890BE8E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Labels and the name control</a:t>
            </a:r>
          </a:p>
        </p:txBody>
      </p:sp>
      <p:sp>
        <p:nvSpPr>
          <p:cNvPr id="3" name="">
            <a:extLst xmlns:a="http://schemas.openxmlformats.org/drawingml/2006/main">
              <a:ext uri="{FF2B5EF4-FFF2-40B4-BE49-F238E27FC236}">
                <a16:creationId xmlns:a16="http://schemas.microsoft.com/office/drawing/2014/main" id="{B1F323DD-19C9-4294-9818-50A84104A65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label names the input.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formControlName connects the control.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FormGroup controls are the source of truth.</a:t>
            </a:r>
          </a:p>
        </p:txBody>
      </p:sp>
      <p:sp>
        <p:nvSpPr>
          <p:cNvPr id="4" name="">
            <a:extLst xmlns:a="http://schemas.openxmlformats.org/drawingml/2006/main">
              <a:ext uri="{FF2B5EF4-FFF2-40B4-BE49-F238E27FC236}">
                <a16:creationId xmlns:a16="http://schemas.microsoft.com/office/drawing/2014/main" id="{82CE0D84-0366-4874-8D3D-A97C68E9FDB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&lt;form [formGroup]="form"&gt;</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&lt;label for="customer-name"&gt;Customer name&lt;/label&gt;</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&lt;input id="customer-name"</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formControlName="customerName" /&gt;</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&lt;/form&gt;</a:t>
            </a:r>
          </a:p>
        </p:txBody>
      </p:sp>
      <p:sp>
        <p:nvSpPr>
          <p:cNvPr id="5" name="">
            <a:extLst xmlns:a="http://schemas.openxmlformats.org/drawingml/2006/main">
              <a:ext uri="{FF2B5EF4-FFF2-40B4-BE49-F238E27FC236}">
                <a16:creationId xmlns:a16="http://schemas.microsoft.com/office/drawing/2014/main" id="{061C2C45-1A7A-4AD1-A5DD-EA9A4CF044DB}"/>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Typing updates the customerName control</a:t>
            </a:r>
          </a:p>
        </p:txBody>
      </p:sp>
      <p:sp>
        <p:nvSpPr>
          <p:cNvPr id="6" name="">
            <a:extLst xmlns:a="http://schemas.openxmlformats.org/drawingml/2006/main">
              <a:ext uri="{FF2B5EF4-FFF2-40B4-BE49-F238E27FC236}">
                <a16:creationId xmlns:a16="http://schemas.microsoft.com/office/drawing/2014/main" id="{2DD133E6-31F1-484C-A8B7-65FB7C7BDB31}"/>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12</a:t>
            </a:r>
          </a:p>
        </p:txBody>
      </p:sp>
    </p:spTree>
    <p:extLst>
      <p:ext uri="{BB962C8B-B14F-4D97-AF65-F5344CB8AC3E}">
        <p14:creationId xmlns:p14="http://schemas.microsoft.com/office/powerpoint/2010/main" val="1981572488"/>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3AED08-6711-47F5-8AA0-E8B537C564C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CB308BD1-FABA-48D7-9132-E71AEC824FA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Optional delivery note</a:t>
            </a:r>
          </a:p>
        </p:txBody>
      </p:sp>
      <p:sp>
        <p:nvSpPr>
          <p:cNvPr id="3" name="">
            <a:extLst xmlns:a="http://schemas.openxmlformats.org/drawingml/2006/main">
              <a:ext uri="{FF2B5EF4-FFF2-40B4-BE49-F238E27FC236}">
                <a16:creationId xmlns:a16="http://schemas.microsoft.com/office/drawing/2014/main" id="{DE82A70A-4725-4226-B548-FBBACA1A0E0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textarea accepts a longer message.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Its reactive control is named note.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 empty note is valid.</a:t>
            </a:r>
          </a:p>
        </p:txBody>
      </p:sp>
      <p:sp>
        <p:nvSpPr>
          <p:cNvPr id="4" name="">
            <a:extLst xmlns:a="http://schemas.openxmlformats.org/drawingml/2006/main">
              <a:ext uri="{FF2B5EF4-FFF2-40B4-BE49-F238E27FC236}">
                <a16:creationId xmlns:a16="http://schemas.microsoft.com/office/drawing/2014/main" id="{5B847D34-1091-43AC-868B-A1DE200DA0F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&lt;label for="delivery-note"&gt;Delivery note&lt;/label&gt;</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&lt;textarea id="delivery-note"</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formControlName="note"&gt;&lt;/textarea&gt;</a:t>
            </a:r>
          </a:p>
        </p:txBody>
      </p:sp>
      <p:sp>
        <p:nvSpPr>
          <p:cNvPr id="5" name="">
            <a:extLst xmlns:a="http://schemas.openxmlformats.org/drawingml/2006/main">
              <a:ext uri="{FF2B5EF4-FFF2-40B4-BE49-F238E27FC236}">
                <a16:creationId xmlns:a16="http://schemas.microsoft.com/office/drawing/2014/main" id="{346AD38E-B188-41E0-B671-F50DE41F486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preview displays None when the note is blank</a:t>
            </a:r>
          </a:p>
        </p:txBody>
      </p:sp>
      <p:sp>
        <p:nvSpPr>
          <p:cNvPr id="6" name="">
            <a:extLst xmlns:a="http://schemas.openxmlformats.org/drawingml/2006/main">
              <a:ext uri="{FF2B5EF4-FFF2-40B4-BE49-F238E27FC236}">
                <a16:creationId xmlns:a16="http://schemas.microsoft.com/office/drawing/2014/main" id="{31E9155A-B52C-48F8-A5EF-FC0D3605534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13</a:t>
            </a:r>
          </a:p>
        </p:txBody>
      </p:sp>
    </p:spTree>
    <p:extLst>
      <p:ext uri="{BB962C8B-B14F-4D97-AF65-F5344CB8AC3E}">
        <p14:creationId xmlns:p14="http://schemas.microsoft.com/office/powerpoint/2010/main" val="644600269"/>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8CA9D0-6601-40FC-91A4-F4A033559F3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D1658E6A-8ACE-4035-A020-508F040F543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Handling form submission</a:t>
            </a:r>
          </a:p>
        </p:txBody>
      </p:sp>
      <p:sp>
        <p:nvSpPr>
          <p:cNvPr id="3" name="">
            <a:extLst xmlns:a="http://schemas.openxmlformats.org/drawingml/2006/main">
              <a:ext uri="{FF2B5EF4-FFF2-40B4-BE49-F238E27FC236}">
                <a16:creationId xmlns:a16="http://schemas.microsoft.com/office/drawing/2014/main" id="{A13A1849-80C1-4160-B325-0617730F797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ngSubmit calls the submit method.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Angular’s form directive handles navigation.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Validate before capturing the preview.</a:t>
            </a:r>
          </a:p>
        </p:txBody>
      </p:sp>
      <p:sp>
        <p:nvSpPr>
          <p:cNvPr id="4" name="">
            <a:extLst xmlns:a="http://schemas.openxmlformats.org/drawingml/2006/main">
              <a:ext uri="{FF2B5EF4-FFF2-40B4-BE49-F238E27FC236}">
                <a16:creationId xmlns:a16="http://schemas.microsoft.com/office/drawing/2014/main" id="{71471A68-CD96-4E57-857F-6A4F7F9DE8A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&lt;form [formGroup]="form"</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(ngSubmit)="submit()" novalidate&gt;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&lt;button type="submit"&gt;Preview&lt;/button&gt;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&lt;/form&gt;</a:t>
            </a:r>
          </a:p>
        </p:txBody>
      </p:sp>
      <p:sp>
        <p:nvSpPr>
          <p:cNvPr id="5" name="">
            <a:extLst xmlns:a="http://schemas.openxmlformats.org/drawingml/2006/main">
              <a:ext uri="{FF2B5EF4-FFF2-40B4-BE49-F238E27FC236}">
                <a16:creationId xmlns:a16="http://schemas.microsoft.com/office/drawing/2014/main" id="{DFE63708-CCB3-44DB-94E0-930ED8C0BCD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Click and Enter follow the same handler</a:t>
            </a:r>
          </a:p>
        </p:txBody>
      </p:sp>
      <p:sp>
        <p:nvSpPr>
          <p:cNvPr id="6" name="">
            <a:extLst xmlns:a="http://schemas.openxmlformats.org/drawingml/2006/main">
              <a:ext uri="{FF2B5EF4-FFF2-40B4-BE49-F238E27FC236}">
                <a16:creationId xmlns:a16="http://schemas.microsoft.com/office/drawing/2014/main" id="{4B23BC92-C2B5-4091-BF4C-A566759D54D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14</a:t>
            </a:r>
          </a:p>
        </p:txBody>
      </p:sp>
    </p:spTree>
    <p:extLst>
      <p:ext uri="{BB962C8B-B14F-4D97-AF65-F5344CB8AC3E}">
        <p14:creationId xmlns:p14="http://schemas.microsoft.com/office/powerpoint/2010/main" val="15092369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08C591-2857-4BA0-AC4A-A1346496A29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CC2F67D9-2CED-436A-BF8B-60858EA7855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Our practice form rules</a:t>
            </a:r>
          </a:p>
        </p:txBody>
      </p:sp>
      <p:sp>
        <p:nvSpPr>
          <p:cNvPr id="3" name="">
            <a:extLst xmlns:a="http://schemas.openxmlformats.org/drawingml/2006/main">
              <a:ext uri="{FF2B5EF4-FFF2-40B4-BE49-F238E27FC236}">
                <a16:creationId xmlns:a16="http://schemas.microsoft.com/office/drawing/2014/main" id="{6827B5F8-136A-48E3-A0A0-E81D08D27DA2}"/>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cart must contain at least one item.</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trimmed name needs 2+ characters.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delivery note is optional.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control and helper apply the rule.</a:t>
            </a:r>
          </a:p>
        </p:txBody>
      </p:sp>
      <p:sp>
        <p:nvSpPr>
          <p:cNvPr id="4" name="">
            <a:extLst xmlns:a="http://schemas.openxmlformats.org/drawingml/2006/main">
              <a:ext uri="{FF2B5EF4-FFF2-40B4-BE49-F238E27FC236}">
                <a16:creationId xmlns:a16="http://schemas.microsoft.com/office/drawing/2014/main" id="{890686C4-537C-4DF7-A520-796E7EB323F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function trimmedName(control: AbstractControl)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return String(control.value).trim().length &gt;= 2</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 null : { trimmedName: true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B398D14-7F41-4FB2-A932-D035106AAD5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null from a validator means valid</a:t>
            </a:r>
          </a:p>
        </p:txBody>
      </p:sp>
      <p:sp>
        <p:nvSpPr>
          <p:cNvPr id="6" name="">
            <a:extLst xmlns:a="http://schemas.openxmlformats.org/drawingml/2006/main">
              <a:ext uri="{FF2B5EF4-FFF2-40B4-BE49-F238E27FC236}">
                <a16:creationId xmlns:a16="http://schemas.microsoft.com/office/drawing/2014/main" id="{6B6DE250-25D4-4821-9D33-BAD9CA8B0AF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15</a:t>
            </a:r>
          </a:p>
        </p:txBody>
      </p:sp>
    </p:spTree>
    <p:extLst>
      <p:ext uri="{BB962C8B-B14F-4D97-AF65-F5344CB8AC3E}">
        <p14:creationId xmlns:p14="http://schemas.microsoft.com/office/powerpoint/2010/main" val="1312138688"/>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1B5E12-EBB7-4981-8E95-69B33A8C637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85E13E26-E927-4449-8967-77A8881CD5F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An error message and early return</a:t>
            </a:r>
          </a:p>
        </p:txBody>
      </p:sp>
      <p:sp>
        <p:nvSpPr>
          <p:cNvPr id="3" name="">
            <a:extLst xmlns:a="http://schemas.openxmlformats.org/drawingml/2006/main">
              <a:ext uri="{FF2B5EF4-FFF2-40B4-BE49-F238E27FC236}">
                <a16:creationId xmlns:a16="http://schemas.microsoft.com/office/drawing/2014/main" id="{6F880799-DD83-4785-A547-617DE456588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Mark controls as touched.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Read the typed form values.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Set the validation message.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Return before creating an invalid draft.</a:t>
            </a:r>
          </a:p>
        </p:txBody>
      </p:sp>
      <p:sp>
        <p:nvSpPr>
          <p:cNvPr id="4" name="">
            <a:extLst xmlns:a="http://schemas.openxmlformats.org/drawingml/2006/main">
              <a:ext uri="{FF2B5EF4-FFF2-40B4-BE49-F238E27FC236}">
                <a16:creationId xmlns:a16="http://schemas.microsoft.com/office/drawing/2014/main" id="{FD2B7888-6FF0-4771-A484-3F57C608378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 customerName, note }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this.form.getRawValue();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message = validateOrder(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this.cart(), customerName);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this.error.set(message);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(message || this.form.invalid) return;</a:t>
            </a:r>
          </a:p>
        </p:txBody>
      </p:sp>
      <p:sp>
        <p:nvSpPr>
          <p:cNvPr id="5" name="">
            <a:extLst xmlns:a="http://schemas.openxmlformats.org/drawingml/2006/main">
              <a:ext uri="{FF2B5EF4-FFF2-40B4-BE49-F238E27FC236}">
                <a16:creationId xmlns:a16="http://schemas.microsoft.com/office/drawing/2014/main" id="{26052D19-8D37-4473-962F-46AFC7C24BC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Only valid data creates a preview</a:t>
            </a:r>
          </a:p>
        </p:txBody>
      </p:sp>
      <p:sp>
        <p:nvSpPr>
          <p:cNvPr id="6" name="">
            <a:extLst xmlns:a="http://schemas.openxmlformats.org/drawingml/2006/main">
              <a:ext uri="{FF2B5EF4-FFF2-40B4-BE49-F238E27FC236}">
                <a16:creationId xmlns:a16="http://schemas.microsoft.com/office/drawing/2014/main" id="{C2E340A1-64B3-48F4-9005-44AF10161B77}"/>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16</a:t>
            </a:r>
          </a:p>
        </p:txBody>
      </p:sp>
    </p:spTree>
    <p:extLst>
      <p:ext uri="{BB962C8B-B14F-4D97-AF65-F5344CB8AC3E}">
        <p14:creationId xmlns:p14="http://schemas.microsoft.com/office/powerpoint/2010/main" val="61523876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AD0F7C-D528-48D5-ABF7-6CB39E5B3DE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8049ED03-6C51-4310-9596-FF804DC7EE2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Accessible validation feedback</a:t>
            </a:r>
          </a:p>
        </p:txBody>
      </p:sp>
      <p:sp>
        <p:nvSpPr>
          <p:cNvPr id="3" name="">
            <a:extLst xmlns:a="http://schemas.openxmlformats.org/drawingml/2006/main">
              <a:ext uri="{FF2B5EF4-FFF2-40B4-BE49-F238E27FC236}">
                <a16:creationId xmlns:a16="http://schemas.microsoft.com/office/drawing/2014/main" id="{5D503982-6186-4E97-8138-228B439B547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Display a useful error near the form.</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role=alert announces submission errors.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Associate name errors with the input.</a:t>
            </a:r>
          </a:p>
        </p:txBody>
      </p:sp>
      <p:sp>
        <p:nvSpPr>
          <p:cNvPr id="4" name="">
            <a:extLst xmlns:a="http://schemas.openxmlformats.org/drawingml/2006/main">
              <a:ext uri="{FF2B5EF4-FFF2-40B4-BE49-F238E27FC236}">
                <a16:creationId xmlns:a16="http://schemas.microsoft.com/office/drawing/2014/main" id="{21A5A87E-D00C-46B1-86DE-C8CD61F58D2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(error())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&lt;p id="order-error" role="alert"&gt;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error()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&lt;/p&gt;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7E4474C8-57F1-4FFF-8AE2-CDD655F1015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Words explain the issue as well as styles</a:t>
            </a:r>
          </a:p>
        </p:txBody>
      </p:sp>
      <p:sp>
        <p:nvSpPr>
          <p:cNvPr id="6" name="">
            <a:extLst xmlns:a="http://schemas.openxmlformats.org/drawingml/2006/main">
              <a:ext uri="{FF2B5EF4-FFF2-40B4-BE49-F238E27FC236}">
                <a16:creationId xmlns:a16="http://schemas.microsoft.com/office/drawing/2014/main" id="{4978E0FC-CDCB-4247-994F-3BF576D27AA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17</a:t>
            </a:r>
          </a:p>
        </p:txBody>
      </p:sp>
    </p:spTree>
    <p:extLst>
      <p:ext uri="{BB962C8B-B14F-4D97-AF65-F5344CB8AC3E}">
        <p14:creationId xmlns:p14="http://schemas.microsoft.com/office/powerpoint/2010/main" val="1273479034"/>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A08D8-9A95-4742-BFF7-61AD85ACC3B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73907686-15EC-4231-AE86-E8A35E9C555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Creating the practice draft</a:t>
            </a:r>
          </a:p>
        </p:txBody>
      </p:sp>
      <p:sp>
        <p:nvSpPr>
          <p:cNvPr id="3" name="">
            <a:extLst xmlns:a="http://schemas.openxmlformats.org/drawingml/2006/main">
              <a:ext uri="{FF2B5EF4-FFF2-40B4-BE49-F238E27FC236}">
                <a16:creationId xmlns:a16="http://schemas.microsoft.com/office/drawing/2014/main" id="{167229B8-BFD4-4349-9257-DAAC9D7174D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Copy selected item details.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Trim the submitted text.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Calculate a total from the selected cart.</a:t>
            </a:r>
          </a:p>
        </p:txBody>
      </p:sp>
      <p:sp>
        <p:nvSpPr>
          <p:cNvPr id="4" name="">
            <a:extLst xmlns:a="http://schemas.openxmlformats.org/drawingml/2006/main">
              <a:ext uri="{FF2B5EF4-FFF2-40B4-BE49-F238E27FC236}">
                <a16:creationId xmlns:a16="http://schemas.microsoft.com/office/drawing/2014/main" id="{0F931376-0173-4BE5-A21E-E3AAEDBAA76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087B80"/>
                </a:solidFill>
                <a:latin typeface="Consolas"/>
                <a:ea typeface="Consolas"/>
                <a:cs typeface="Consolas"/>
              </a:defRPr>
            </a:defPPr>
          </a:lstStyle>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return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customerName: customerName.trim(),</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note: note.trim(),</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items: cart.map(p =&gt;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id: p.id, name: p.name, price: p.price</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  total: cart.reduce((sum, p) =&gt; sum + p.price, 0)</a:t>
            </a:r>
          </a:p>
          <a:p xmlns:a="http://schemas.openxmlformats.org/drawingml/2006/main">
            <a:pPr algn="l">
              <a:buNone/>
              <a:defRPr sz="1575" b="0">
                <a:solidFill>
                  <a:srgbClr val="087B80"/>
                </a:solidFill>
                <a:latin typeface="Consolas"/>
                <a:ea typeface="Consolas"/>
                <a:cs typeface="Consolas"/>
              </a:defRPr>
            </a:pPr>
            <a:r>
              <a:rPr sz="1575"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B9AF1E16-0840-4BDB-9038-799E5E052E7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Notebook + Bag costs ₹580</a:t>
            </a:r>
          </a:p>
        </p:txBody>
      </p:sp>
      <p:sp>
        <p:nvSpPr>
          <p:cNvPr id="6" name="">
            <a:extLst xmlns:a="http://schemas.openxmlformats.org/drawingml/2006/main">
              <a:ext uri="{FF2B5EF4-FFF2-40B4-BE49-F238E27FC236}">
                <a16:creationId xmlns:a16="http://schemas.microsoft.com/office/drawing/2014/main" id="{FB3BDEFE-7F61-4F36-B4C9-C1192E6A45D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18</a:t>
            </a:r>
          </a:p>
        </p:txBody>
      </p:sp>
    </p:spTree>
    <p:extLst>
      <p:ext uri="{BB962C8B-B14F-4D97-AF65-F5344CB8AC3E}">
        <p14:creationId xmlns:p14="http://schemas.microsoft.com/office/powerpoint/2010/main" val="2134114080"/>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38783F-D8B7-4D29-A17B-00C56291FBD7}"/>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9FFF38BA-D295-4245-9326-E3CDAA43D4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Rendering the submitted preview</a:t>
            </a:r>
          </a:p>
        </p:txBody>
      </p:sp>
      <p:sp>
        <p:nvSpPr>
          <p:cNvPr id="3" name="">
            <a:extLst xmlns:a="http://schemas.openxmlformats.org/drawingml/2006/main">
              <a:ext uri="{FF2B5EF4-FFF2-40B4-BE49-F238E27FC236}">
                <a16:creationId xmlns:a16="http://schemas.microsoft.com/office/drawing/2014/main" id="{F4125F14-9FE1-4B8F-B58F-43915839726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draft starts as null.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@if shows a submitted snapshot.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@for displays its items with stable IDs.</a:t>
            </a:r>
          </a:p>
        </p:txBody>
      </p:sp>
      <p:sp>
        <p:nvSpPr>
          <p:cNvPr id="4" name="">
            <a:extLst xmlns:a="http://schemas.openxmlformats.org/drawingml/2006/main">
              <a:ext uri="{FF2B5EF4-FFF2-40B4-BE49-F238E27FC236}">
                <a16:creationId xmlns:a16="http://schemas.microsoft.com/office/drawing/2014/main" id="{432BF199-350B-4CFC-8B84-1801B6F56E1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0">
                <a:solidFill>
                  <a:srgbClr val="087B80"/>
                </a:solidFill>
                <a:latin typeface="Consolas"/>
                <a:ea typeface="Consolas"/>
                <a:cs typeface="Consolas"/>
              </a:defRPr>
            </a:defPPr>
          </a:lstStyle>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@if (draft(); as snapshot) {</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&lt;h3&gt;Practice order preview&lt;/h3&gt;</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  &lt;p&gt;Snapshot total: {{ snapshot.total }}&lt;/p&gt;</a:t>
            </a:r>
          </a:p>
          <a:p xmlns:a="http://schemas.openxmlformats.org/drawingml/2006/main">
            <a:pPr algn="l">
              <a:buNone/>
              <a:defRPr sz="1725" b="0">
                <a:solidFill>
                  <a:srgbClr val="087B80"/>
                </a:solidFill>
                <a:latin typeface="Consolas"/>
                <a:ea typeface="Consolas"/>
                <a:cs typeface="Consolas"/>
              </a:defRPr>
            </a:pPr>
            <a:r>
              <a:rPr sz="1725"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03921C8-2EFE-45E0-B0A0-FCD2051C720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UI says no order has been placed</a:t>
            </a:r>
          </a:p>
        </p:txBody>
      </p:sp>
      <p:sp>
        <p:nvSpPr>
          <p:cNvPr id="6" name="">
            <a:extLst xmlns:a="http://schemas.openxmlformats.org/drawingml/2006/main">
              <a:ext uri="{FF2B5EF4-FFF2-40B4-BE49-F238E27FC236}">
                <a16:creationId xmlns:a16="http://schemas.microsoft.com/office/drawing/2014/main" id="{59401AC7-812A-4918-9BAA-856F0097CCF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19</a:t>
            </a:r>
          </a:p>
        </p:txBody>
      </p:sp>
    </p:spTree>
    <p:extLst>
      <p:ext uri="{BB962C8B-B14F-4D97-AF65-F5344CB8AC3E}">
        <p14:creationId xmlns:p14="http://schemas.microsoft.com/office/powerpoint/2010/main" val="406089305"/>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302A38-F794-47A6-A5C8-A528226507C5}"/>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PREVIEW</a:t>
            </a:r>
          </a:p>
        </p:txBody>
      </p:sp>
      <p:sp>
        <p:nvSpPr>
          <p:cNvPr id="2" name="">
            <a:extLst xmlns:a="http://schemas.openxmlformats.org/drawingml/2006/main">
              <a:ext uri="{FF2B5EF4-FFF2-40B4-BE49-F238E27FC236}">
                <a16:creationId xmlns:a16="http://schemas.microsoft.com/office/drawing/2014/main" id="{C541CD5B-ED7B-4013-9021-E21161C02DE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Current cart and captured snapshot</a:t>
            </a:r>
          </a:p>
        </p:txBody>
      </p:sp>
      <p:sp>
        <p:nvSpPr>
          <p:cNvPr id="3" name="">
            <a:extLst xmlns:a="http://schemas.openxmlformats.org/drawingml/2006/main">
              <a:ext uri="{FF2B5EF4-FFF2-40B4-BE49-F238E27FC236}">
                <a16:creationId xmlns:a16="http://schemas.microsoft.com/office/drawing/2014/main" id="{3B50E5D5-E9A4-4AFF-BEFA-61530305E4A1}"/>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CartPanel shows the current selection.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The preview shows data at submit time.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Later edits leave the snapshot unchanged.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Submit again to capture new values.</a:t>
            </a:r>
          </a:p>
        </p:txBody>
      </p:sp>
      <p:sp>
        <p:nvSpPr>
          <p:cNvPr id="4" name="">
            <a:extLst xmlns:a="http://schemas.openxmlformats.org/drawingml/2006/main">
              <a:ext uri="{FF2B5EF4-FFF2-40B4-BE49-F238E27FC236}">
                <a16:creationId xmlns:a16="http://schemas.microsoft.com/office/drawing/2014/main" id="{DDFFAD76-8632-4A8B-9751-BE8B34C3EEE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A6CFF046-D10A-49F9-BCBE-13FC7E6EC0C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F73552AC-8B9D-4331-A4A1-7712CD2385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20</a:t>
            </a:r>
          </a:p>
        </p:txBody>
      </p:sp>
    </p:spTree>
    <p:extLst>
      <p:ext uri="{BB962C8B-B14F-4D97-AF65-F5344CB8AC3E}">
        <p14:creationId xmlns:p14="http://schemas.microsoft.com/office/powerpoint/2010/main" val="352255975"/>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B9156A-EE3F-4B95-AF39-BB85565ABC9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EB47B319-3EC8-4981-837F-E71BCE1EE737}"/>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Reset only the order form</a:t>
            </a:r>
          </a:p>
        </p:txBody>
      </p:sp>
      <p:sp>
        <p:nvSpPr>
          <p:cNvPr id="3" name="">
            <a:extLst xmlns:a="http://schemas.openxmlformats.org/drawingml/2006/main">
              <a:ext uri="{FF2B5EF4-FFF2-40B4-BE49-F238E27FC236}">
                <a16:creationId xmlns:a16="http://schemas.microsoft.com/office/drawing/2014/main" id="{74E1CAC1-8436-4612-8ED2-364C75485DB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Reset controls to their initial empty strings.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Clear error and captured preview.</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App’s cart selection.</a:t>
            </a:r>
          </a:p>
        </p:txBody>
      </p:sp>
      <p:sp>
        <p:nvSpPr>
          <p:cNvPr id="4" name="">
            <a:extLst xmlns:a="http://schemas.openxmlformats.org/drawingml/2006/main">
              <a:ext uri="{FF2B5EF4-FFF2-40B4-BE49-F238E27FC236}">
                <a16:creationId xmlns:a16="http://schemas.microsoft.com/office/drawing/2014/main" id="{2E3353C5-1E63-4B5A-8A0E-2C0D24B842F2}"/>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reset()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this.form.reset();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this.error.set("");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this.draft.set(null);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3A5372FD-BE14-47A1-BB21-D9099541EE8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Reset order form differs from Clear cart</a:t>
            </a:r>
          </a:p>
        </p:txBody>
      </p:sp>
      <p:sp>
        <p:nvSpPr>
          <p:cNvPr id="6" name="">
            <a:extLst xmlns:a="http://schemas.openxmlformats.org/drawingml/2006/main">
              <a:ext uri="{FF2B5EF4-FFF2-40B4-BE49-F238E27FC236}">
                <a16:creationId xmlns:a16="http://schemas.microsoft.com/office/drawing/2014/main" id="{45149D33-0C9E-440F-A260-2169947589D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21</a:t>
            </a:r>
          </a:p>
        </p:txBody>
      </p:sp>
    </p:spTree>
    <p:extLst>
      <p:ext uri="{BB962C8B-B14F-4D97-AF65-F5344CB8AC3E}">
        <p14:creationId xmlns:p14="http://schemas.microsoft.com/office/powerpoint/2010/main" val="1661572830"/>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2A2DEE-FAC9-4E83-BF95-FA1A7F38554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BROWSER CHECKS</a:t>
            </a:r>
          </a:p>
        </p:txBody>
      </p:sp>
      <p:sp>
        <p:nvSpPr>
          <p:cNvPr id="2" name="">
            <a:extLst xmlns:a="http://schemas.openxmlformats.org/drawingml/2006/main">
              <a:ext uri="{FF2B5EF4-FFF2-40B4-BE49-F238E27FC236}">
                <a16:creationId xmlns:a16="http://schemas.microsoft.com/office/drawing/2014/main" id="{D07F2595-855A-4888-9726-F766589C3D4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Checking the complete workflow</a:t>
            </a:r>
          </a:p>
        </p:txBody>
      </p:sp>
      <p:sp>
        <p:nvSpPr>
          <p:cNvPr id="3" name="">
            <a:extLst xmlns:a="http://schemas.openxmlformats.org/drawingml/2006/main">
              <a:ext uri="{FF2B5EF4-FFF2-40B4-BE49-F238E27FC236}">
                <a16:creationId xmlns:a16="http://schemas.microsoft.com/office/drawing/2014/main" id="{B0B95FA6-A587-4FAE-BC30-E992AEEAC03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Empty cart gives a friendly error.</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Blank or one-character name fails.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Demo Customer + Notebook + Bag gives ₹580.</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Cart edits need another Preview.</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Reset form preserves the cart.</a:t>
            </a:r>
          </a:p>
        </p:txBody>
      </p:sp>
      <p:sp>
        <p:nvSpPr>
          <p:cNvPr id="4" name="">
            <a:extLst xmlns:a="http://schemas.openxmlformats.org/drawingml/2006/main">
              <a:ext uri="{FF2B5EF4-FFF2-40B4-BE49-F238E27FC236}">
                <a16:creationId xmlns:a16="http://schemas.microsoft.com/office/drawing/2014/main" id="{710400FA-322B-44AD-8737-9E3D859BEC3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F327A647-8768-4204-B0E9-B670D38E81C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8042FDE8-F4AA-4A24-8B59-2B1E31AB759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22</a:t>
            </a:r>
          </a:p>
        </p:txBody>
      </p:sp>
    </p:spTree>
    <p:extLst>
      <p:ext uri="{BB962C8B-B14F-4D97-AF65-F5344CB8AC3E}">
        <p14:creationId xmlns:p14="http://schemas.microsoft.com/office/powerpoint/2010/main" val="421415645"/>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12B812-67D1-45F3-B3EB-F0A447650D6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CONCEPTS</a:t>
            </a:r>
          </a:p>
        </p:txBody>
      </p:sp>
      <p:sp>
        <p:nvSpPr>
          <p:cNvPr id="2" name="">
            <a:extLst xmlns:a="http://schemas.openxmlformats.org/drawingml/2006/main">
              <a:ext uri="{FF2B5EF4-FFF2-40B4-BE49-F238E27FC236}">
                <a16:creationId xmlns:a16="http://schemas.microsoft.com/office/drawing/2014/main" id="{9DF3660D-0993-4878-84E5-CF0E33E28714}"/>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Build and serve locally</a:t>
            </a:r>
          </a:p>
        </p:txBody>
      </p:sp>
      <p:sp>
        <p:nvSpPr>
          <p:cNvPr id="3" name="">
            <a:extLst xmlns:a="http://schemas.openxmlformats.org/drawingml/2006/main">
              <a:ext uri="{FF2B5EF4-FFF2-40B4-BE49-F238E27FC236}">
                <a16:creationId xmlns:a16="http://schemas.microsoft.com/office/drawing/2014/main" id="{24016A95-5C1E-4255-B392-4F1D47A1F66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ng build writes production files.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local static server can serve the browser output.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 the JSON resource and form again.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Building does not publish the application.</a:t>
            </a:r>
          </a:p>
        </p:txBody>
      </p:sp>
      <p:sp>
        <p:nvSpPr>
          <p:cNvPr id="4" name="">
            <a:extLst xmlns:a="http://schemas.openxmlformats.org/drawingml/2006/main">
              <a:ext uri="{FF2B5EF4-FFF2-40B4-BE49-F238E27FC236}">
                <a16:creationId xmlns:a16="http://schemas.microsoft.com/office/drawing/2014/main" id="{452A472C-D522-44B2-B1A5-5FF30076761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npm run build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Browser files: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dist/product-catalog/browser/</a:t>
            </a:r>
          </a:p>
        </p:txBody>
      </p:sp>
      <p:sp>
        <p:nvSpPr>
          <p:cNvPr id="5" name="">
            <a:extLst xmlns:a="http://schemas.openxmlformats.org/drawingml/2006/main">
              <a:ext uri="{FF2B5EF4-FFF2-40B4-BE49-F238E27FC236}">
                <a16:creationId xmlns:a16="http://schemas.microsoft.com/office/drawing/2014/main" id="{431971CA-477B-4657-828F-3A953B39DEA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production build is a local artifact</a:t>
            </a:r>
          </a:p>
        </p:txBody>
      </p:sp>
      <p:sp>
        <p:nvSpPr>
          <p:cNvPr id="6" name="">
            <a:extLst xmlns:a="http://schemas.openxmlformats.org/drawingml/2006/main">
              <a:ext uri="{FF2B5EF4-FFF2-40B4-BE49-F238E27FC236}">
                <a16:creationId xmlns:a16="http://schemas.microsoft.com/office/drawing/2014/main" id="{0839D854-7503-4657-9F7A-76A29B29D189}"/>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23</a:t>
            </a:r>
          </a:p>
        </p:txBody>
      </p:sp>
    </p:spTree>
    <p:extLst>
      <p:ext uri="{BB962C8B-B14F-4D97-AF65-F5344CB8AC3E}">
        <p14:creationId xmlns:p14="http://schemas.microsoft.com/office/powerpoint/2010/main" val="802763435"/>
      </p:ext>
    </p:extLst>
  </p:cSld>
</p:sld>
</file>

<file path=ppt/slides/slide24.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D5BBBF-AE34-4F54-BABF-B66A383464F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HANDS-ON · WALKTHROUGH</a:t>
            </a:r>
          </a:p>
        </p:txBody>
      </p:sp>
      <p:sp>
        <p:nvSpPr>
          <p:cNvPr id="2" name="">
            <a:extLst xmlns:a="http://schemas.openxmlformats.org/drawingml/2006/main">
              <a:ext uri="{FF2B5EF4-FFF2-40B4-BE49-F238E27FC236}">
                <a16:creationId xmlns:a16="http://schemas.microsoft.com/office/drawing/2014/main" id="{AEF40004-0D30-4BC1-A0EE-4D5263556AA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Our final practice order preview</a:t>
            </a:r>
          </a:p>
        </p:txBody>
      </p:sp>
      <p:pic>
        <p:nvPicPr>
          <p:cNvPr id="3" name="">
            <a:extLst xmlns:a="http://schemas.openxmlformats.org/drawingml/2006/main">
              <a:ext uri="{FF2B5EF4-FFF2-40B4-BE49-F238E27FC236}">
                <a16:creationId xmlns:a16="http://schemas.microsoft.com/office/drawing/2014/main" id="{17BA12F7-2E90-47A0-9274-A7C45BACBC19}"/>
              </a:ext>
            </a:extLst>
          </p:cNvPr>
          <p:cNvPicPr>
            <a:picLocks xmlns:a="http://schemas.openxmlformats.org/drawingml/2006/main" noChangeAspect="1"/>
          </p:cNvPicPr>
          <p:nvPr/>
        </p:nvPicPr>
        <p:blipFill>
          <a:blip xmlns:r="http://schemas.openxmlformats.org/officeDocument/2006/relationships" xmlns:a="http://schemas.openxmlformats.org/drawingml/2006/main" r:embed="Rf5796315726840a4"/>
          <a:srcRect xmlns:a="http://schemas.openxmlformats.org/drawingml/2006/main" l="0" t="0" r="0" b="0"/>
          <a:stretch xmlns:a="http://schemas.openxmlformats.org/drawingml/2006/main"/>
        </p:blipFill>
        <p:spPr>
          <a:xfrm xmlns:a="http://schemas.openxmlformats.org/drawingml/2006/main">
            <a:off x="5429250" y="2433140"/>
            <a:ext cx="6191250" cy="337284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420A99-1D36-49AA-94E6-4F58340517B9}"/>
              </a:ext>
            </a:extLst>
          </p:cNvPr>
          <p:cNvSpPr>
            <a:spLocks xmlns:a="http://schemas.openxmlformats.org/drawingml/2006/main" noGrp="1"/>
          </p:cNvSpPr>
          <p:nvPr/>
        </p:nvSpPr>
        <p:spPr>
          <a:xfrm xmlns:a="http://schemas.openxmlformats.org/drawingml/2006/main">
            <a:off x="609600" y="2209800"/>
            <a:ext cx="442912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same JSON supplies the products.</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form validates the name.</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Notebook and Bag total ₹580.</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submitted snapshot records the selection.</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Nothing is ordered or paid.</a:t>
            </a:r>
          </a:p>
        </p:txBody>
      </p:sp>
      <p:sp>
        <p:nvSpPr>
          <p:cNvPr id="5" name="">
            <a:extLst xmlns:a="http://schemas.openxmlformats.org/drawingml/2006/main">
              <a:ext uri="{FF2B5EF4-FFF2-40B4-BE49-F238E27FC236}">
                <a16:creationId xmlns:a16="http://schemas.microsoft.com/office/drawing/2014/main" id="{AA6A2F74-AF31-4A60-A5A7-44620A01F75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24</a:t>
            </a:r>
          </a:p>
        </p:txBody>
      </p:sp>
    </p:spTree>
    <p:extLst>
      <p:ext uri="{BB962C8B-B14F-4D97-AF65-F5344CB8AC3E}">
        <p14:creationId xmlns:p14="http://schemas.microsoft.com/office/powerpoint/2010/main" val="53053803"/>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D290A5-A802-4E3B-B6F4-7579301C0F6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a:t>
            </a:r>
          </a:p>
        </p:txBody>
      </p:sp>
      <p:sp>
        <p:nvSpPr>
          <p:cNvPr id="2" name="">
            <a:extLst xmlns:a="http://schemas.openxmlformats.org/drawingml/2006/main">
              <a:ext uri="{FF2B5EF4-FFF2-40B4-BE49-F238E27FC236}">
                <a16:creationId xmlns:a16="http://schemas.microsoft.com/office/drawing/2014/main" id="{267DD854-081E-430F-B021-095AC41E7711}"/>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Project file walkthrough</a:t>
            </a:r>
          </a:p>
        </p:txBody>
      </p:sp>
      <p:sp>
        <p:nvSpPr>
          <p:cNvPr id="3" name="">
            <a:extLst xmlns:a="http://schemas.openxmlformats.org/drawingml/2006/main">
              <a:ext uri="{FF2B5EF4-FFF2-40B4-BE49-F238E27FC236}">
                <a16:creationId xmlns:a16="http://schemas.microsoft.com/office/drawing/2014/main" id="{C5B2B246-09B5-450D-A690-F8B3425C7C0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App composes state and components.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CatalogStore owns request state.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ProductService owns HTTP access.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OrderForm owns controls and preview.</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order-draft.ts owns pure validation and copying.</a:t>
            </a:r>
          </a:p>
        </p:txBody>
      </p:sp>
      <p:sp>
        <p:nvSpPr>
          <p:cNvPr id="4" name="">
            <a:extLst xmlns:a="http://schemas.openxmlformats.org/drawingml/2006/main">
              <a:ext uri="{FF2B5EF4-FFF2-40B4-BE49-F238E27FC236}">
                <a16:creationId xmlns:a16="http://schemas.microsoft.com/office/drawing/2014/main" id="{8415F727-0BCC-4817-B56B-DA175B9C5AB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569A30F0-AD7E-4821-9026-603875AFE62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DFFB4860-FBFE-404E-9C14-2E746FDEDAE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25</a:t>
            </a:r>
          </a:p>
        </p:txBody>
      </p:sp>
    </p:spTree>
    <p:extLst>
      <p:ext uri="{BB962C8B-B14F-4D97-AF65-F5344CB8AC3E}">
        <p14:creationId xmlns:p14="http://schemas.microsoft.com/office/powerpoint/2010/main" val="359607155"/>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10BAD-D10D-40B0-9A76-583CB0547B8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YOUR TURN</a:t>
            </a:r>
          </a:p>
        </p:txBody>
      </p:sp>
      <p:sp>
        <p:nvSpPr>
          <p:cNvPr id="2" name="">
            <a:extLst xmlns:a="http://schemas.openxmlformats.org/drawingml/2006/main">
              <a:ext uri="{FF2B5EF4-FFF2-40B4-BE49-F238E27FC236}">
                <a16:creationId xmlns:a16="http://schemas.microsoft.com/office/drawing/2014/main" id="{538C77B9-AEFD-4AD8-84B8-F4396A9A433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required Delivery city field</a:t>
            </a:r>
          </a:p>
        </p:txBody>
      </p:sp>
      <p:sp>
        <p:nvSpPr>
          <p:cNvPr id="3" name="">
            <a:extLst xmlns:a="http://schemas.openxmlformats.org/drawingml/2006/main">
              <a:ext uri="{FF2B5EF4-FFF2-40B4-BE49-F238E27FC236}">
                <a16:creationId xmlns:a16="http://schemas.microsoft.com/office/drawing/2014/main" id="{CE8DD210-84F5-45A8-AAB8-B365C82BDB6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Add a nonNullable city FormControl.</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Require its trimmed value.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Add city to the draft helper and interface.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Display it in the preview.</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Reset should clear it with the other controls.</a:t>
            </a:r>
          </a:p>
        </p:txBody>
      </p:sp>
      <p:sp>
        <p:nvSpPr>
          <p:cNvPr id="4" name="">
            <a:extLst xmlns:a="http://schemas.openxmlformats.org/drawingml/2006/main">
              <a:ext uri="{FF2B5EF4-FFF2-40B4-BE49-F238E27FC236}">
                <a16:creationId xmlns:a16="http://schemas.microsoft.com/office/drawing/2014/main" id="{2240641B-F8F2-4C32-A644-7F13917539D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B4287DDD-8254-4CD0-95CC-731D19C137C5}"/>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CFD15B07-F5BA-41AD-AE88-86DCF9D2411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26</a:t>
            </a:r>
          </a:p>
        </p:txBody>
      </p:sp>
    </p:spTree>
    <p:extLst>
      <p:ext uri="{BB962C8B-B14F-4D97-AF65-F5344CB8AC3E}">
        <p14:creationId xmlns:p14="http://schemas.microsoft.com/office/powerpoint/2010/main" val="1017720661"/>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8B4A46-48F3-4EA6-99D7-C85C7AB2DDE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DEBUGGING</a:t>
            </a:r>
          </a:p>
        </p:txBody>
      </p:sp>
      <p:sp>
        <p:nvSpPr>
          <p:cNvPr id="2" name="">
            <a:extLst xmlns:a="http://schemas.openxmlformats.org/drawingml/2006/main">
              <a:ext uri="{FF2B5EF4-FFF2-40B4-BE49-F238E27FC236}">
                <a16:creationId xmlns:a16="http://schemas.microsoft.com/office/drawing/2014/main" id="{D7B35481-FB27-4CC4-8AEE-22D49B0CB1CD}"/>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Common Day 5 mistakes</a:t>
            </a:r>
          </a:p>
        </p:txBody>
      </p:sp>
      <p:sp>
        <p:nvSpPr>
          <p:cNvPr id="3" name="">
            <a:extLst xmlns:a="http://schemas.openxmlformats.org/drawingml/2006/main">
              <a:ext uri="{FF2B5EF4-FFF2-40B4-BE49-F238E27FC236}">
                <a16:creationId xmlns:a16="http://schemas.microsoft.com/office/drawing/2014/main" id="{8454BE56-B8D6-4128-9AAD-19FF9AEDD6C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Missing ReactiveFormsModule.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 formControlName not present in FormGroup.</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Mixing ngModel and reactive directives.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Injecting a service in the wrong context.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Calling the local preview a placed order.</a:t>
            </a:r>
          </a:p>
        </p:txBody>
      </p:sp>
      <p:sp>
        <p:nvSpPr>
          <p:cNvPr id="4" name="">
            <a:extLst xmlns:a="http://schemas.openxmlformats.org/drawingml/2006/main">
              <a:ext uri="{FF2B5EF4-FFF2-40B4-BE49-F238E27FC236}">
                <a16:creationId xmlns:a16="http://schemas.microsoft.com/office/drawing/2014/main" id="{2D5F3749-33F9-474A-8091-ED761124E52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33250BA9-D418-4B01-AA96-5C853509582C}"/>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690AAA13-FDC8-430C-A69D-B4C2071AEE5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27</a:t>
            </a:r>
          </a:p>
        </p:txBody>
      </p:sp>
    </p:spTree>
    <p:extLst>
      <p:ext uri="{BB962C8B-B14F-4D97-AF65-F5344CB8AC3E}">
        <p14:creationId xmlns:p14="http://schemas.microsoft.com/office/powerpoint/2010/main" val="836216623"/>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B8D695-4211-45A9-89CC-B8DD40D575A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QUIZ</a:t>
            </a:r>
          </a:p>
        </p:txBody>
      </p:sp>
      <p:sp>
        <p:nvSpPr>
          <p:cNvPr id="2" name="">
            <a:extLst xmlns:a="http://schemas.openxmlformats.org/drawingml/2006/main">
              <a:ext uri="{FF2B5EF4-FFF2-40B4-BE49-F238E27FC236}">
                <a16:creationId xmlns:a16="http://schemas.microsoft.com/office/drawing/2014/main" id="{50FD0D22-B800-4749-91A2-A977DD538B8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Final knowledge check</a:t>
            </a:r>
          </a:p>
        </p:txBody>
      </p:sp>
      <p:sp>
        <p:nvSpPr>
          <p:cNvPr id="3" name="">
            <a:extLst xmlns:a="http://schemas.openxmlformats.org/drawingml/2006/main">
              <a:ext uri="{FF2B5EF4-FFF2-40B4-BE49-F238E27FC236}">
                <a16:creationId xmlns:a16="http://schemas.microsoft.com/office/drawing/2014/main" id="{536AA501-0592-469E-9BC3-B33F5DC93AD6}"/>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1  What decides service instance sharing?</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2  What does formControlName connect?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3  What blocks invalid submission?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4  Why can a snapshot stay at ₹580?</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5  Does ng build publish the app?</a:t>
            </a:r>
          </a:p>
        </p:txBody>
      </p:sp>
      <p:sp>
        <p:nvSpPr>
          <p:cNvPr id="4" name="">
            <a:extLst xmlns:a="http://schemas.openxmlformats.org/drawingml/2006/main">
              <a:ext uri="{FF2B5EF4-FFF2-40B4-BE49-F238E27FC236}">
                <a16:creationId xmlns:a16="http://schemas.microsoft.com/office/drawing/2014/main" id="{ED72B4C9-EB36-44CA-894B-ACA052AC23B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60FF92B2-48EE-49A4-B3F1-DC67818FE2E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7" name="">
            <a:extLst xmlns:a="http://schemas.openxmlformats.org/drawingml/2006/main">
              <a:ext uri="{FF2B5EF4-FFF2-40B4-BE49-F238E27FC236}">
                <a16:creationId xmlns:a16="http://schemas.microsoft.com/office/drawing/2014/main" id="{F0F8B6C2-5A1B-4DD6-9EAC-83578543718E}"/>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Tree>
    <p:extLst>
      <p:ext uri="{BB962C8B-B14F-4D97-AF65-F5344CB8AC3E}">
        <p14:creationId xmlns:p14="http://schemas.microsoft.com/office/powerpoint/2010/main" val="70131218"/>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2795CA-0429-4729-9979-D09C691AC8C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TRY AT HOME</a:t>
            </a:r>
          </a:p>
        </p:txBody>
      </p:sp>
      <p:sp>
        <p:nvSpPr>
          <p:cNvPr id="2" name="">
            <a:extLst xmlns:a="http://schemas.openxmlformats.org/drawingml/2006/main">
              <a:ext uri="{FF2B5EF4-FFF2-40B4-BE49-F238E27FC236}">
                <a16:creationId xmlns:a16="http://schemas.microsoft.com/office/drawing/2014/main" id="{EB2BA0F8-D2D6-4C9E-95B2-312CF683047C}"/>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Your next Angular practice</a:t>
            </a:r>
          </a:p>
        </p:txBody>
      </p:sp>
      <p:sp>
        <p:nvSpPr>
          <p:cNvPr id="3" name="">
            <a:extLst xmlns:a="http://schemas.openxmlformats.org/drawingml/2006/main">
              <a:ext uri="{FF2B5EF4-FFF2-40B4-BE49-F238E27FC236}">
                <a16:creationId xmlns:a16="http://schemas.microsoft.com/office/drawing/2014/main" id="{2BB9C2CD-2DB1-43E2-98B4-35585FE4991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Explain the entire app using its code.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Finish the Delivery city exercise.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Try at home: add a maximum-price filter.</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Practise loading, failure and empty data.</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Review the five days before assessment.</a:t>
            </a:r>
          </a:p>
        </p:txBody>
      </p:sp>
      <p:sp>
        <p:nvSpPr>
          <p:cNvPr id="4" name="">
            <a:extLst xmlns:a="http://schemas.openxmlformats.org/drawingml/2006/main">
              <a:ext uri="{FF2B5EF4-FFF2-40B4-BE49-F238E27FC236}">
                <a16:creationId xmlns:a16="http://schemas.microsoft.com/office/drawing/2014/main" id="{C7C5F717-7DEA-4822-9923-B3435BD1B54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29</a:t>
            </a:r>
          </a:p>
        </p:txBody>
      </p:sp>
    </p:spTree>
    <p:extLst>
      <p:ext uri="{BB962C8B-B14F-4D97-AF65-F5344CB8AC3E}">
        <p14:creationId xmlns:p14="http://schemas.microsoft.com/office/powerpoint/2010/main" val="1329344756"/>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Routing configuration</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Routes map URLs to components.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provideRouter registers the route table.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First match wins and wildcard goes last.</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F5C45ED0-AB25-4383-B024-84F9711BAEB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0">
                <a:solidFill>
                  <a:srgbClr val="087B80"/>
                </a:solidFill>
                <a:latin typeface="Consolas"/>
                <a:ea typeface="Consolas"/>
                <a:cs typeface="Consolas"/>
              </a:defRPr>
            </a:defPPr>
          </a:lstStyle>
          <a:p xmlns:a="http://schemas.openxmlformats.org/drawingml/2006/main">
            <a:pPr algn="l">
              <a:defRPr sz="1425" b="0">
                <a:solidFill>
                  <a:srgbClr val="087B80"/>
                </a:solidFill>
                <a:latin typeface="Consolas"/>
                <a:ea typeface="Consolas"/>
                <a:cs typeface="Consolas"/>
              </a:defRPr>
            </a:pPr>
            <a:r>
              <a:rPr sz="1425" b="0">
                <a:solidFill>
                  <a:srgbClr val="087B80"/>
                </a:solidFill>
                <a:latin typeface="Consolas"/>
                <a:ea typeface="Consolas"/>
                <a:cs typeface="Consolas"/>
              </a:rPr>
              <a:t>const routes: Routes = [</a:t>
            </a:r>
          </a:p>
          <a:p xmlns:a="http://schemas.openxmlformats.org/drawingml/2006/main">
            <a:pPr algn="l">
              <a:defRPr sz="1425" b="0">
                <a:solidFill>
                  <a:srgbClr val="087B80"/>
                </a:solidFill>
                <a:latin typeface="Consolas"/>
                <a:ea typeface="Consolas"/>
                <a:cs typeface="Consolas"/>
              </a:defRPr>
            </a:pPr>
            <a:r>
              <a:rPr sz="1425" b="0">
                <a:solidFill>
                  <a:srgbClr val="087B80"/>
                </a:solidFill>
                <a:latin typeface="Consolas"/>
                <a:ea typeface="Consolas"/>
                <a:cs typeface="Consolas"/>
              </a:rPr>
              <a:t>  { path: "", pathMatch: "full",</a:t>
            </a:r>
          </a:p>
          <a:p xmlns:a="http://schemas.openxmlformats.org/drawingml/2006/main">
            <a:pPr algn="l">
              <a:defRPr sz="1425" b="0">
                <a:solidFill>
                  <a:srgbClr val="087B80"/>
                </a:solidFill>
                <a:latin typeface="Consolas"/>
                <a:ea typeface="Consolas"/>
                <a:cs typeface="Consolas"/>
              </a:defRPr>
            </a:pPr>
            <a:r>
              <a:rPr sz="1425" b="0">
                <a:solidFill>
                  <a:srgbClr val="087B80"/>
                </a:solidFill>
                <a:latin typeface="Consolas"/>
                <a:ea typeface="Consolas"/>
                <a:cs typeface="Consolas"/>
              </a:rPr>
              <a:t>    component: HomeNoteComponent },</a:t>
            </a:r>
          </a:p>
          <a:p xmlns:a="http://schemas.openxmlformats.org/drawingml/2006/main">
            <a:pPr algn="l">
              <a:defRPr sz="1425" b="0">
                <a:solidFill>
                  <a:srgbClr val="087B80"/>
                </a:solidFill>
                <a:latin typeface="Consolas"/>
                <a:ea typeface="Consolas"/>
                <a:cs typeface="Consolas"/>
              </a:defRPr>
            </a:pPr>
            <a:r>
              <a:rPr sz="1425" b="0">
                <a:solidFill>
                  <a:srgbClr val="087B80"/>
                </a:solidFill>
                <a:latin typeface="Consolas"/>
                <a:ea typeface="Consolas"/>
                <a:cs typeface="Consolas"/>
              </a:rPr>
              <a:t>  { path: "courses", component: CourseLinksComponent },</a:t>
            </a:r>
          </a:p>
          <a:p xmlns:a="http://schemas.openxmlformats.org/drawingml/2006/main">
            <a:pPr algn="l">
              <a:defRPr sz="1425" b="0">
                <a:solidFill>
                  <a:srgbClr val="087B80"/>
                </a:solidFill>
                <a:latin typeface="Consolas"/>
                <a:ea typeface="Consolas"/>
                <a:cs typeface="Consolas"/>
              </a:defRPr>
            </a:pPr>
            <a:r>
              <a:rPr sz="1425" b="0">
                <a:solidFill>
                  <a:srgbClr val="087B80"/>
                </a:solidFill>
                <a:latin typeface="Consolas"/>
                <a:ea typeface="Consolas"/>
                <a:cs typeface="Consolas"/>
              </a:rPr>
              <a:t>  { path: "**", redirectTo: "" }</a:t>
            </a:r>
          </a:p>
          <a:p xmlns:a="http://schemas.openxmlformats.org/drawingml/2006/main">
            <a:pPr algn="l">
              <a:defRPr sz="1425" b="0">
                <a:solidFill>
                  <a:srgbClr val="087B80"/>
                </a:solidFill>
                <a:latin typeface="Consolas"/>
                <a:ea typeface="Consolas"/>
                <a:cs typeface="Consolas"/>
              </a:defRPr>
            </a:pPr>
            <a:r>
              <a:rPr sz="1425" b="0">
                <a:solidFill>
                  <a:srgbClr val="087B80"/>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1208B862-DD99-4A68-8CD8-D548506B0B0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The same project has a course-reference route</a:t>
            </a:r>
          </a:p>
        </p:txBody>
      </p:sp>
    </p:spTree>
    <p:extLst>
      <p:ext uri="{BB962C8B-B14F-4D97-AF65-F5344CB8AC3E}">
        <p14:creationId xmlns:p14="http://schemas.microsoft.com/office/powerpoint/2010/main" val="837956085"/>
      </p:ext>
    </p:extLst>
  </p:cSld>
</p:sld>
</file>

<file path=ppt/slides/slide3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RouterLink and RouterOutlet</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RouterLink performs client navigation.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RouterOutlet hosts the selected route view.</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Routing can preserve the application shell.</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31</a:t>
            </a:r>
          </a:p>
        </p:txBody>
      </p:sp>
      <p:sp>
        <p:nvSpPr>
          <p:cNvPr id="6" name="">
            <a:extLst xmlns:a="http://schemas.openxmlformats.org/drawingml/2006/main">
              <a:ext uri="{FF2B5EF4-FFF2-40B4-BE49-F238E27FC236}">
                <a16:creationId xmlns:a16="http://schemas.microsoft.com/office/drawing/2014/main" id="{680B8D34-1962-4ED9-AD42-D3281466E6B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087B80"/>
                </a:solidFill>
                <a:latin typeface="Consolas"/>
                <a:ea typeface="Consolas"/>
                <a:cs typeface="Consolas"/>
              </a:defRPr>
            </a:defPPr>
          </a:lstStyle>
          <a:p xmlns:a="http://schemas.openxmlformats.org/drawingml/2006/main">
            <a:pPr algn="l">
              <a:defRPr sz="1650" b="0">
                <a:solidFill>
                  <a:srgbClr val="087B80"/>
                </a:solidFill>
                <a:latin typeface="Consolas"/>
                <a:ea typeface="Consolas"/>
                <a:cs typeface="Consolas"/>
              </a:defRPr>
            </a:pPr>
            <a:r>
              <a:rPr sz="1650" b="0">
                <a:solidFill>
                  <a:srgbClr val="087B80"/>
                </a:solidFill>
                <a:latin typeface="Consolas"/>
                <a:ea typeface="Consolas"/>
                <a:cs typeface="Consolas"/>
              </a:rPr>
              <a:t>&lt;a routerLink="/courses"&gt;Course references&lt;/a&gt;</a:t>
            </a:r>
          </a:p>
          <a:p xmlns:a="http://schemas.openxmlformats.org/drawingml/2006/main">
            <a:pPr algn="l">
              <a:defRPr sz="1650" b="0">
                <a:solidFill>
                  <a:srgbClr val="087B80"/>
                </a:solidFill>
                <a:latin typeface="Consolas"/>
                <a:ea typeface="Consolas"/>
                <a:cs typeface="Consolas"/>
              </a:defRPr>
            </a:pPr>
            <a:r>
              <a:rPr sz="1650" b="0">
                <a:solidFill>
                  <a:srgbClr val="087B80"/>
                </a:solidFill>
                <a:latin typeface="Consolas"/>
                <a:ea typeface="Consolas"/>
                <a:cs typeface="Consolas"/>
              </a:rPr>
              <a:t>&lt;router-outlet /&gt;</a:t>
            </a:r>
          </a:p>
        </p:txBody>
      </p:sp>
      <p:sp>
        <p:nvSpPr>
          <p:cNvPr id="7" name="">
            <a:extLst xmlns:a="http://schemas.openxmlformats.org/drawingml/2006/main">
              <a:ext uri="{FF2B5EF4-FFF2-40B4-BE49-F238E27FC236}">
                <a16:creationId xmlns:a16="http://schemas.microsoft.com/office/drawing/2014/main" id="{D16A747E-5BAC-419C-8F6A-C9166216679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Course navigation keeps the catalog mounted</a:t>
            </a:r>
          </a:p>
        </p:txBody>
      </p:sp>
    </p:spTree>
    <p:extLst>
      <p:ext uri="{BB962C8B-B14F-4D97-AF65-F5344CB8AC3E}">
        <p14:creationId xmlns:p14="http://schemas.microsoft.com/office/powerpoint/2010/main" val="837956085"/>
      </p:ext>
    </p:extLst>
  </p:cSld>
</p:sld>
</file>

<file path=ppt/slides/slide3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Route parameters and lazy loading</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parameter identifies a resource in a path.</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ActivatedRoute exposes route information.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loadComponent can lazily import a page.</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32</a:t>
            </a:r>
          </a:p>
        </p:txBody>
      </p:sp>
      <p:sp>
        <p:nvSpPr>
          <p:cNvPr id="6" name="">
            <a:extLst xmlns:a="http://schemas.openxmlformats.org/drawingml/2006/main">
              <a:ext uri="{FF2B5EF4-FFF2-40B4-BE49-F238E27FC236}">
                <a16:creationId xmlns:a16="http://schemas.microsoft.com/office/drawing/2014/main" id="{E48CAD68-EBB2-4510-A6CA-601EE9E260D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path: "products/:id",</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loadComponent: () =&gt;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import("./product-detail").then(m =&gt;</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      m.ProductDetailComponent) }</a:t>
            </a:r>
          </a:p>
        </p:txBody>
      </p:sp>
      <p:sp>
        <p:nvSpPr>
          <p:cNvPr id="7" name="">
            <a:extLst xmlns:a="http://schemas.openxmlformats.org/drawingml/2006/main">
              <a:ext uri="{FF2B5EF4-FFF2-40B4-BE49-F238E27FC236}">
                <a16:creationId xmlns:a16="http://schemas.microsoft.com/office/drawing/2014/main" id="{D2A0AADE-5899-42BA-9968-827DF890D32A}"/>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This is an extension example, not a starter route</a:t>
            </a:r>
          </a:p>
        </p:txBody>
      </p:sp>
    </p:spTree>
    <p:extLst>
      <p:ext uri="{BB962C8B-B14F-4D97-AF65-F5344CB8AC3E}">
        <p14:creationId xmlns:p14="http://schemas.microsoft.com/office/powerpoint/2010/main" val="837956085"/>
      </p:ext>
    </p:extLst>
  </p:cSld>
</p:sld>
</file>

<file path=ppt/slides/slide3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Guards, interceptors and validation</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Guards can control route navigation.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Interceptors can process HTTP requests.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Server checks enforce real authorization.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Form checks improve the browser experience.</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33</a:t>
            </a:r>
          </a:p>
        </p:txBody>
      </p:sp>
    </p:spTree>
    <p:extLst>
      <p:ext uri="{BB962C8B-B14F-4D97-AF65-F5344CB8AC3E}">
        <p14:creationId xmlns:p14="http://schemas.microsoft.com/office/powerpoint/2010/main" val="837956085"/>
      </p:ext>
    </p:extLst>
  </p:cSld>
</p:sld>
</file>

<file path=ppt/slides/slide3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REFERENCE · AFTER CLASS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Testing and deployment practice</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 pure helper results.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 templates and user interactions.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 HttpTestingController for service tests.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Serve built browser files with correct asset paths.</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34</a:t>
            </a:r>
          </a:p>
        </p:txBody>
      </p:sp>
      <p:sp>
        <p:nvSpPr>
          <p:cNvPr id="6" name="">
            <a:extLst xmlns:a="http://schemas.openxmlformats.org/drawingml/2006/main">
              <a:ext uri="{FF2B5EF4-FFF2-40B4-BE49-F238E27FC236}">
                <a16:creationId xmlns:a16="http://schemas.microsoft.com/office/drawing/2014/main" id="{033B30E5-6068-43DE-9F83-1C00248B509D}"/>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npm run check:day-five</a:t>
            </a:r>
          </a:p>
          <a:p xmlns:a="http://schemas.openxmlformats.org/drawingml/2006/main">
            <a:pPr algn="l">
              <a:defRPr sz="1800" b="0">
                <a:solidFill>
                  <a:srgbClr val="087B80"/>
                </a:solidFill>
                <a:latin typeface="Consolas"/>
                <a:ea typeface="Consolas"/>
                <a:cs typeface="Consolas"/>
              </a:defRPr>
            </a:pPr>
            <a:r>
              <a:rPr sz="1800" b="0">
                <a:solidFill>
                  <a:srgbClr val="087B80"/>
                </a:solidFill>
                <a:latin typeface="Consolas"/>
                <a:ea typeface="Consolas"/>
                <a:cs typeface="Consolas"/>
              </a:rPr>
              <a:t>npm run build</a:t>
            </a:r>
          </a:p>
        </p:txBody>
      </p:sp>
      <p:sp>
        <p:nvSpPr>
          <p:cNvPr id="7" name="">
            <a:extLst xmlns:a="http://schemas.openxmlformats.org/drawingml/2006/main">
              <a:ext uri="{FF2B5EF4-FFF2-40B4-BE49-F238E27FC236}">
                <a16:creationId xmlns:a16="http://schemas.microsoft.com/office/drawing/2014/main" id="{152ADED6-643A-4135-B1B6-B5282118E73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defRPr sz="1725" b="1">
                <a:solidFill>
                  <a:srgbClr val="85551E"/>
                </a:solidFill>
                <a:latin typeface="Arial"/>
                <a:ea typeface="Arial"/>
                <a:cs typeface="Arial"/>
              </a:defRPr>
            </a:pPr>
            <a:r>
              <a:rPr sz="1725" b="1">
                <a:solidFill>
                  <a:srgbClr val="85551E"/>
                </a:solidFill>
                <a:latin typeface="Arial"/>
                <a:ea typeface="Arial"/>
                <a:cs typeface="Arial"/>
              </a:rPr>
              <a:t>The browser checks exercise the complete workflow</a:t>
            </a:r>
          </a:p>
        </p:txBody>
      </p:sp>
    </p:spTree>
    <p:extLst>
      <p:ext uri="{BB962C8B-B14F-4D97-AF65-F5344CB8AC3E}">
        <p14:creationId xmlns:p14="http://schemas.microsoft.com/office/powerpoint/2010/main" val="837956085"/>
      </p:ext>
    </p:extLst>
  </p:cSld>
</p:sld>
</file>

<file path=ppt/slides/slide3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COURSE REFERENCES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Thank you · Course IDs</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Course ID: 75214</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Course ID: 62104</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Trainer: Subha Prasad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Questions and continued practice</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35</a:t>
            </a:r>
          </a:p>
        </p:txBody>
      </p:sp>
    </p:spTree>
    <p:extLst>
      <p:ext uri="{BB962C8B-B14F-4D97-AF65-F5344CB8AC3E}">
        <p14:creationId xmlns:p14="http://schemas.microsoft.com/office/powerpoint/2010/main" val="837956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2026-10-11T18:13:32.5100000Z</dcterms:created>
  <dcterms:modified xsi:type="dcterms:W3CDTF">2026-10-11T18:13:32.5100000Z</dcterms:modified>
</coreProperties>
</file>