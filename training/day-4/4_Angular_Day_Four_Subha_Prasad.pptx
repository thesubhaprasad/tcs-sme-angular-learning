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c6cc726e5d40c6" /><Relationship Type="http://schemas.openxmlformats.org/officeDocument/2006/relationships/extended-properties" Target="/docProps/app.xml" Id="R8758ea9087514269" /><Relationship Type="http://schemas.openxmlformats.org/officeDocument/2006/relationships/officeDocument" Target="/ppt/presentation.xml" Id="Rf8e7a03580f8474d" /></Relationships>
</file>

<file path=ppt/presentation.xml><?xml version="1.0" encoding="utf-8"?>
<p:presentation xmlns:p="http://schemas.openxmlformats.org/presentationml/2006/main">
  <p:sldMasterIdLst>
    <p:sldMasterId xmlns:r="http://schemas.openxmlformats.org/officeDocument/2006/relationships" id="2147483648" r:id="Rd5d10b80175f4057"/>
  </p:sldMasterIdLst>
  <p:notesMasterIdLst>
    <p:notesMasterId xmlns:r="http://schemas.openxmlformats.org/officeDocument/2006/relationships" r:id="R2c6ee3466b504515"/>
  </p:notesMasterIdLst>
  <p:sldIdLst>
    <p:sldId xmlns:r="http://schemas.openxmlformats.org/officeDocument/2006/relationships" id="256" r:id="R0960053d1e7d48e2"/>
    <p:sldId xmlns:r="http://schemas.openxmlformats.org/officeDocument/2006/relationships" id="257" r:id="R78ed4d7ec85a4333"/>
    <p:sldId xmlns:r="http://schemas.openxmlformats.org/officeDocument/2006/relationships" id="258" r:id="Rebed79a2acdd4e55"/>
    <p:sldId xmlns:r="http://schemas.openxmlformats.org/officeDocument/2006/relationships" id="259" r:id="R6497bf0da9564f50"/>
    <p:sldId xmlns:r="http://schemas.openxmlformats.org/officeDocument/2006/relationships" id="260" r:id="R02985324f2e04e22"/>
    <p:sldId xmlns:r="http://schemas.openxmlformats.org/officeDocument/2006/relationships" id="261" r:id="R430c0b0bf7ac48ff"/>
    <p:sldId xmlns:r="http://schemas.openxmlformats.org/officeDocument/2006/relationships" id="262" r:id="Rc4715f8f4a8a4641"/>
    <p:sldId xmlns:r="http://schemas.openxmlformats.org/officeDocument/2006/relationships" id="263" r:id="R4b3abe93297c432b"/>
    <p:sldId xmlns:r="http://schemas.openxmlformats.org/officeDocument/2006/relationships" id="264" r:id="Reb7ab469a61a4029"/>
    <p:sldId xmlns:r="http://schemas.openxmlformats.org/officeDocument/2006/relationships" id="265" r:id="Ra27274bd2488405c"/>
    <p:sldId xmlns:r="http://schemas.openxmlformats.org/officeDocument/2006/relationships" id="266" r:id="R531f5e3f6f084c9b"/>
    <p:sldId xmlns:r="http://schemas.openxmlformats.org/officeDocument/2006/relationships" id="267" r:id="R61f4418d007043d7"/>
    <p:sldId xmlns:r="http://schemas.openxmlformats.org/officeDocument/2006/relationships" id="268" r:id="R61fa6ccb9ce34ef0"/>
    <p:sldId xmlns:r="http://schemas.openxmlformats.org/officeDocument/2006/relationships" id="269" r:id="R11b25853b3864bb6"/>
    <p:sldId xmlns:r="http://schemas.openxmlformats.org/officeDocument/2006/relationships" id="270" r:id="R6799258207d64408"/>
    <p:sldId xmlns:r="http://schemas.openxmlformats.org/officeDocument/2006/relationships" id="271" r:id="R4bd3d0e39683454a"/>
    <p:sldId xmlns:r="http://schemas.openxmlformats.org/officeDocument/2006/relationships" id="272" r:id="R700c1263ef6c4c7a"/>
    <p:sldId xmlns:r="http://schemas.openxmlformats.org/officeDocument/2006/relationships" id="273" r:id="Rcc890b8872d04af7"/>
    <p:sldId xmlns:r="http://schemas.openxmlformats.org/officeDocument/2006/relationships" id="274" r:id="R98a2e183086a4e88"/>
    <p:sldId xmlns:r="http://schemas.openxmlformats.org/officeDocument/2006/relationships" id="275" r:id="R92229204489f4182"/>
    <p:sldId xmlns:r="http://schemas.openxmlformats.org/officeDocument/2006/relationships" id="276" r:id="R148f2df0b10d49c2"/>
    <p:sldId xmlns:r="http://schemas.openxmlformats.org/officeDocument/2006/relationships" id="277" r:id="R9f91ccc720b1472c"/>
    <p:sldId xmlns:r="http://schemas.openxmlformats.org/officeDocument/2006/relationships" id="278" r:id="R0d73c6bb46b9454e"/>
    <p:sldId xmlns:r="http://schemas.openxmlformats.org/officeDocument/2006/relationships" id="279" r:id="Rd962b62bbc4f4812"/>
    <p:sldId xmlns:r="http://schemas.openxmlformats.org/officeDocument/2006/relationships" id="280" r:id="Rb8096c02423b40e2"/>
    <p:sldId xmlns:r="http://schemas.openxmlformats.org/officeDocument/2006/relationships" id="281" r:id="Rc05fe566c1ac4968"/>
    <p:sldId xmlns:r="http://schemas.openxmlformats.org/officeDocument/2006/relationships" id="282" r:id="R2717c346a8cd4d2e"/>
    <p:sldId xmlns:r="http://schemas.openxmlformats.org/officeDocument/2006/relationships" id="283" r:id="R2405557b11654a9d"/>
    <p:sldId xmlns:r="http://schemas.openxmlformats.org/officeDocument/2006/relationships" id="284" r:id="Re3898ac6ccba4225"/>
    <p:sldId xmlns:r="http://schemas.openxmlformats.org/officeDocument/2006/relationships" id="285" r:id="R2319711622e444e8"/>
    <p:sldId xmlns:r="http://schemas.openxmlformats.org/officeDocument/2006/relationships" id="286" r:id="R18b1776235274508"/>
    <p:sldId xmlns:r="http://schemas.openxmlformats.org/officeDocument/2006/relationships" id="287" r:id="R40601fee94ae4ec3"/>
    <p:sldId xmlns:r="http://schemas.openxmlformats.org/officeDocument/2006/relationships" id="288" r:id="R64c441ed96474f89"/>
    <p:sldId xmlns:r="http://schemas.openxmlformats.org/officeDocument/2006/relationships" id="289" r:id="Rc957110c760d42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37f24d189f4d68" /><Relationship Type="http://schemas.openxmlformats.org/officeDocument/2006/relationships/slideMaster" Target="/ppt/slideMasters/slideMaster1.xml" Id="Rd5d10b80175f4057" /><Relationship Type="http://schemas.openxmlformats.org/officeDocument/2006/relationships/notesMaster" Target="/ppt/notesMasters/notesMaster1.xml" Id="R2c6ee3466b504515" /><Relationship Type="http://schemas.openxmlformats.org/officeDocument/2006/relationships/presProps" Target="/ppt/presProps.xml" Id="R59a1fe9439c94835" /><Relationship Type="http://schemas.openxmlformats.org/officeDocument/2006/relationships/tableStyles" Target="/ppt/tableStyles.xml" Id="R306bff1473794d4d" /><Relationship Type="http://schemas.openxmlformats.org/officeDocument/2006/relationships/slide" Target="/ppt/slides/slide1.xml" Id="R0960053d1e7d48e2" /><Relationship Type="http://schemas.openxmlformats.org/officeDocument/2006/relationships/slide" Target="/ppt/slides/slide2.xml" Id="R78ed4d7ec85a4333" /><Relationship Type="http://schemas.openxmlformats.org/officeDocument/2006/relationships/slide" Target="/ppt/slides/slide3.xml" Id="Rebed79a2acdd4e55" /><Relationship Type="http://schemas.openxmlformats.org/officeDocument/2006/relationships/slide" Target="/ppt/slides/slide4.xml" Id="R6497bf0da9564f50" /><Relationship Type="http://schemas.openxmlformats.org/officeDocument/2006/relationships/slide" Target="/ppt/slides/slide5.xml" Id="R02985324f2e04e22" /><Relationship Type="http://schemas.openxmlformats.org/officeDocument/2006/relationships/slide" Target="/ppt/slides/slide6.xml" Id="R430c0b0bf7ac48ff" /><Relationship Type="http://schemas.openxmlformats.org/officeDocument/2006/relationships/slide" Target="/ppt/slides/slide7.xml" Id="Rc4715f8f4a8a4641" /><Relationship Type="http://schemas.openxmlformats.org/officeDocument/2006/relationships/slide" Target="/ppt/slides/slide8.xml" Id="R4b3abe93297c432b" /><Relationship Type="http://schemas.openxmlformats.org/officeDocument/2006/relationships/slide" Target="/ppt/slides/slide9.xml" Id="Reb7ab469a61a4029" /><Relationship Type="http://schemas.openxmlformats.org/officeDocument/2006/relationships/slide" Target="/ppt/slides/slide10.xml" Id="Ra27274bd2488405c" /><Relationship Type="http://schemas.openxmlformats.org/officeDocument/2006/relationships/slide" Target="/ppt/slides/slide11.xml" Id="R531f5e3f6f084c9b" /><Relationship Type="http://schemas.openxmlformats.org/officeDocument/2006/relationships/slide" Target="/ppt/slides/slide12.xml" Id="R61f4418d007043d7" /><Relationship Type="http://schemas.openxmlformats.org/officeDocument/2006/relationships/slide" Target="/ppt/slides/slide13.xml" Id="R61fa6ccb9ce34ef0" /><Relationship Type="http://schemas.openxmlformats.org/officeDocument/2006/relationships/slide" Target="/ppt/slides/slide14.xml" Id="R11b25853b3864bb6" /><Relationship Type="http://schemas.openxmlformats.org/officeDocument/2006/relationships/slide" Target="/ppt/slides/slide15.xml" Id="R6799258207d64408" /><Relationship Type="http://schemas.openxmlformats.org/officeDocument/2006/relationships/slide" Target="/ppt/slides/slide16.xml" Id="R4bd3d0e39683454a" /><Relationship Type="http://schemas.openxmlformats.org/officeDocument/2006/relationships/slide" Target="/ppt/slides/slide17.xml" Id="R700c1263ef6c4c7a" /><Relationship Type="http://schemas.openxmlformats.org/officeDocument/2006/relationships/slide" Target="/ppt/slides/slide18.xml" Id="Rcc890b8872d04af7" /><Relationship Type="http://schemas.openxmlformats.org/officeDocument/2006/relationships/slide" Target="/ppt/slides/slide19.xml" Id="R98a2e183086a4e88" /><Relationship Type="http://schemas.openxmlformats.org/officeDocument/2006/relationships/slide" Target="/ppt/slides/slide20.xml" Id="R92229204489f4182" /><Relationship Type="http://schemas.openxmlformats.org/officeDocument/2006/relationships/slide" Target="/ppt/slides/slide21.xml" Id="R148f2df0b10d49c2" /><Relationship Type="http://schemas.openxmlformats.org/officeDocument/2006/relationships/slide" Target="/ppt/slides/slide22.xml" Id="R9f91ccc720b1472c" /><Relationship Type="http://schemas.openxmlformats.org/officeDocument/2006/relationships/slide" Target="/ppt/slides/slide23.xml" Id="R0d73c6bb46b9454e" /><Relationship Type="http://schemas.openxmlformats.org/officeDocument/2006/relationships/slide" Target="/ppt/slides/slide24.xml" Id="Rd962b62bbc4f4812" /><Relationship Type="http://schemas.openxmlformats.org/officeDocument/2006/relationships/slide" Target="/ppt/slides/slide25.xml" Id="Rb8096c02423b40e2" /><Relationship Type="http://schemas.openxmlformats.org/officeDocument/2006/relationships/slide" Target="/ppt/slides/slide26.xml" Id="Rc05fe566c1ac4968" /><Relationship Type="http://schemas.openxmlformats.org/officeDocument/2006/relationships/slide" Target="/ppt/slides/slide27.xml" Id="R2717c346a8cd4d2e" /><Relationship Type="http://schemas.openxmlformats.org/officeDocument/2006/relationships/slide" Target="/ppt/slides/slide28.xml" Id="R2405557b11654a9d" /><Relationship Type="http://schemas.openxmlformats.org/officeDocument/2006/relationships/slide" Target="/ppt/slides/slide29.xml" Id="Re3898ac6ccba4225" /><Relationship Type="http://schemas.openxmlformats.org/officeDocument/2006/relationships/slide" Target="/ppt/slides/slide30.xml" Id="R2319711622e444e8" /><Relationship Type="http://schemas.openxmlformats.org/officeDocument/2006/relationships/slide" Target="/ppt/slides/slide31.xml" Id="R18b1776235274508" /><Relationship Type="http://schemas.openxmlformats.org/officeDocument/2006/relationships/slide" Target="/ppt/slides/slide32.xml" Id="R40601fee94ae4ec3" /><Relationship Type="http://schemas.openxmlformats.org/officeDocument/2006/relationships/slide" Target="/ppt/slides/slide33.xml" Id="R64c441ed96474f89" /><Relationship Type="http://schemas.openxmlformats.org/officeDocument/2006/relationships/slide" Target="/ppt/slides/slide34.xml" Id="Rc957110c760d42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4d3c4e483c49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46b58dbaa0459f" /><Relationship Type="http://schemas.openxmlformats.org/officeDocument/2006/relationships/notesMaster" Target="/ppt/notesMasters/notesMaster1.xml" Id="Rcd0511ca1e5841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f884fae1c04fde" /><Relationship Type="http://schemas.openxmlformats.org/officeDocument/2006/relationships/notesMaster" Target="/ppt/notesMasters/notesMaster1.xml" Id="R5d0484dd9dee45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a2aab8b3eb4e9d" /><Relationship Type="http://schemas.openxmlformats.org/officeDocument/2006/relationships/notesMaster" Target="/ppt/notesMasters/notesMaster1.xml" Id="R3b473471371f41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731920157e4f0f" /><Relationship Type="http://schemas.openxmlformats.org/officeDocument/2006/relationships/notesMaster" Target="/ppt/notesMasters/notesMaster1.xml" Id="Rd829c838d49448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61f8e965254b14" /><Relationship Type="http://schemas.openxmlformats.org/officeDocument/2006/relationships/notesMaster" Target="/ppt/notesMasters/notesMaster1.xml" Id="R71c7ea897b6544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e7901443874911" /><Relationship Type="http://schemas.openxmlformats.org/officeDocument/2006/relationships/notesMaster" Target="/ppt/notesMasters/notesMaster1.xml" Id="R0c044b2d37df4c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e6ec07799f4792" /><Relationship Type="http://schemas.openxmlformats.org/officeDocument/2006/relationships/notesMaster" Target="/ppt/notesMasters/notesMaster1.xml" Id="Rf9298224934741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332c5a9b0443c8" /><Relationship Type="http://schemas.openxmlformats.org/officeDocument/2006/relationships/notesMaster" Target="/ppt/notesMasters/notesMaster1.xml" Id="R07e025290e3a48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7d98f32b594d8f" /><Relationship Type="http://schemas.openxmlformats.org/officeDocument/2006/relationships/notesMaster" Target="/ppt/notesMasters/notesMaster1.xml" Id="Rbfd1a63a4af44d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77379d75284c86" /><Relationship Type="http://schemas.openxmlformats.org/officeDocument/2006/relationships/notesMaster" Target="/ppt/notesMasters/notesMaster1.xml" Id="R44b46a424b684e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b64046cbb345d2" /><Relationship Type="http://schemas.openxmlformats.org/officeDocument/2006/relationships/notesMaster" Target="/ppt/notesMasters/notesMaster1.xml" Id="R77fdeb34c7454c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cbec46a01cf45b1" /><Relationship Type="http://schemas.openxmlformats.org/officeDocument/2006/relationships/notesMaster" Target="/ppt/notesMasters/notesMaster1.xml" Id="Rac6cd0279ce64d4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94c952bdf64f47" /><Relationship Type="http://schemas.openxmlformats.org/officeDocument/2006/relationships/notesMaster" Target="/ppt/notesMasters/notesMaster1.xml" Id="R27d3c2c2e2ea43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87b7c5e8254e4b" /><Relationship Type="http://schemas.openxmlformats.org/officeDocument/2006/relationships/notesMaster" Target="/ppt/notesMasters/notesMaster1.xml" Id="R676aaada356241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863428669941bb" /><Relationship Type="http://schemas.openxmlformats.org/officeDocument/2006/relationships/notesMaster" Target="/ppt/notesMasters/notesMaster1.xml" Id="R3c43952d561d42b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556d8293137491f" /><Relationship Type="http://schemas.openxmlformats.org/officeDocument/2006/relationships/notesMaster" Target="/ppt/notesMasters/notesMaster1.xml" Id="Rb850c1fb5f97448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a9057d0bafd40b7" /><Relationship Type="http://schemas.openxmlformats.org/officeDocument/2006/relationships/notesMaster" Target="/ppt/notesMasters/notesMaster1.xml" Id="R3528f0fc36984cc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7752fc65844a0f" /><Relationship Type="http://schemas.openxmlformats.org/officeDocument/2006/relationships/notesMaster" Target="/ppt/notesMasters/notesMaster1.xml" Id="Rf9fc62aa6c35459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f2d4326286d425c" /><Relationship Type="http://schemas.openxmlformats.org/officeDocument/2006/relationships/notesMaster" Target="/ppt/notesMasters/notesMaster1.xml" Id="R90df6bcab24148e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49e50b1bb2f49d4" /><Relationship Type="http://schemas.openxmlformats.org/officeDocument/2006/relationships/notesMaster" Target="/ppt/notesMasters/notesMaster1.xml" Id="R576445b84755415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55a5ab5cf404ead" /><Relationship Type="http://schemas.openxmlformats.org/officeDocument/2006/relationships/notesMaster" Target="/ppt/notesMasters/notesMaster1.xml" Id="Rac195a36195e48c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33cd727d34a460d" /><Relationship Type="http://schemas.openxmlformats.org/officeDocument/2006/relationships/notesMaster" Target="/ppt/notesMasters/notesMaster1.xml" Id="Rf42ab92e352e467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b4737432d04bb6" /><Relationship Type="http://schemas.openxmlformats.org/officeDocument/2006/relationships/notesMaster" Target="/ppt/notesMasters/notesMaster1.xml" Id="Re7613353261c474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eef43b6ec494f8b" /><Relationship Type="http://schemas.openxmlformats.org/officeDocument/2006/relationships/notesMaster" Target="/ppt/notesMasters/notesMaster1.xml" Id="R1b9470b060b04ed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6a46f94e5784aac" /><Relationship Type="http://schemas.openxmlformats.org/officeDocument/2006/relationships/notesMaster" Target="/ppt/notesMasters/notesMaster1.xml" Id="R5ecac206e685406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69d0ab65b8a4946" /><Relationship Type="http://schemas.openxmlformats.org/officeDocument/2006/relationships/notesMaster" Target="/ppt/notesMasters/notesMaster1.xml" Id="R927ef35cef4c4f0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c8cbfa140544ef6" /><Relationship Type="http://schemas.openxmlformats.org/officeDocument/2006/relationships/notesMaster" Target="/ppt/notesMasters/notesMaster1.xml" Id="R45c593c277aa4c0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a7f977b4c784067" /><Relationship Type="http://schemas.openxmlformats.org/officeDocument/2006/relationships/notesMaster" Target="/ppt/notesMasters/notesMaster1.xml" Id="R4c5fcf06eb8847f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008150db2704243" /><Relationship Type="http://schemas.openxmlformats.org/officeDocument/2006/relationships/notesMaster" Target="/ppt/notesMasters/notesMaster1.xml" Id="Rdc20633054ad4d0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9a5a28615eb4154" /><Relationship Type="http://schemas.openxmlformats.org/officeDocument/2006/relationships/notesMaster" Target="/ppt/notesMasters/notesMaster1.xml" Id="Rf0ed9e0479ce4af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713726289dc4661" /><Relationship Type="http://schemas.openxmlformats.org/officeDocument/2006/relationships/notesMaster" Target="/ppt/notesMasters/notesMaster1.xml" Id="R7f505a4883e14b8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ef9f0d7c5854788" /><Relationship Type="http://schemas.openxmlformats.org/officeDocument/2006/relationships/notesMaster" Target="/ppt/notesMasters/notesMaster1.xml" Id="R36d28548a3fb4c8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1f88900b9214e42" /><Relationship Type="http://schemas.openxmlformats.org/officeDocument/2006/relationships/notesMaster" Target="/ppt/notesMasters/notesMaster1.xml" Id="R26ecd9eb79fd475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a2c203723f6410c" /><Relationship Type="http://schemas.openxmlformats.org/officeDocument/2006/relationships/notesMaster" Target="/ppt/notesMasters/notesMaster1.xml" Id="R4ee6e0614bcc4d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Welcome learners in Microsoft Teams. Trainer: TCS Assets Consultant (C3A), SME. The Product Catalog uses fictional INR values.</a:t>
            </a:r>
          </a:p>
          <a:p xmlns:a="http://schemas.openxmlformats.org/drawingml/2006/main">
            <a:r>
              <a:t>Source: https://angular.dev/guide/components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Keep the Day3 interactions. HttpClient and an injected service replace direct fetch in the live Angular app. Plain fetch concepts are still covered as in React.</a:t>
            </a:r>
          </a:p>
          <a:p xmlns:a="http://schemas.openxmlformats.org/drawingml/2006/main">
            <a:r>
              <a:t>Source: https://angular.dev/guide/http/making-requests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Reference slides add setup, stream operators and Promise/fetch cancellation details. Core and extra material are labelled separately.</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An empty initial array does not distinguish waiting from success-empty; a separate status does. The summary is hidden until success.</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Open public/products.json. This slide shows one object inside the array. No export declaration belongs in JSON.</a:t>
            </a:r>
          </a:p>
          <a:p xmlns:a="http://schemas.openxmlformats.org/drawingml/2006/main">
            <a:r>
              <a:t>Source: https://developer.mozilla.org/en-US/docs/Web/API/Fetch_API/Using_Fetch</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Use the CLI server, not direct HTML file opening. Root-relative paths assume hosting at the site root. Adjust paths when deploying to a subdirectory.</a:t>
            </a:r>
          </a:p>
          <a:p xmlns:a="http://schemas.openxmlformats.org/drawingml/2006/main">
            <a:r>
              <a:t>Source: https://angular.dev/reference/configs/workspace-config</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This is plain browser JavaScript background. HttpClient returns an Observable in the live app. A fulfilled fetch Promise supplies a Response, then body parsing takes another step.</a:t>
            </a:r>
          </a:p>
          <a:p xmlns:a="http://schemas.openxmlformats.org/drawingml/2006/main">
            <a:r>
              <a:t>Source: https://developer.mozilla.org/en-US/docs/Web/API/Fetch_API/Using_Fetch</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Introductory excerpt omits HTTP checks and validation. The Node lesson also awaits file reading to practise this syntax. Avoid mixing Promise .then and subscribe without explaining their different models.</a:t>
            </a:r>
          </a:p>
          <a:p xmlns:a="http://schemas.openxmlformats.org/drawingml/2006/main">
            <a:r>
              <a:t>Source: https://developer.mozilla.org/en-US/docs/Web/API/Fetch_API/Using_Fetch</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Excerpt belongs inside an async function. In TypeScript strict mode error is unknown; narrow before reading message. An Observable subscribe uses an error callback instead of catching a later emission with a surrounding try.</a:t>
            </a:r>
          </a:p>
          <a:p xmlns:a="http://schemas.openxmlformats.org/drawingml/2006/main">
            <a:r>
              <a:t>Source: https://developer.mozilla.org/en-US/docs/Web/API/Fetch_API/Using_Fetch</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fetch response.ok is true for HTTP 200–299. Plain fetch does not reject solely for HTTP 404/500, while HttpClient sends unsuccessful HTTP responses to the error callback. The live service returns parsed JSON data, so do not try to read response.ok on that body.</a:t>
            </a:r>
          </a:p>
          <a:p xmlns:a="http://schemas.openxmlformats.org/drawingml/2006/main">
            <a:r>
              <a:t>Source: https://angular.dev/guide/http/making-requests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Open validate-products.ts. The boundary accepts unknown and checks that it is an array. Each product needs a unique nonblank ID, nonblank name, finite nonnegative numeric price, known category and boolean stock flag. Empty arrays are valid. A TypeScript generic cannot perform these runtime checks.</a:t>
            </a:r>
          </a:p>
          <a:p xmlns:a="http://schemas.openxmlformats.org/drawingml/2006/main">
            <a:r>
              <a:t>Source: https://angular.dev/guide/http/making-requests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This translates render/event/Effect responsibilities. Angular does not use React useEffect. Do not fetch from a getter or interpolation, which may run repeatedly.</a:t>
            </a:r>
          </a:p>
          <a:p xmlns:a="http://schemas.openxmlformats.org/drawingml/2006/main">
            <a:r>
              <a:t>Source: https://angular.dev/guide/components/lifecycle</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Open ProductService and main.ts. @Injectable({providedIn: "root"}) registers this stateless service at application scope, inject(HttpClient) obtains the configured client, and provideHttpClient enables it. The method uses get&lt;unknown&gt;().pipe(map(validateProducts)). App owns the request status today.</a:t>
            </a:r>
          </a:p>
          <a:p xmlns:a="http://schemas.openxmlformats.org/drawingml/2006/main">
            <a:r>
              <a:t>Source: https://angular.dev/guide/di</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ngOnInit starts the initial request once per App instance. Retry explicitly calls loadProducts. Search and cart methods do not invoke loading. There is no React dependency array in this implementation. Dynamic resource inputs need their own change trigger, such as ngOnChanges or an explicit observable pipeline.</a:t>
            </a:r>
          </a:p>
          <a:p xmlns:a="http://schemas.openxmlformats.org/drawingml/2006/main">
            <a:r>
              <a:t>Source: https://angular.dev/guide/components/lifecycle</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Every subscription to this cold HttpClient Observable issues a request. Subscribe once for each intended attempt. Never create subscriptions from a template getter. The real method unsubscribes the previous request and includes error handling plus destruction cleanup. Angular development checks are not React StrictMode setup/cleanup cycles.</a:t>
            </a:r>
          </a:p>
          <a:p xmlns:a="http://schemas.openxmlformats.org/drawingml/2006/main">
            <a:r>
              <a:t>Source: https://angular.dev/guide/http/making-requests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A status union prevents contradictory independent booleans. Retry does not need a React counter here; the method directly restarts the request.</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Read the first lines of loadProducts: unsubscribe the old attempt, set loading, clear error, subscribe to the service. The app has no artificial delay. Use browser Network throttling with cache disabled to make the loading message visible.</a:t>
            </a:r>
          </a:p>
          <a:p xmlns:a="http://schemas.openxmlformats.org/drawingml/2006/main">
            <a:r>
              <a:t>Source: https://angular.dev/guide/http/making-requests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This next property belongs inside subscribe({...}). On successful validated data, products.set updates the source and status.set("success") reveals the catalog. HttpClient normally completes after its response. A validator error thrown in the RxJS map pipeline reaches error instead.</a:t>
            </a:r>
          </a:p>
          <a:p xmlns:a="http://schemas.openxmlformats.org/drawingml/2006/main">
            <a:r>
              <a:t>Source: https://angular.dev/guide/http/making-requests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full template also includes a heading and Retry button for failure. Summary/cards are hidden while waiting or after an error. A successful empty array receives the resource-empty message. Show that no request failure masquerades as a successful zero total.</a:t>
            </a:r>
          </a:p>
          <a:p xmlns:a="http://schemas.openxmlformats.org/drawingml/2006/main">
            <a:r>
              <a:t>Source: https://angular.dev/guide/templates/control-flow</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Try [] in public/products.json, reload and observe No products are available yet. Restore the four-item array. Search for Laptop in the normal catalog to see the distinct no-filter-matches message. Both are valid successful request outcomes.</a:t>
            </a:r>
          </a:p>
          <a:p xmlns:a="http://schemas.openxmlformats.org/drawingml/2006/main">
            <a:r>
              <a:t>Source: https://angular.dev/guide/templates/control-flow</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Temporarily rename public/products.json to products-backup.json and reload. Some dev servers return HTML for a missing route, which causes a JSON parsing error rather than HTTP 404. Restore the resource and click Retry. The same page should show loading and then the catalog, without a full reload.</a:t>
            </a:r>
          </a:p>
          <a:p xmlns:a="http://schemas.openxmlformats.org/drawingml/2006/main">
            <a:r>
              <a:t>Source: https://angular.dev/guide/http/making-requests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Inject DestroyRef in a class field. Pass it to takeUntilDestroyed because loadProducts runs after construction. This unsubscribes when the owner is destroyed. Explicit unsubscribe before Retry cancels the old attempt sooner. HttpClient cancellation uses subscription cleanup. Plain browser fetch uses AbortController. Cancellation cannot undo a server-side mutation already performed.</a:t>
            </a:r>
          </a:p>
          <a:p xmlns:a="http://schemas.openxmlformats.org/drawingml/2006/main">
            <a:r>
              <a:t>Source: https://angular.dev/guide/http/making-requests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The error callback narrows/normalizes a failure using requestMessage, then sets error status. An Observable is not a Promise. Awaiting it does not subscribe, and a surrounding try/catch cannot catch a later stream emission. Reference slides explain firstValueFrom as an intentional bridge.</a:t>
            </a:r>
          </a:p>
          <a:p xmlns:a="http://schemas.openxmlformats.org/drawingml/2006/main">
            <a:r>
              <a:t>Source: https://angular.dev/guide/http/making-requests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 minute(s).</a:t>
            </a:r>
          </a:p>
          <a:p xmlns:a="http://schemas.openxmlformats.org/drawingml/2006/main">
            <a:r>
              <a:t>Show the actual Angular screenshot after the HTTP response. Inspect Network products.json, then add Notebook and Bag for ₹580. Static products.ts is retained for previous lesson scripts, but App now reads the HTTP result. Reload resets filters, cart and note.</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Read main.ts provider setup, ProductService, validateProducts and App in that order. Run check:day-four to practise awaited file reading, JSON parsing and validation. Ask a learner to narrate subscription, validated next value, signal write and template update.</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Use slow network throttling with cache disabled. Observe loading then four cards. Simulate unavailable resource, malformed JSON, invalid schema and HTTP 500. Restore the resource and Retry. Remove throttling afterwards. Typing in search must not add products requests.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 minute(s).</a:t>
            </a:r>
          </a:p>
          <a:p xmlns:a="http://schemas.openxmlformats.org/drawingml/2006/main">
            <a:r>
              <a:t>Give learners time to change Notebook from ₹80 to ₹100. Reload, add Notebook and Bag, and expect ₹600. Try [] and explain valid empty success. Restore the original ₹80 price and four products. Optional extension: add P-105 Pencil, ₹10, Stationery, inStock true. Counts become 5/3/2 and Notebook+Bag+Pencil totals ₹590.</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A missing provideHttpClient causes a dependency injection error. Repeated subscriptions produce repeated requests. Await does not activate an Observable. A TypeScript type is not runtime validation. Cleanup must match the lifetime of the component. Locate the corresponding correct file for each mistake.</a:t>
            </a:r>
          </a:p>
          <a:p xmlns:a="http://schemas.openxmlformats.org/drawingml/2006/main">
            <a:r>
              <a:t>Source: https://angular.dev/guide/http/making-requests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Answers: 1 An Observable. 2 Subscribing. 3 The error callback. 4 Explicit unsubscribe for replacement and takeUntilDestroyed for owner destruction. 5 No, an empty array is valid success. Ask how this differs from plain fetch: unsuccessful HTTP status requires response.ok checking there.</a:t>
            </a:r>
          </a:p>
          <a:p xmlns:a="http://schemas.openxmlformats.org/drawingml/2006/main">
            <a:r>
              <a:t>Source: https://angular.dev/guide/http/making-requests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Homework: add P-105 Pencil priced ₹10, Stationery, inStock true. Reload and expect 5 total, 3 in stock and 2 out of stock. Notebook+Bag+Pencil gives ₹590. Day 5 extracts request state into a scoped service and introduces a validated reactive form.</a:t>
            </a:r>
          </a:p>
          <a:p xmlns:a="http://schemas.openxmlformats.org/drawingml/2006/main">
            <a:r>
              <a:t>Source: https://angular.dev/guide/http/making-requests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 minute(s). Optional reference after class.</a:t>
            </a:r>
          </a:p>
          <a:p xmlns:a="http://schemas.openxmlformats.org/drawingml/2006/main">
            <a:r>
              <a:t>An RxJS Observable can emit zero, one or many values. This cold HTTP Observable starts when subscribed, normally emits one parsed response and completes. A long-lived stream may keep emitting. Unsubscribe activates teardown. The starter deliberately uses one subscription per intended request.</a:t>
            </a:r>
          </a:p>
          <a:p xmlns:a="http://schemas.openxmlformats.org/drawingml/2006/main">
            <a:r>
              <a:t>Source: https://rxjs.dev/guide/observable</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 minute(s). Optional reference after class.</a:t>
            </a:r>
          </a:p>
          <a:p xmlns:a="http://schemas.openxmlformats.org/drawingml/2006/main">
            <a:r>
              <a:t>Import firstValueFrom from rxjs before using this bridge. It resolves from the first emitted value and returns a Promise. This conversion does not automatically tie work to the component lifetime. Keep the native subscription pattern for the beginner starter.</a:t>
            </a:r>
          </a:p>
          <a:p xmlns:a="http://schemas.openxmlformats.org/drawingml/2006/main">
            <a:r>
              <a:t>Source: https://angular.dev/guide/http/making-requests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 minute(s). Optional reference after class.</a:t>
            </a:r>
          </a:p>
          <a:p xmlns:a="http://schemas.openxmlformats.org/drawingml/2006/main">
            <a:r>
              <a:t>RxJS map transforms each emitted value; Array.map transforms array elements, so their roles differ. switchMap can replace an older inner request, catchError returns a recovery Observable, and AsyncPipe manages its subscription. Avoid simultaneous manual and AsyncPipe subscriptions to the same cold HTTP request unless duplicate requests are intended.</a:t>
            </a:r>
          </a:p>
          <a:p xmlns:a="http://schemas.openxmlformats.org/drawingml/2006/main">
            <a:r>
              <a:t>Source: https://angular.dev/guide/http/making-requests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 minute(s). Optional reference after class.</a:t>
            </a:r>
          </a:p>
          <a:p xmlns:a="http://schemas.openxmlformats.org/drawingml/2006/main">
            <a:r>
              <a:t>This excerpt belongs inside an async browser function and keeps the original fetch/AbortController concepts. Check response.ok, parse response.json, validate data, and ignore an intentional AbortError after controller.abort(). The live Angular service uses HttpClient and subscription cancellation instead.</a:t>
            </a:r>
          </a:p>
          <a:p xmlns:a="http://schemas.openxmlformats.org/drawingml/2006/main">
            <a:r>
              <a:t>Source: https://developer.mozilla.org/en-US/docs/Web/API/Fetch_API/Using_Fetch</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b4a5ee73d74b3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6ca208ecd14e4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e07e2bf1d441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969fe66074441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bb365d4aaf49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c73ff58186042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0A31C8-5CD1-4964-874A-69C50F8C5F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9439DD-B815-4D4D-A727-69E1A8D789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276578-A3AD-418F-B8A3-B496C440B6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F8F829-72B4-4A78-8283-8014F1F349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80531E1-0AA5-4516-BB9B-7CB2FB0CE6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AB85F77-1196-4DDD-8A4C-FC049C8D78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98E8F8-55DD-440F-87A2-6ADA79CF0D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91927E-75BF-4EB6-85A6-BA823D97A1E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484519-9854-4D93-8634-A543E8A659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4F4638-B2BB-473B-88B8-0DDDE3A0F1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1e357307a043e6" /><Relationship Type="http://schemas.openxmlformats.org/officeDocument/2006/relationships/slideLayout" Target="/ppt/slideLayouts/slideLayout1.xml" Id="Rd36d5ecee5bc43cd" /><Relationship Type="http://schemas.openxmlformats.org/officeDocument/2006/relationships/slideLayout" Target="/ppt/slideLayouts/slideLayout2.xml" Id="Ra7640cb3487c4e33" /><Relationship Type="http://schemas.openxmlformats.org/officeDocument/2006/relationships/slideLayout" Target="/ppt/slideLayouts/slideLayout3.xml" Id="R8d1ba9b7c7224df8" /><Relationship Type="http://schemas.openxmlformats.org/officeDocument/2006/relationships/slideLayout" Target="/ppt/slideLayouts/slideLayout4.xml" Id="Ra14e46ad7bd64548" /><Relationship Type="http://schemas.openxmlformats.org/officeDocument/2006/relationships/slideLayout" Target="/ppt/slideLayouts/slideLayout5.xml" Id="Rf30fe1e07529447e" /><Relationship Type="http://schemas.openxmlformats.org/officeDocument/2006/relationships/slideLayout" Target="/ppt/slideLayouts/slideLayout6.xml" Id="R84c357b3686343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6d5ecee5bc43cd"/>
    <p:sldLayoutId xmlns:r="http://schemas.openxmlformats.org/officeDocument/2006/relationships" id="2147483650" r:id="Ra7640cb3487c4e33"/>
    <p:sldLayoutId xmlns:r="http://schemas.openxmlformats.org/officeDocument/2006/relationships" id="2147483651" r:id="R8d1ba9b7c7224df8"/>
    <p:sldLayoutId xmlns:r="http://schemas.openxmlformats.org/officeDocument/2006/relationships" id="2147483652" r:id="Ra14e46ad7bd64548"/>
    <p:sldLayoutId xmlns:r="http://schemas.openxmlformats.org/officeDocument/2006/relationships" id="2147483653" r:id="Rf30fe1e07529447e"/>
    <p:sldLayoutId xmlns:r="http://schemas.openxmlformats.org/officeDocument/2006/relationships" id="2147483654" r:id="R84c357b3686343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0f169a55b4b4421" /><Relationship Type="http://schemas.openxmlformats.org/officeDocument/2006/relationships/image" Target="/ppt/media/image.png" Id="Ra16009de5fc74e6b" /><Relationship Type="http://schemas.openxmlformats.org/officeDocument/2006/relationships/notesSlide" Target="/ppt/notesSlides/notesSlide1.xml" Id="Rc25a6800b1d94e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01de700292d4a49" /><Relationship Type="http://schemas.openxmlformats.org/officeDocument/2006/relationships/notesSlide" Target="/ppt/notesSlides/notesSlide2.xml" Id="R8439aac578444c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75c4c5f60744802" /><Relationship Type="http://schemas.openxmlformats.org/officeDocument/2006/relationships/notesSlide" Target="/ppt/notesSlides/notesSlide3.xml" Id="Rea0f684d384541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6a9a00fda2346e4" /><Relationship Type="http://schemas.openxmlformats.org/officeDocument/2006/relationships/notesSlide" Target="/ppt/notesSlides/notesSlide4.xml" Id="R25c32003115047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cd6ce6c53a34f00" /><Relationship Type="http://schemas.openxmlformats.org/officeDocument/2006/relationships/notesSlide" Target="/ppt/notesSlides/notesSlide5.xml" Id="Rb04aa10a74ce4e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3d512d80e24c10" /><Relationship Type="http://schemas.openxmlformats.org/officeDocument/2006/relationships/notesSlide" Target="/ppt/notesSlides/notesSlide6.xml" Id="R9f8dc05f448f40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ab299026c2841f4" /><Relationship Type="http://schemas.openxmlformats.org/officeDocument/2006/relationships/notesSlide" Target="/ppt/notesSlides/notesSlide7.xml" Id="R88751f9f140f42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55b611bd3c7471f" /><Relationship Type="http://schemas.openxmlformats.org/officeDocument/2006/relationships/notesSlide" Target="/ppt/notesSlides/notesSlide8.xml" Id="R69e556b4e99a49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185c97d502d4e5f" /><Relationship Type="http://schemas.openxmlformats.org/officeDocument/2006/relationships/notesSlide" Target="/ppt/notesSlides/notesSlide9.xml" Id="R2be40196b3ae4b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97fcfbef78349ea" /><Relationship Type="http://schemas.openxmlformats.org/officeDocument/2006/relationships/notesSlide" Target="/ppt/notesSlides/notesSlide10.xml" Id="Rf356078f246141c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33c1bdef12d4441" /><Relationship Type="http://schemas.openxmlformats.org/officeDocument/2006/relationships/notesSlide" Target="/ppt/notesSlides/notesSlide11.xml" Id="R1eed8dfb455e4e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fd3c835ab744333" /><Relationship Type="http://schemas.openxmlformats.org/officeDocument/2006/relationships/notesSlide" Target="/ppt/notesSlides/notesSlide12.xml" Id="Ra0c69ab697034a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40bf8afac3e47d7" /><Relationship Type="http://schemas.openxmlformats.org/officeDocument/2006/relationships/notesSlide" Target="/ppt/notesSlides/notesSlide13.xml" Id="R557fb73edbd44f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05703995b3a4d41" /><Relationship Type="http://schemas.openxmlformats.org/officeDocument/2006/relationships/notesSlide" Target="/ppt/notesSlides/notesSlide14.xml" Id="R706673349ca144c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e2ce01eae084f85" /><Relationship Type="http://schemas.openxmlformats.org/officeDocument/2006/relationships/notesSlide" Target="/ppt/notesSlides/notesSlide15.xml" Id="R7cda2157bd954ba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b8e3eac633148bb" /><Relationship Type="http://schemas.openxmlformats.org/officeDocument/2006/relationships/notesSlide" Target="/ppt/notesSlides/notesSlide16.xml" Id="Rf7c30e441a8b432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861e4b493134c86" /><Relationship Type="http://schemas.openxmlformats.org/officeDocument/2006/relationships/notesSlide" Target="/ppt/notesSlides/notesSlide17.xml" Id="R8040b6bf6a30419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c3e17caa09f45d5" /><Relationship Type="http://schemas.openxmlformats.org/officeDocument/2006/relationships/notesSlide" Target="/ppt/notesSlides/notesSlide18.xml" Id="Rc6edc5a22a764bf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62b26aed2af42e1" /><Relationship Type="http://schemas.openxmlformats.org/officeDocument/2006/relationships/notesSlide" Target="/ppt/notesSlides/notesSlide19.xml" Id="Rfcdcae3e053043c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b5ea45549c84589" /><Relationship Type="http://schemas.openxmlformats.org/officeDocument/2006/relationships/notesSlide" Target="/ppt/notesSlides/notesSlide20.xml" Id="Rc3127807edd947a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5e25622004146da" /><Relationship Type="http://schemas.openxmlformats.org/officeDocument/2006/relationships/notesSlide" Target="/ppt/notesSlides/notesSlide21.xml" Id="R337658b7af844d9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4971fe0419f42ed" /><Relationship Type="http://schemas.openxmlformats.org/officeDocument/2006/relationships/notesSlide" Target="/ppt/notesSlides/notesSlide22.xml" Id="R5a63d94423de499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effc4c5afbf45d2" /><Relationship Type="http://schemas.openxmlformats.org/officeDocument/2006/relationships/notesSlide" Target="/ppt/notesSlides/notesSlide23.xml" Id="R2d79008a4ad2451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7109be6fe1a4d2a" /><Relationship Type="http://schemas.openxmlformats.org/officeDocument/2006/relationships/image" Target="/ppt/media/image2.png" Id="R7dd67a8bc9ac4c27" /><Relationship Type="http://schemas.openxmlformats.org/officeDocument/2006/relationships/notesSlide" Target="/ppt/notesSlides/notesSlide24.xml" Id="R674b9aaa5a0e435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09fc88cebdd417b" /><Relationship Type="http://schemas.openxmlformats.org/officeDocument/2006/relationships/notesSlide" Target="/ppt/notesSlides/notesSlide25.xml" Id="R84ba6d8dcd1d481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395e9a0effb4356" /><Relationship Type="http://schemas.openxmlformats.org/officeDocument/2006/relationships/notesSlide" Target="/ppt/notesSlides/notesSlide26.xml" Id="R33b4a393409d444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6fde9f9cc3241d6" /><Relationship Type="http://schemas.openxmlformats.org/officeDocument/2006/relationships/notesSlide" Target="/ppt/notesSlides/notesSlide27.xml" Id="Rf656a44eb20c4fe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b90599a8ff04083" /><Relationship Type="http://schemas.openxmlformats.org/officeDocument/2006/relationships/notesSlide" Target="/ppt/notesSlides/notesSlide28.xml" Id="R0a943d391dc34a6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5c91b2d87ed4780" /><Relationship Type="http://schemas.openxmlformats.org/officeDocument/2006/relationships/notesSlide" Target="/ppt/notesSlides/notesSlide29.xml" Id="Rd2177df155bb475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517e6c394724820" /><Relationship Type="http://schemas.openxmlformats.org/officeDocument/2006/relationships/notesSlide" Target="/ppt/notesSlides/notesSlide30.xml" Id="Rdc77c38f87c449f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94e8cc62f9841e9" /><Relationship Type="http://schemas.openxmlformats.org/officeDocument/2006/relationships/notesSlide" Target="/ppt/notesSlides/notesSlide31.xml" Id="R1641fddabc4b434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9a81e30cd8840cf" /><Relationship Type="http://schemas.openxmlformats.org/officeDocument/2006/relationships/notesSlide" Target="/ppt/notesSlides/notesSlide32.xml" Id="R25f9dac2ed90420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63f65d2713a4d69" /><Relationship Type="http://schemas.openxmlformats.org/officeDocument/2006/relationships/notesSlide" Target="/ppt/notesSlides/notesSlide33.xml" Id="R4cf3cacfa06d499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d5c17cc8ab74189" /><Relationship Type="http://schemas.openxmlformats.org/officeDocument/2006/relationships/notesSlide" Target="/ppt/notesSlides/notesSlide34.xml" Id="R382cde7ce7114c5e" /></Relationships>
</file>

<file path=ppt/slides/slide1.xml><?xml version="1.0" encoding="utf-8"?>
<p:sld xmlns:p="http://schemas.openxmlformats.org/presentationml/2006/main">
  <p:cSld>
    <p:bg>
      <p:bgPr>
        <a:solidFill xmlns:a="http://schemas.openxmlformats.org/drawingml/2006/main">
          <a:srgbClr val="14374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2D5DF3-D13A-419E-97D1-696D40A8F4A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92E8DF"/>
                </a:solidFill>
                <a:latin typeface="Arial"/>
                <a:ea typeface="Arial"/>
                <a:cs typeface="Arial"/>
              </a:defRPr>
            </a:defPPr>
          </a:lstStyle>
          <a:p xmlns:a="http://schemas.openxmlformats.org/drawingml/2006/main">
            <a:pPr algn="l">
              <a:buNone/>
              <a:defRPr sz="1275" b="1">
                <a:solidFill>
                  <a:srgbClr val="92E8DF"/>
                </a:solidFill>
                <a:latin typeface="Arial"/>
                <a:ea typeface="Arial"/>
                <a:cs typeface="Arial"/>
              </a:defRPr>
            </a:pPr>
            <a:r>
              <a:rPr sz="1275" b="1">
                <a:solidFill>
                  <a:srgbClr val="92E8DF"/>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DD9342A3-A7F2-4674-98DC-1EBFFE46F6DB}"/>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4650" b="1">
                <a:solidFill>
                  <a:srgbClr val="FFFFFF"/>
                </a:solidFill>
                <a:latin typeface="Arial"/>
                <a:ea typeface="Arial"/>
                <a:cs typeface="Arial"/>
              </a:defRPr>
            </a:defPPr>
          </a:lstStyle>
          <a:p xmlns:a="http://schemas.openxmlformats.org/drawingml/2006/main">
            <a:pPr algn="l">
              <a:buNone/>
              <a:defRPr sz="4650" b="1">
                <a:solidFill>
                  <a:srgbClr val="FFFFFF"/>
                </a:solidFill>
                <a:latin typeface="Arial"/>
                <a:ea typeface="Arial"/>
                <a:cs typeface="Arial"/>
              </a:defRPr>
            </a:pPr>
            <a:r>
              <a:rPr sz="4650" b="1">
                <a:solidFill>
                  <a:srgbClr val="FFFFFF"/>
                </a:solidFill>
                <a:latin typeface="Arial"/>
                <a:ea typeface="Arial"/>
                <a:cs typeface="Arial"/>
              </a:rPr>
              <a:t>Angular · Day Four</a:t>
            </a:r>
          </a:p>
        </p:txBody>
      </p:sp>
      <p:pic>
        <p:nvPicPr>
          <p:cNvPr id="3" name="">
            <a:extLst xmlns:a="http://schemas.openxmlformats.org/drawingml/2006/main">
              <a:ext uri="{FF2B5EF4-FFF2-40B4-BE49-F238E27FC236}">
                <a16:creationId xmlns:a16="http://schemas.microsoft.com/office/drawing/2014/main" id="{405B565C-53FB-411F-82B8-C62A72457DAF}"/>
              </a:ext>
            </a:extLst>
          </p:cNvPr>
          <p:cNvPicPr>
            <a:picLocks xmlns:a="http://schemas.openxmlformats.org/drawingml/2006/main" noChangeAspect="1"/>
          </p:cNvPicPr>
          <p:nvPr/>
        </p:nvPicPr>
        <p:blipFill>
          <a:blip xmlns:r="http://schemas.openxmlformats.org/officeDocument/2006/relationships" xmlns:a="http://schemas.openxmlformats.org/drawingml/2006/main" r:embed="Ra16009de5fc74e6b"/>
          <a:stretch xmlns:a="http://schemas.openxmlformats.org/drawingml/2006/main"/>
        </p:blipFill>
        <p:spPr>
          <a:xfrm xmlns:a="http://schemas.openxmlformats.org/drawingml/2006/main">
            <a:off x="6477000" y="2000250"/>
            <a:ext cx="5143500"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70F5068-DE6F-48CF-975A-BDB860453FEF}"/>
              </a:ext>
            </a:extLst>
          </p:cNvPr>
          <p:cNvSpPr>
            <a:spLocks xmlns:a="http://schemas.openxmlformats.org/drawingml/2006/main" noGrp="1"/>
          </p:cNvSpPr>
          <p:nvPr/>
        </p:nvSpPr>
        <p:spPr>
          <a:xfrm xmlns:a="http://schemas.openxmlformats.org/drawingml/2006/main">
            <a:off x="609600" y="2381250"/>
            <a:ext cx="5524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FFFFFF"/>
                </a:solidFill>
                <a:latin typeface="Arial"/>
                <a:ea typeface="Arial"/>
                <a:cs typeface="Arial"/>
              </a:defRPr>
            </a:defPPr>
          </a:lstStyle>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Services, HttpClient and request-state handling</a:t>
            </a:r>
          </a:p>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Subha Prasad</a:t>
            </a:r>
          </a:p>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15 October 2026 · 10:00–11:00 AM IST</a:t>
            </a:r>
          </a:p>
        </p:txBody>
      </p:sp>
      <p:sp>
        <p:nvSpPr>
          <p:cNvPr id="5" name="">
            <a:extLst xmlns:a="http://schemas.openxmlformats.org/drawingml/2006/main">
              <a:ext uri="{FF2B5EF4-FFF2-40B4-BE49-F238E27FC236}">
                <a16:creationId xmlns:a16="http://schemas.microsoft.com/office/drawing/2014/main" id="{BDF161D8-C431-44C2-A233-9AE555C0A8A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92B4C2"/>
                </a:solidFill>
                <a:latin typeface="Arial"/>
                <a:ea typeface="Arial"/>
                <a:cs typeface="Arial"/>
              </a:defRPr>
            </a:defPPr>
          </a:lstStyle>
          <a:p xmlns:a="http://schemas.openxmlformats.org/drawingml/2006/main">
            <a:pPr algn="l">
              <a:buNone/>
              <a:defRPr sz="1200" b="0">
                <a:solidFill>
                  <a:srgbClr val="92B4C2"/>
                </a:solidFill>
                <a:latin typeface="Arial"/>
                <a:ea typeface="Arial"/>
                <a:cs typeface="Arial"/>
              </a:defRPr>
            </a:pPr>
            <a:r>
              <a:rPr sz="1200" b="0">
                <a:solidFill>
                  <a:srgbClr val="92B4C2"/>
                </a:solidFill>
                <a:latin typeface="Arial"/>
                <a:ea typeface="Arial"/>
                <a:cs typeface="Arial"/>
              </a:rPr>
              <a:t>01</a:t>
            </a:r>
          </a:p>
        </p:txBody>
      </p:sp>
    </p:spTree>
    <p:extLst>
      <p:ext uri="{BB962C8B-B14F-4D97-AF65-F5344CB8AC3E}">
        <p14:creationId xmlns:p14="http://schemas.microsoft.com/office/powerpoint/2010/main" val="1290946295"/>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902359-B515-4EDF-BE4D-3279090F137C}"/>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180E0FD1-2501-4553-8272-34E151EE01D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Today’s learning goals</a:t>
            </a:r>
          </a:p>
        </p:txBody>
      </p:sp>
      <p:sp>
        <p:nvSpPr>
          <p:cNvPr id="3" name="">
            <a:extLst xmlns:a="http://schemas.openxmlformats.org/drawingml/2006/main">
              <a:ext uri="{FF2B5EF4-FFF2-40B4-BE49-F238E27FC236}">
                <a16:creationId xmlns:a16="http://schemas.microsoft.com/office/drawing/2014/main" id="{5791B254-7018-413B-9C81-A04FFCD4A713}"/>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Load JSON products over HTTP.</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Explain a Promise and an Observable.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Show loading, error and empty states.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Retry and cancel obsolete requests.</a:t>
            </a:r>
          </a:p>
        </p:txBody>
      </p:sp>
      <p:sp>
        <p:nvSpPr>
          <p:cNvPr id="4" name="">
            <a:extLst xmlns:a="http://schemas.openxmlformats.org/drawingml/2006/main">
              <a:ext uri="{FF2B5EF4-FFF2-40B4-BE49-F238E27FC236}">
                <a16:creationId xmlns:a16="http://schemas.microsoft.com/office/drawing/2014/main" id="{22D656D2-8905-4072-9EDB-C4101DA6CFE2}"/>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02</a:t>
            </a:r>
          </a:p>
        </p:txBody>
      </p:sp>
    </p:spTree>
    <p:extLst>
      <p:ext uri="{BB962C8B-B14F-4D97-AF65-F5344CB8AC3E}">
        <p14:creationId xmlns:p14="http://schemas.microsoft.com/office/powerpoint/2010/main" val="111436435"/>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66D8BB-634E-417B-AD20-D1F6A18A9CBF}"/>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INDEX</a:t>
            </a:r>
          </a:p>
        </p:txBody>
      </p:sp>
      <p:sp>
        <p:nvSpPr>
          <p:cNvPr id="2" name="">
            <a:extLst xmlns:a="http://schemas.openxmlformats.org/drawingml/2006/main">
              <a:ext uri="{FF2B5EF4-FFF2-40B4-BE49-F238E27FC236}">
                <a16:creationId xmlns:a16="http://schemas.microsoft.com/office/drawing/2014/main" id="{33D191DE-2B55-400D-8416-B84C0737ADD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Day 4 topic index</a:t>
            </a:r>
          </a:p>
        </p:txBody>
      </p:sp>
      <p:sp>
        <p:nvSpPr>
          <p:cNvPr id="3" name="">
            <a:extLst xmlns:a="http://schemas.openxmlformats.org/drawingml/2006/main">
              <a:ext uri="{FF2B5EF4-FFF2-40B4-BE49-F238E27FC236}">
                <a16:creationId xmlns:a16="http://schemas.microsoft.com/office/drawing/2014/main" id="{A3FB8FBD-6CA3-4927-97CE-697737DE2D98}"/>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01  JSON, local resource and async JavaScript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02  HTTP checks, services and DI</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03  HttpClient and Observables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04  Lifecycle, request UI, Retry and cleanup</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05  Hands-on, exercise and quiz</a:t>
            </a:r>
          </a:p>
        </p:txBody>
      </p:sp>
      <p:sp>
        <p:nvSpPr>
          <p:cNvPr id="4" name="">
            <a:extLst xmlns:a="http://schemas.openxmlformats.org/drawingml/2006/main">
              <a:ext uri="{FF2B5EF4-FFF2-40B4-BE49-F238E27FC236}">
                <a16:creationId xmlns:a16="http://schemas.microsoft.com/office/drawing/2014/main" id="{A7E62495-F70D-4F21-8747-BB779AA40E16}"/>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03</a:t>
            </a:r>
          </a:p>
        </p:txBody>
      </p:sp>
    </p:spTree>
    <p:extLst>
      <p:ext uri="{BB962C8B-B14F-4D97-AF65-F5344CB8AC3E}">
        <p14:creationId xmlns:p14="http://schemas.microsoft.com/office/powerpoint/2010/main" val="238954120"/>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054798-D866-47B4-9B04-240BC61AF67D}"/>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3C68D7CE-5B7B-4847-9753-7FCBDD6416A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Day 3 state and derived values</a:t>
            </a:r>
          </a:p>
        </p:txBody>
      </p:sp>
      <p:sp>
        <p:nvSpPr>
          <p:cNvPr id="3" name="">
            <a:extLst xmlns:a="http://schemas.openxmlformats.org/drawingml/2006/main">
              <a:ext uri="{FF2B5EF4-FFF2-40B4-BE49-F238E27FC236}">
                <a16:creationId xmlns:a16="http://schemas.microsoft.com/office/drawing/2014/main" id="{FEE58757-EB2D-45AB-96AC-121C4698A1C3}"/>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Filters and cart still use signals.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computed derives matches and total.</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Products now arrive after a request.</a:t>
            </a:r>
          </a:p>
        </p:txBody>
      </p:sp>
      <p:sp>
        <p:nvSpPr>
          <p:cNvPr id="4" name="">
            <a:extLst xmlns:a="http://schemas.openxmlformats.org/drawingml/2006/main">
              <a:ext uri="{FF2B5EF4-FFF2-40B4-BE49-F238E27FC236}">
                <a16:creationId xmlns:a16="http://schemas.microsoft.com/office/drawing/2014/main" id="{DD819771-BAAB-4078-B292-FBCE1C6CFD5F}"/>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346435C4-9D94-429D-BCEB-6BE3014681C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3C2C9A4B-5985-4556-80DC-09B611FDBB9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04</a:t>
            </a:r>
          </a:p>
        </p:txBody>
      </p:sp>
      <p:sp>
        <p:nvSpPr>
          <p:cNvPr id="8" name="">
            <a:extLst xmlns:a="http://schemas.openxmlformats.org/drawingml/2006/main">
              <a:ext uri="{FF2B5EF4-FFF2-40B4-BE49-F238E27FC236}">
                <a16:creationId xmlns:a16="http://schemas.microsoft.com/office/drawing/2014/main" id="{A283DBBB-15DC-44C9-B9FF-5F7D6CBE45A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readonly products =</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signal&lt;readonly Product[]&gt;([]);</a:t>
            </a:r>
          </a:p>
        </p:txBody>
      </p:sp>
      <p:sp>
        <p:nvSpPr>
          <p:cNvPr id="9" name="">
            <a:extLst xmlns:a="http://schemas.openxmlformats.org/drawingml/2006/main">
              <a:ext uri="{FF2B5EF4-FFF2-40B4-BE49-F238E27FC236}">
                <a16:creationId xmlns:a16="http://schemas.microsoft.com/office/drawing/2014/main" id="{3F294FD5-4D6F-492E-82A2-136227AA4E08}"/>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The request result supplies the source array</a:t>
            </a:r>
          </a:p>
        </p:txBody>
      </p:sp>
    </p:spTree>
    <p:extLst>
      <p:ext uri="{BB962C8B-B14F-4D97-AF65-F5344CB8AC3E}">
        <p14:creationId xmlns:p14="http://schemas.microsoft.com/office/powerpoint/2010/main" val="297570866"/>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A9EF56-C100-4CB6-8E1B-AE748E05984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3F6C086B-EAAE-4892-96B0-D44AF3BB704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JSON product data</a:t>
            </a:r>
          </a:p>
        </p:txBody>
      </p:sp>
      <p:sp>
        <p:nvSpPr>
          <p:cNvPr id="3" name="">
            <a:extLst xmlns:a="http://schemas.openxmlformats.org/drawingml/2006/main">
              <a:ext uri="{FF2B5EF4-FFF2-40B4-BE49-F238E27FC236}">
                <a16:creationId xmlns:a16="http://schemas.microsoft.com/office/drawing/2014/main" id="{5E8F19E9-4F1B-46E5-9735-DA491087C23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JSON is a text data format.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Keys and strings use double quotes.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Numbers and booleans stay unquoted.</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Comments and trailing commas are invalid.</a:t>
            </a:r>
          </a:p>
        </p:txBody>
      </p:sp>
      <p:sp>
        <p:nvSpPr>
          <p:cNvPr id="4" name="">
            <a:extLst xmlns:a="http://schemas.openxmlformats.org/drawingml/2006/main">
              <a:ext uri="{FF2B5EF4-FFF2-40B4-BE49-F238E27FC236}">
                <a16:creationId xmlns:a16="http://schemas.microsoft.com/office/drawing/2014/main" id="{DCBE7ED0-9206-4350-AFBA-D077AE5E686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C1172C25-7686-445A-8F8C-F92C89522482}"/>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BE01FE80-71B1-47DA-9C92-1309BDA273ED}"/>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05</a:t>
            </a:r>
          </a:p>
        </p:txBody>
      </p:sp>
      <p:sp>
        <p:nvSpPr>
          <p:cNvPr id="8" name="">
            <a:extLst xmlns:a="http://schemas.openxmlformats.org/drawingml/2006/main">
              <a:ext uri="{FF2B5EF4-FFF2-40B4-BE49-F238E27FC236}">
                <a16:creationId xmlns:a16="http://schemas.microsoft.com/office/drawing/2014/main" id="{630ABDF5-8877-444D-9F8F-04BB04C034E5}"/>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"id": "P-101", "name": "Notebook",</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"price": 80, "category": "Stationery",</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"inStock": true</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9" name="">
            <a:extLst xmlns:a="http://schemas.openxmlformats.org/drawingml/2006/main">
              <a:ext uri="{FF2B5EF4-FFF2-40B4-BE49-F238E27FC236}">
                <a16:creationId xmlns:a16="http://schemas.microsoft.com/office/drawing/2014/main" id="{7AF025B6-D8CB-40C5-A6E8-59A8828ABE4A}"/>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The resource contains an array of four objects</a:t>
            </a:r>
          </a:p>
        </p:txBody>
      </p:sp>
    </p:spTree>
    <p:extLst>
      <p:ext uri="{BB962C8B-B14F-4D97-AF65-F5344CB8AC3E}">
        <p14:creationId xmlns:p14="http://schemas.microsoft.com/office/powerpoint/2010/main" val="564781948"/>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AF1910-4B6D-4156-B098-FEBCEA62CE6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BCE89963-B76F-4CFF-96A1-BF4CC593045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The local resource URL</a:t>
            </a:r>
          </a:p>
        </p:txBody>
      </p:sp>
      <p:sp>
        <p:nvSpPr>
          <p:cNvPr id="3" name="">
            <a:extLst xmlns:a="http://schemas.openxmlformats.org/drawingml/2006/main">
              <a:ext uri="{FF2B5EF4-FFF2-40B4-BE49-F238E27FC236}">
                <a16:creationId xmlns:a16="http://schemas.microsoft.com/office/drawing/2014/main" id="{744798B9-3C29-463E-A7E8-A1EE6593299A}"/>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Angular copies public assets into the build.</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browser requests /products.json.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It is a local file served over HTTP.</a:t>
            </a:r>
          </a:p>
        </p:txBody>
      </p:sp>
      <p:sp>
        <p:nvSpPr>
          <p:cNvPr id="4" name="">
            <a:extLst xmlns:a="http://schemas.openxmlformats.org/drawingml/2006/main">
              <a:ext uri="{FF2B5EF4-FFF2-40B4-BE49-F238E27FC236}">
                <a16:creationId xmlns:a16="http://schemas.microsoft.com/office/drawing/2014/main" id="{AEAD2ED8-A065-4126-B1AC-0B4C242CE2F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Project file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public/products.json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HTTP resource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/products.json</a:t>
            </a:r>
          </a:p>
        </p:txBody>
      </p:sp>
      <p:sp>
        <p:nvSpPr>
          <p:cNvPr id="5" name="">
            <a:extLst xmlns:a="http://schemas.openxmlformats.org/drawingml/2006/main">
              <a:ext uri="{FF2B5EF4-FFF2-40B4-BE49-F238E27FC236}">
                <a16:creationId xmlns:a16="http://schemas.microsoft.com/office/drawing/2014/main" id="{7B8EB337-D985-4DA4-9B9A-415AC135FCF2}"/>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No external API key or backend is needed</a:t>
            </a:r>
          </a:p>
        </p:txBody>
      </p:sp>
      <p:sp>
        <p:nvSpPr>
          <p:cNvPr id="6" name="">
            <a:extLst xmlns:a="http://schemas.openxmlformats.org/drawingml/2006/main">
              <a:ext uri="{FF2B5EF4-FFF2-40B4-BE49-F238E27FC236}">
                <a16:creationId xmlns:a16="http://schemas.microsoft.com/office/drawing/2014/main" id="{B49A5B32-87A0-4DEC-A105-CAF51697C72C}"/>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06</a:t>
            </a:r>
          </a:p>
        </p:txBody>
      </p:sp>
    </p:spTree>
    <p:extLst>
      <p:ext uri="{BB962C8B-B14F-4D97-AF65-F5344CB8AC3E}">
        <p14:creationId xmlns:p14="http://schemas.microsoft.com/office/powerpoint/2010/main" val="187485302"/>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87D285-8DFC-45AB-97A4-916D239CAC1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A5DD54DE-4922-4AA3-8ACE-E76D7BE3823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 Promise represents a future result</a:t>
            </a:r>
          </a:p>
        </p:txBody>
      </p:sp>
      <p:sp>
        <p:nvSpPr>
          <p:cNvPr id="3" name="">
            <a:extLst xmlns:a="http://schemas.openxmlformats.org/drawingml/2006/main">
              <a:ext uri="{FF2B5EF4-FFF2-40B4-BE49-F238E27FC236}">
                <a16:creationId xmlns:a16="http://schemas.microsoft.com/office/drawing/2014/main" id="{87F231C6-F917-436C-BC61-25CA509205C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Promise may fulfil or reject.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request takes time.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page can keep responding while it waits.</a:t>
            </a:r>
          </a:p>
        </p:txBody>
      </p:sp>
      <p:sp>
        <p:nvSpPr>
          <p:cNvPr id="4" name="">
            <a:extLst xmlns:a="http://schemas.openxmlformats.org/drawingml/2006/main">
              <a:ext uri="{FF2B5EF4-FFF2-40B4-BE49-F238E27FC236}">
                <a16:creationId xmlns:a16="http://schemas.microsoft.com/office/drawing/2014/main" id="{C5D26CF6-B69C-4611-AC7C-B9CFEAAFA871}"/>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request = fetch("/products.json");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console.log("Request started");</a:t>
            </a:r>
          </a:p>
        </p:txBody>
      </p:sp>
      <p:sp>
        <p:nvSpPr>
          <p:cNvPr id="5" name="">
            <a:extLst xmlns:a="http://schemas.openxmlformats.org/drawingml/2006/main">
              <a:ext uri="{FF2B5EF4-FFF2-40B4-BE49-F238E27FC236}">
                <a16:creationId xmlns:a16="http://schemas.microsoft.com/office/drawing/2014/main" id="{70D86EAC-8E65-41E2-AB93-BA4959E06A08}"/>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Promise is not the product array</a:t>
            </a:r>
          </a:p>
        </p:txBody>
      </p:sp>
      <p:sp>
        <p:nvSpPr>
          <p:cNvPr id="6" name="">
            <a:extLst xmlns:a="http://schemas.openxmlformats.org/drawingml/2006/main">
              <a:ext uri="{FF2B5EF4-FFF2-40B4-BE49-F238E27FC236}">
                <a16:creationId xmlns:a16="http://schemas.microsoft.com/office/drawing/2014/main" id="{987B4E58-ADE0-46B6-8B5B-42365930E9E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07</a:t>
            </a:r>
          </a:p>
        </p:txBody>
      </p:sp>
    </p:spTree>
    <p:extLst>
      <p:ext uri="{BB962C8B-B14F-4D97-AF65-F5344CB8AC3E}">
        <p14:creationId xmlns:p14="http://schemas.microsoft.com/office/powerpoint/2010/main" val="436325472"/>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E02E84-4724-4929-9D6B-0D6409F6CDEC}"/>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DA69E5FF-1A47-430A-A6A5-18F07E1BD41E}"/>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async and await</a:t>
            </a:r>
          </a:p>
        </p:txBody>
      </p:sp>
      <p:sp>
        <p:nvSpPr>
          <p:cNvPr id="3" name="">
            <a:extLst xmlns:a="http://schemas.openxmlformats.org/drawingml/2006/main">
              <a:ext uri="{FF2B5EF4-FFF2-40B4-BE49-F238E27FC236}">
                <a16:creationId xmlns:a16="http://schemas.microsoft.com/office/drawing/2014/main" id="{A113AD51-FB15-4713-B7E3-2AAB46CF0C8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async makes a function return a Promise.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await waits inside that function.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It does not block the whole page.</a:t>
            </a:r>
          </a:p>
        </p:txBody>
      </p:sp>
      <p:sp>
        <p:nvSpPr>
          <p:cNvPr id="4" name="">
            <a:extLst xmlns:a="http://schemas.openxmlformats.org/drawingml/2006/main">
              <a:ext uri="{FF2B5EF4-FFF2-40B4-BE49-F238E27FC236}">
                <a16:creationId xmlns:a16="http://schemas.microsoft.com/office/drawing/2014/main" id="{79CC9FDC-ED82-417A-8B6B-8198BA31B0B4}"/>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087B80"/>
                </a:solidFill>
                <a:latin typeface="Consolas"/>
                <a:ea typeface="Consolas"/>
                <a:cs typeface="Consolas"/>
              </a:defRPr>
            </a:defPPr>
          </a:lstStyle>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async function readCatalog() {</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const response = await fetch("/products.json");</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const data = await response.json();</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return data;</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E3F8D979-E2DB-4F6E-8CE5-4AAFF8A8819D}"/>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Request first, read the body second</a:t>
            </a:r>
          </a:p>
        </p:txBody>
      </p:sp>
      <p:sp>
        <p:nvSpPr>
          <p:cNvPr id="6" name="">
            <a:extLst xmlns:a="http://schemas.openxmlformats.org/drawingml/2006/main">
              <a:ext uri="{FF2B5EF4-FFF2-40B4-BE49-F238E27FC236}">
                <a16:creationId xmlns:a16="http://schemas.microsoft.com/office/drawing/2014/main" id="{A98CB27F-BA14-419F-9693-6C2D23A6822D}"/>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08</a:t>
            </a:r>
          </a:p>
        </p:txBody>
      </p:sp>
    </p:spTree>
    <p:extLst>
      <p:ext uri="{BB962C8B-B14F-4D97-AF65-F5344CB8AC3E}">
        <p14:creationId xmlns:p14="http://schemas.microsoft.com/office/powerpoint/2010/main" val="1941324740"/>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7B2C02-1904-4C64-A42E-AB044865199A}"/>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8C3FB84A-9F63-454C-B58C-1664E42F90FE}"/>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try and catch</a:t>
            </a:r>
          </a:p>
        </p:txBody>
      </p:sp>
      <p:sp>
        <p:nvSpPr>
          <p:cNvPr id="3" name="">
            <a:extLst xmlns:a="http://schemas.openxmlformats.org/drawingml/2006/main">
              <a:ext uri="{FF2B5EF4-FFF2-40B4-BE49-F238E27FC236}">
                <a16:creationId xmlns:a16="http://schemas.microsoft.com/office/drawing/2014/main" id="{05B00082-E942-47E9-8387-E22BCC02AA9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Await work inside try.</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rejection transfers control to catch.</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Show a useful failure message.</a:t>
            </a:r>
          </a:p>
        </p:txBody>
      </p:sp>
      <p:sp>
        <p:nvSpPr>
          <p:cNvPr id="4" name="">
            <a:extLst xmlns:a="http://schemas.openxmlformats.org/drawingml/2006/main">
              <a:ext uri="{FF2B5EF4-FFF2-40B4-BE49-F238E27FC236}">
                <a16:creationId xmlns:a16="http://schemas.microsoft.com/office/drawing/2014/main" id="{38C07E32-30A5-4068-A3CD-53502425F216}"/>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try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const data = await readCatalog();</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console.log(data.length);</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catch (error)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console.log(error);</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DF4E6E49-A873-4235-92B6-95D7FAA8061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 rejected Promise follows the error path</a:t>
            </a:r>
          </a:p>
        </p:txBody>
      </p:sp>
      <p:sp>
        <p:nvSpPr>
          <p:cNvPr id="6" name="">
            <a:extLst xmlns:a="http://schemas.openxmlformats.org/drawingml/2006/main">
              <a:ext uri="{FF2B5EF4-FFF2-40B4-BE49-F238E27FC236}">
                <a16:creationId xmlns:a16="http://schemas.microsoft.com/office/drawing/2014/main" id="{D554BC57-CAD2-40DE-93BE-3F5978736F08}"/>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09</a:t>
            </a:r>
          </a:p>
        </p:txBody>
      </p:sp>
    </p:spTree>
    <p:extLst>
      <p:ext uri="{BB962C8B-B14F-4D97-AF65-F5344CB8AC3E}">
        <p14:creationId xmlns:p14="http://schemas.microsoft.com/office/powerpoint/2010/main" val="823203504"/>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E33E6C-60CB-480D-B900-B06754725780}"/>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171A6E81-1A2E-45A1-8386-BCA4D226FF7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HTTP status and failure handling</a:t>
            </a:r>
          </a:p>
        </p:txBody>
      </p:sp>
      <p:sp>
        <p:nvSpPr>
          <p:cNvPr id="3" name="">
            <a:extLst xmlns:a="http://schemas.openxmlformats.org/drawingml/2006/main">
              <a:ext uri="{FF2B5EF4-FFF2-40B4-BE49-F238E27FC236}">
                <a16:creationId xmlns:a16="http://schemas.microsoft.com/office/drawing/2014/main" id="{04DCE18A-64BA-47A9-9F76-415E65FA202F}"/>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fetch can fulfil for HTTP 404 or 500.</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Check response.ok with plain fetch.</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HttpClient sends failed HTTP responses to error.</a:t>
            </a:r>
          </a:p>
        </p:txBody>
      </p:sp>
      <p:sp>
        <p:nvSpPr>
          <p:cNvPr id="4" name="">
            <a:extLst xmlns:a="http://schemas.openxmlformats.org/drawingml/2006/main">
              <a:ext uri="{FF2B5EF4-FFF2-40B4-BE49-F238E27FC236}">
                <a16:creationId xmlns:a16="http://schemas.microsoft.com/office/drawing/2014/main" id="{FB3E4F9F-08C4-402D-817C-2793F4DDB79A}"/>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0">
                <a:solidFill>
                  <a:srgbClr val="087B80"/>
                </a:solidFill>
                <a:latin typeface="Consolas"/>
                <a:ea typeface="Consolas"/>
                <a:cs typeface="Consolas"/>
              </a:defRPr>
            </a:defPPr>
          </a:lstStyle>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const response = await fetch(url);</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if (!response.ok) {</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  throw new Error(`HTTP ${response.status}`);</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const data = await response.json();</a:t>
            </a:r>
          </a:p>
        </p:txBody>
      </p:sp>
      <p:sp>
        <p:nvSpPr>
          <p:cNvPr id="5" name="">
            <a:extLst xmlns:a="http://schemas.openxmlformats.org/drawingml/2006/main">
              <a:ext uri="{FF2B5EF4-FFF2-40B4-BE49-F238E27FC236}">
                <a16:creationId xmlns:a16="http://schemas.microsoft.com/office/drawing/2014/main" id="{C973945B-FB28-4431-B1D3-6AC1222854F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Different APIs expose failures differently</a:t>
            </a:r>
          </a:p>
        </p:txBody>
      </p:sp>
      <p:sp>
        <p:nvSpPr>
          <p:cNvPr id="6" name="">
            <a:extLst xmlns:a="http://schemas.openxmlformats.org/drawingml/2006/main">
              <a:ext uri="{FF2B5EF4-FFF2-40B4-BE49-F238E27FC236}">
                <a16:creationId xmlns:a16="http://schemas.microsoft.com/office/drawing/2014/main" id="{362348A6-2E3A-4DD2-A07C-4571FC40236C}"/>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10</a:t>
            </a:r>
          </a:p>
        </p:txBody>
      </p:sp>
    </p:spTree>
    <p:extLst>
      <p:ext uri="{BB962C8B-B14F-4D97-AF65-F5344CB8AC3E}">
        <p14:creationId xmlns:p14="http://schemas.microsoft.com/office/powerpoint/2010/main" val="80206476"/>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D70EC7-D4D2-4889-B02F-8731D264AF8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B2C09BC3-4065-4DF1-A411-0CF3E8A3F21A}"/>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Checking the loaded data</a:t>
            </a:r>
          </a:p>
        </p:txBody>
      </p:sp>
      <p:sp>
        <p:nvSpPr>
          <p:cNvPr id="3" name="">
            <a:extLst xmlns:a="http://schemas.openxmlformats.org/drawingml/2006/main">
              <a:ext uri="{FF2B5EF4-FFF2-40B4-BE49-F238E27FC236}">
                <a16:creationId xmlns:a16="http://schemas.microsoft.com/office/drawing/2014/main" id="{8FBE5330-8974-493B-B6DB-6F47985E3E1D}"/>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TypeScript cannot inspect incoming JSON.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Request unknown data at the boundary.</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Validate array shape and product fields.</a:t>
            </a:r>
          </a:p>
        </p:txBody>
      </p:sp>
      <p:sp>
        <p:nvSpPr>
          <p:cNvPr id="4" name="">
            <a:extLst xmlns:a="http://schemas.openxmlformats.org/drawingml/2006/main">
              <a:ext uri="{FF2B5EF4-FFF2-40B4-BE49-F238E27FC236}">
                <a16:creationId xmlns:a16="http://schemas.microsoft.com/office/drawing/2014/main" id="{489B9D29-B8FC-46CC-AEA6-D9C74130D02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087B80"/>
                </a:solidFill>
                <a:latin typeface="Consolas"/>
                <a:ea typeface="Consolas"/>
                <a:cs typeface="Consolas"/>
              </a:defRPr>
            </a:defPPr>
          </a:lstStyle>
          <a:p xmlns:a="http://schemas.openxmlformats.org/drawingml/2006/main">
            <a:pPr algn="l">
              <a:buNone/>
              <a:defRPr sz="1650" b="0">
                <a:solidFill>
                  <a:srgbClr val="087B80"/>
                </a:solidFill>
                <a:latin typeface="Consolas"/>
                <a:ea typeface="Consolas"/>
                <a:cs typeface="Consolas"/>
              </a:defRPr>
            </a:pPr>
            <a:r>
              <a:rPr sz="1650" b="0">
                <a:solidFill>
                  <a:srgbClr val="087B80"/>
                </a:solidFill>
                <a:latin typeface="Consolas"/>
                <a:ea typeface="Consolas"/>
                <a:cs typeface="Consolas"/>
              </a:rPr>
              <a:t>return this.http.get&lt;unknown&gt;("/products.json")</a:t>
            </a:r>
          </a:p>
          <a:p xmlns:a="http://schemas.openxmlformats.org/drawingml/2006/main">
            <a:pPr algn="l">
              <a:buNone/>
              <a:defRPr sz="1650" b="0">
                <a:solidFill>
                  <a:srgbClr val="087B80"/>
                </a:solidFill>
                <a:latin typeface="Consolas"/>
                <a:ea typeface="Consolas"/>
                <a:cs typeface="Consolas"/>
              </a:defRPr>
            </a:pPr>
            <a:r>
              <a:rPr sz="1650" b="0">
                <a:solidFill>
                  <a:srgbClr val="087B80"/>
                </a:solidFill>
                <a:latin typeface="Consolas"/>
                <a:ea typeface="Consolas"/>
                <a:cs typeface="Consolas"/>
              </a:rPr>
              <a:t>  .pipe(map(validateProducts));</a:t>
            </a:r>
          </a:p>
        </p:txBody>
      </p:sp>
      <p:sp>
        <p:nvSpPr>
          <p:cNvPr id="5" name="">
            <a:extLst xmlns:a="http://schemas.openxmlformats.org/drawingml/2006/main">
              <a:ext uri="{FF2B5EF4-FFF2-40B4-BE49-F238E27FC236}">
                <a16:creationId xmlns:a16="http://schemas.microsoft.com/office/drawing/2014/main" id="{460F14A7-BB9B-4663-A520-1CEB55A8181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Invalid data reaches the error callback</a:t>
            </a:r>
          </a:p>
        </p:txBody>
      </p:sp>
      <p:sp>
        <p:nvSpPr>
          <p:cNvPr id="6" name="">
            <a:extLst xmlns:a="http://schemas.openxmlformats.org/drawingml/2006/main">
              <a:ext uri="{FF2B5EF4-FFF2-40B4-BE49-F238E27FC236}">
                <a16:creationId xmlns:a16="http://schemas.microsoft.com/office/drawing/2014/main" id="{8B63BB42-A051-4A8B-8847-2394050D6EE3}"/>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11</a:t>
            </a:r>
          </a:p>
        </p:txBody>
      </p:sp>
    </p:spTree>
    <p:extLst>
      <p:ext uri="{BB962C8B-B14F-4D97-AF65-F5344CB8AC3E}">
        <p14:creationId xmlns:p14="http://schemas.microsoft.com/office/powerpoint/2010/main" val="916560646"/>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45643F-0EDC-4DEB-8E2F-ED184EF69EDF}"/>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F6B07E77-CA8D-43FF-BBEB-A377890BE8E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Template, event and lifecycle work</a:t>
            </a:r>
          </a:p>
        </p:txBody>
      </p:sp>
      <p:sp>
        <p:nvSpPr>
          <p:cNvPr id="3" name="">
            <a:extLst xmlns:a="http://schemas.openxmlformats.org/drawingml/2006/main">
              <a:ext uri="{FF2B5EF4-FFF2-40B4-BE49-F238E27FC236}">
                <a16:creationId xmlns:a16="http://schemas.microsoft.com/office/drawing/2014/main" id="{B1F323DD-19C9-4294-9818-50A84104A65D}"/>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Templates display current data.</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Event methods handle user intent.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ngOnInit starts the initial request.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Services isolate external access.</a:t>
            </a:r>
          </a:p>
        </p:txBody>
      </p:sp>
      <p:sp>
        <p:nvSpPr>
          <p:cNvPr id="4" name="">
            <a:extLst xmlns:a="http://schemas.openxmlformats.org/drawingml/2006/main">
              <a:ext uri="{FF2B5EF4-FFF2-40B4-BE49-F238E27FC236}">
                <a16:creationId xmlns:a16="http://schemas.microsoft.com/office/drawing/2014/main" id="{82CE0D84-0366-4874-8D3D-A97C68E9FDB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ngOnInit() { this.loadProducts();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Retry button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(click)="loadProducts()"</a:t>
            </a:r>
          </a:p>
        </p:txBody>
      </p:sp>
      <p:sp>
        <p:nvSpPr>
          <p:cNvPr id="5" name="">
            <a:extLst xmlns:a="http://schemas.openxmlformats.org/drawingml/2006/main">
              <a:ext uri="{FF2B5EF4-FFF2-40B4-BE49-F238E27FC236}">
                <a16:creationId xmlns:a16="http://schemas.microsoft.com/office/drawing/2014/main" id="{061C2C45-1A7A-4AD1-A5DD-EA9A4CF044DB}"/>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Keep requests outside template expressions</a:t>
            </a:r>
          </a:p>
        </p:txBody>
      </p:sp>
      <p:sp>
        <p:nvSpPr>
          <p:cNvPr id="6" name="">
            <a:extLst xmlns:a="http://schemas.openxmlformats.org/drawingml/2006/main">
              <a:ext uri="{FF2B5EF4-FFF2-40B4-BE49-F238E27FC236}">
                <a16:creationId xmlns:a16="http://schemas.microsoft.com/office/drawing/2014/main" id="{2DD133E6-31F1-484C-A8B7-65FB7C7BDB31}"/>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12</a:t>
            </a:r>
          </a:p>
        </p:txBody>
      </p:sp>
    </p:spTree>
    <p:extLst>
      <p:ext uri="{BB962C8B-B14F-4D97-AF65-F5344CB8AC3E}">
        <p14:creationId xmlns:p14="http://schemas.microsoft.com/office/powerpoint/2010/main" val="1981572488"/>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3AED08-6711-47F5-8AA0-E8B537C564C2}"/>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CB308BD1-FABA-48D7-9132-E71AEC824FA6}"/>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Services and dependency injection</a:t>
            </a:r>
          </a:p>
        </p:txBody>
      </p:sp>
      <p:sp>
        <p:nvSpPr>
          <p:cNvPr id="3" name="">
            <a:extLst xmlns:a="http://schemas.openxmlformats.org/drawingml/2006/main">
              <a:ext uri="{FF2B5EF4-FFF2-40B4-BE49-F238E27FC236}">
                <a16:creationId xmlns:a16="http://schemas.microsoft.com/office/drawing/2014/main" id="{DE82A70A-4725-4226-B548-FBBACA1A0E07}"/>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@Injectable makes a class injectable.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provider tells Angular how to supply it.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inject obtains the dependency.</a:t>
            </a:r>
          </a:p>
        </p:txBody>
      </p:sp>
      <p:sp>
        <p:nvSpPr>
          <p:cNvPr id="4" name="">
            <a:extLst xmlns:a="http://schemas.openxmlformats.org/drawingml/2006/main">
              <a:ext uri="{FF2B5EF4-FFF2-40B4-BE49-F238E27FC236}">
                <a16:creationId xmlns:a16="http://schemas.microsoft.com/office/drawing/2014/main" id="{5B847D34-1091-43AC-868B-A1DE200DA0FA}"/>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0">
                <a:solidFill>
                  <a:srgbClr val="087B80"/>
                </a:solidFill>
                <a:latin typeface="Consolas"/>
                <a:ea typeface="Consolas"/>
                <a:cs typeface="Consolas"/>
              </a:defRPr>
            </a:defPPr>
          </a:lstStyle>
          <a:p xmlns:a="http://schemas.openxmlformats.org/drawingml/2006/main">
            <a:pPr algn="l">
              <a:buNone/>
              <a:defRPr sz="1500" b="0">
                <a:solidFill>
                  <a:srgbClr val="087B80"/>
                </a:solidFill>
                <a:latin typeface="Consolas"/>
                <a:ea typeface="Consolas"/>
                <a:cs typeface="Consolas"/>
              </a:defRPr>
            </a:pPr>
            <a:r>
              <a:rPr sz="1500" b="0">
                <a:solidFill>
                  <a:srgbClr val="087B80"/>
                </a:solidFill>
                <a:latin typeface="Consolas"/>
                <a:ea typeface="Consolas"/>
                <a:cs typeface="Consolas"/>
              </a:rPr>
              <a:t>@Injectable({ providedIn: "root" })</a:t>
            </a:r>
          </a:p>
          <a:p xmlns:a="http://schemas.openxmlformats.org/drawingml/2006/main">
            <a:pPr algn="l">
              <a:buNone/>
              <a:defRPr sz="1500" b="0">
                <a:solidFill>
                  <a:srgbClr val="087B80"/>
                </a:solidFill>
                <a:latin typeface="Consolas"/>
                <a:ea typeface="Consolas"/>
                <a:cs typeface="Consolas"/>
              </a:defRPr>
            </a:pPr>
            <a:r>
              <a:rPr sz="1500" b="0">
                <a:solidFill>
                  <a:srgbClr val="087B80"/>
                </a:solidFill>
                <a:latin typeface="Consolas"/>
                <a:ea typeface="Consolas"/>
                <a:cs typeface="Consolas"/>
              </a:rPr>
              <a:t>export class ProductService {</a:t>
            </a:r>
          </a:p>
          <a:p xmlns:a="http://schemas.openxmlformats.org/drawingml/2006/main">
            <a:pPr algn="l">
              <a:buNone/>
              <a:defRPr sz="1500" b="0">
                <a:solidFill>
                  <a:srgbClr val="087B80"/>
                </a:solidFill>
                <a:latin typeface="Consolas"/>
                <a:ea typeface="Consolas"/>
                <a:cs typeface="Consolas"/>
              </a:defRPr>
            </a:pPr>
            <a:r>
              <a:rPr sz="1500" b="0">
                <a:solidFill>
                  <a:srgbClr val="087B80"/>
                </a:solidFill>
                <a:latin typeface="Consolas"/>
                <a:ea typeface="Consolas"/>
                <a:cs typeface="Consolas"/>
              </a:rPr>
              <a:t>  private http = inject(HttpClient);</a:t>
            </a:r>
          </a:p>
          <a:p xmlns:a="http://schemas.openxmlformats.org/drawingml/2006/main">
            <a:pPr algn="l">
              <a:buNone/>
              <a:defRPr sz="1500" b="0">
                <a:solidFill>
                  <a:srgbClr val="087B80"/>
                </a:solidFill>
                <a:latin typeface="Consolas"/>
                <a:ea typeface="Consolas"/>
                <a:cs typeface="Consolas"/>
              </a:defRPr>
            </a:pPr>
            <a:r>
              <a:rPr sz="1500" b="0">
                <a:solidFill>
                  <a:srgbClr val="087B80"/>
                </a:solidFill>
                <a:latin typeface="Consolas"/>
                <a:ea typeface="Consolas"/>
                <a:cs typeface="Consolas"/>
              </a:rPr>
              <a:t>  load() { return this.http.get("/products.json"); }</a:t>
            </a:r>
          </a:p>
          <a:p xmlns:a="http://schemas.openxmlformats.org/drawingml/2006/main">
            <a:pPr algn="l">
              <a:buNone/>
              <a:defRPr sz="1500" b="0">
                <a:solidFill>
                  <a:srgbClr val="087B80"/>
                </a:solidFill>
                <a:latin typeface="Consolas"/>
                <a:ea typeface="Consolas"/>
                <a:cs typeface="Consolas"/>
              </a:defRPr>
            </a:pPr>
            <a:r>
              <a:rPr sz="15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346AD38E-B188-41E0-B671-F50DE41F486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App delegates the request to ProductService</a:t>
            </a:r>
          </a:p>
        </p:txBody>
      </p:sp>
      <p:sp>
        <p:nvSpPr>
          <p:cNvPr id="6" name="">
            <a:extLst xmlns:a="http://schemas.openxmlformats.org/drawingml/2006/main">
              <a:ext uri="{FF2B5EF4-FFF2-40B4-BE49-F238E27FC236}">
                <a16:creationId xmlns:a16="http://schemas.microsoft.com/office/drawing/2014/main" id="{31E9155A-B52C-48F8-A5EF-FC0D3605534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13</a:t>
            </a:r>
          </a:p>
        </p:txBody>
      </p:sp>
    </p:spTree>
    <p:extLst>
      <p:ext uri="{BB962C8B-B14F-4D97-AF65-F5344CB8AC3E}">
        <p14:creationId xmlns:p14="http://schemas.microsoft.com/office/powerpoint/2010/main" val="644600269"/>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8CA9D0-6601-40FC-91A4-F4A033559F3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D1658E6A-8ACE-4035-A020-508F040F5436}"/>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Request triggers and dependencies</a:t>
            </a:r>
          </a:p>
        </p:txBody>
      </p:sp>
      <p:sp>
        <p:nvSpPr>
          <p:cNvPr id="3" name="">
            <a:extLst xmlns:a="http://schemas.openxmlformats.org/drawingml/2006/main">
              <a:ext uri="{FF2B5EF4-FFF2-40B4-BE49-F238E27FC236}">
                <a16:creationId xmlns:a16="http://schemas.microsoft.com/office/drawing/2014/main" id="{A13A1849-80C1-4160-B325-0617730F7977}"/>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initial lifecycle call loads once per instance.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Retry explicitly starts another attempt.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Typing does not call loadProducts.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changing resource needs an explicit trigger.</a:t>
            </a:r>
          </a:p>
        </p:txBody>
      </p:sp>
      <p:sp>
        <p:nvSpPr>
          <p:cNvPr id="4" name="">
            <a:extLst xmlns:a="http://schemas.openxmlformats.org/drawingml/2006/main">
              <a:ext uri="{FF2B5EF4-FFF2-40B4-BE49-F238E27FC236}">
                <a16:creationId xmlns:a16="http://schemas.microsoft.com/office/drawing/2014/main" id="{71471A68-CD96-4E57-857F-6A4F7F9DE8A1}"/>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087B80"/>
                </a:solidFill>
                <a:latin typeface="Consolas"/>
                <a:ea typeface="Consolas"/>
                <a:cs typeface="Consolas"/>
              </a:defRPr>
            </a:defPPr>
          </a:lstStyle>
          <a:p xmlns:a="http://schemas.openxmlformats.org/drawingml/2006/main">
            <a:pPr algn="l">
              <a:buNone/>
              <a:defRPr sz="1650" b="0">
                <a:solidFill>
                  <a:srgbClr val="087B80"/>
                </a:solidFill>
                <a:latin typeface="Consolas"/>
                <a:ea typeface="Consolas"/>
                <a:cs typeface="Consolas"/>
              </a:defRPr>
            </a:pPr>
            <a:r>
              <a:rPr sz="1650" b="0">
                <a:solidFill>
                  <a:srgbClr val="087B80"/>
                </a:solidFill>
                <a:latin typeface="Consolas"/>
                <a:ea typeface="Consolas"/>
                <a:cs typeface="Consolas"/>
              </a:rPr>
              <a:t>ngOnInit() { this.loadProducts();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650" b="0">
                <a:solidFill>
                  <a:srgbClr val="087B80"/>
                </a:solidFill>
                <a:latin typeface="Consolas"/>
                <a:ea typeface="Consolas"/>
                <a:cs typeface="Consolas"/>
              </a:defRPr>
            </a:pPr>
            <a:r>
              <a:rPr sz="1650" b="0">
                <a:solidFill>
                  <a:srgbClr val="087B80"/>
                </a:solidFill>
                <a:latin typeface="Consolas"/>
                <a:ea typeface="Consolas"/>
                <a:cs typeface="Consolas"/>
              </a:rPr>
              <a:t>// No fetch in computed filters.</a:t>
            </a:r>
          </a:p>
          <a:p xmlns:a="http://schemas.openxmlformats.org/drawingml/2006/main">
            <a:pPr algn="l">
              <a:buNone/>
              <a:defRPr sz="1650" b="0">
                <a:solidFill>
                  <a:srgbClr val="087B80"/>
                </a:solidFill>
                <a:latin typeface="Consolas"/>
                <a:ea typeface="Consolas"/>
                <a:cs typeface="Consolas"/>
              </a:defRPr>
            </a:pPr>
            <a:r>
              <a:rPr sz="1650" b="0">
                <a:solidFill>
                  <a:srgbClr val="087B80"/>
                </a:solidFill>
                <a:latin typeface="Consolas"/>
                <a:ea typeface="Consolas"/>
                <a:cs typeface="Consolas"/>
              </a:rPr>
              <a:t>readonly visibleProducts = computed(/* ... */);</a:t>
            </a:r>
          </a:p>
        </p:txBody>
      </p:sp>
      <p:sp>
        <p:nvSpPr>
          <p:cNvPr id="5" name="">
            <a:extLst xmlns:a="http://schemas.openxmlformats.org/drawingml/2006/main">
              <a:ext uri="{FF2B5EF4-FFF2-40B4-BE49-F238E27FC236}">
                <a16:creationId xmlns:a16="http://schemas.microsoft.com/office/drawing/2014/main" id="{DFE63708-CCB3-44DB-94E0-930ED8C0BCD3}"/>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Angular has no useEffect dependency array here</a:t>
            </a:r>
          </a:p>
        </p:txBody>
      </p:sp>
      <p:sp>
        <p:nvSpPr>
          <p:cNvPr id="6" name="">
            <a:extLst xmlns:a="http://schemas.openxmlformats.org/drawingml/2006/main">
              <a:ext uri="{FF2B5EF4-FFF2-40B4-BE49-F238E27FC236}">
                <a16:creationId xmlns:a16="http://schemas.microsoft.com/office/drawing/2014/main" id="{4B23BC92-C2B5-4091-BF4C-A566759D54D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14</a:t>
            </a:r>
          </a:p>
        </p:txBody>
      </p:sp>
    </p:spTree>
    <p:extLst>
      <p:ext uri="{BB962C8B-B14F-4D97-AF65-F5344CB8AC3E}">
        <p14:creationId xmlns:p14="http://schemas.microsoft.com/office/powerpoint/2010/main" val="150923697"/>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08C591-2857-4BA0-AC4A-A1346496A29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CC2F67D9-2CED-436A-BF8B-60858EA7855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Avoid accidental request loops</a:t>
            </a:r>
          </a:p>
        </p:txBody>
      </p:sp>
      <p:sp>
        <p:nvSpPr>
          <p:cNvPr id="3" name="">
            <a:extLst xmlns:a="http://schemas.openxmlformats.org/drawingml/2006/main">
              <a:ext uri="{FF2B5EF4-FFF2-40B4-BE49-F238E27FC236}">
                <a16:creationId xmlns:a16="http://schemas.microsoft.com/office/drawing/2014/main" id="{6827B5F8-136A-48E3-A0A0-E81D08D27DA2}"/>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Subscribe once for each intended request.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Each HttpClient subscription sends a request.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Keep computed filters pure.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Cancel the previous attempt before Retry.</a:t>
            </a:r>
          </a:p>
        </p:txBody>
      </p:sp>
      <p:sp>
        <p:nvSpPr>
          <p:cNvPr id="4" name="">
            <a:extLst xmlns:a="http://schemas.openxmlformats.org/drawingml/2006/main">
              <a:ext uri="{FF2B5EF4-FFF2-40B4-BE49-F238E27FC236}">
                <a16:creationId xmlns:a16="http://schemas.microsoft.com/office/drawing/2014/main" id="{890686C4-537C-4DF7-A520-796E7EB323F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087B80"/>
                </a:solidFill>
                <a:latin typeface="Consolas"/>
                <a:ea typeface="Consolas"/>
                <a:cs typeface="Consolas"/>
              </a:defRPr>
            </a:defPPr>
          </a:lstStyle>
          <a:p xmlns:a="http://schemas.openxmlformats.org/drawingml/2006/main">
            <a:pPr algn="l">
              <a:buNone/>
              <a:defRPr sz="1650" b="0">
                <a:solidFill>
                  <a:srgbClr val="087B80"/>
                </a:solidFill>
                <a:latin typeface="Consolas"/>
                <a:ea typeface="Consolas"/>
                <a:cs typeface="Consolas"/>
              </a:defRPr>
            </a:pPr>
            <a:r>
              <a:rPr sz="1650" b="0">
                <a:solidFill>
                  <a:srgbClr val="087B80"/>
                </a:solidFill>
                <a:latin typeface="Consolas"/>
                <a:ea typeface="Consolas"/>
                <a:cs typeface="Consolas"/>
              </a:rPr>
              <a:t>this.request?.unsubscribe();</a:t>
            </a:r>
          </a:p>
          <a:p xmlns:a="http://schemas.openxmlformats.org/drawingml/2006/main">
            <a:pPr algn="l">
              <a:buNone/>
              <a:defRPr sz="1650" b="0">
                <a:solidFill>
                  <a:srgbClr val="087B80"/>
                </a:solidFill>
                <a:latin typeface="Consolas"/>
                <a:ea typeface="Consolas"/>
                <a:cs typeface="Consolas"/>
              </a:defRPr>
            </a:pPr>
            <a:r>
              <a:rPr sz="1650" b="0">
                <a:solidFill>
                  <a:srgbClr val="087B80"/>
                </a:solidFill>
                <a:latin typeface="Consolas"/>
                <a:ea typeface="Consolas"/>
                <a:cs typeface="Consolas"/>
              </a:rPr>
              <a:t>this.request = this.service.load()</a:t>
            </a:r>
          </a:p>
          <a:p xmlns:a="http://schemas.openxmlformats.org/drawingml/2006/main">
            <a:pPr algn="l">
              <a:buNone/>
              <a:defRPr sz="1650" b="0">
                <a:solidFill>
                  <a:srgbClr val="087B80"/>
                </a:solidFill>
                <a:latin typeface="Consolas"/>
                <a:ea typeface="Consolas"/>
                <a:cs typeface="Consolas"/>
              </a:defRPr>
            </a:pPr>
            <a:r>
              <a:rPr sz="1650" b="0">
                <a:solidFill>
                  <a:srgbClr val="087B80"/>
                </a:solidFill>
                <a:latin typeface="Consolas"/>
                <a:ea typeface="Consolas"/>
                <a:cs typeface="Consolas"/>
              </a:rPr>
              <a:t>  .subscribe({ next: data =&gt; { /* save */ } });</a:t>
            </a:r>
          </a:p>
        </p:txBody>
      </p:sp>
      <p:sp>
        <p:nvSpPr>
          <p:cNvPr id="5" name="">
            <a:extLst xmlns:a="http://schemas.openxmlformats.org/drawingml/2006/main">
              <a:ext uri="{FF2B5EF4-FFF2-40B4-BE49-F238E27FC236}">
                <a16:creationId xmlns:a16="http://schemas.microsoft.com/office/drawing/2014/main" id="{CB398D14-7F41-4FB2-A932-D035106AAD51}"/>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Search updates the UI without another request</a:t>
            </a:r>
          </a:p>
        </p:txBody>
      </p:sp>
      <p:sp>
        <p:nvSpPr>
          <p:cNvPr id="6" name="">
            <a:extLst xmlns:a="http://schemas.openxmlformats.org/drawingml/2006/main">
              <a:ext uri="{FF2B5EF4-FFF2-40B4-BE49-F238E27FC236}">
                <a16:creationId xmlns:a16="http://schemas.microsoft.com/office/drawing/2014/main" id="{6B6DE250-25D4-4821-9D33-BAD9CA8B0AF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15</a:t>
            </a:r>
          </a:p>
        </p:txBody>
      </p:sp>
    </p:spTree>
    <p:extLst>
      <p:ext uri="{BB962C8B-B14F-4D97-AF65-F5344CB8AC3E}">
        <p14:creationId xmlns:p14="http://schemas.microsoft.com/office/powerpoint/2010/main" val="1312138688"/>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1B5E12-EBB7-4981-8E95-69B33A8C637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85E13E26-E927-4449-8967-77A8881CD5F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Loading, error and success</a:t>
            </a:r>
          </a:p>
        </p:txBody>
      </p:sp>
      <p:sp>
        <p:nvSpPr>
          <p:cNvPr id="3" name="">
            <a:extLst xmlns:a="http://schemas.openxmlformats.org/drawingml/2006/main">
              <a:ext uri="{FF2B5EF4-FFF2-40B4-BE49-F238E27FC236}">
                <a16:creationId xmlns:a16="http://schemas.microsoft.com/office/drawing/2014/main" id="{6F880799-DD83-4785-A547-617DE456588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status identifies the request state.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products holds successful data.</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error holds a useful message.</a:t>
            </a:r>
          </a:p>
        </p:txBody>
      </p:sp>
      <p:sp>
        <p:nvSpPr>
          <p:cNvPr id="4" name="">
            <a:extLst xmlns:a="http://schemas.openxmlformats.org/drawingml/2006/main">
              <a:ext uri="{FF2B5EF4-FFF2-40B4-BE49-F238E27FC236}">
                <a16:creationId xmlns:a16="http://schemas.microsoft.com/office/drawing/2014/main" id="{FD2B7888-6FF0-4771-A484-3F57C608378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0">
                <a:solidFill>
                  <a:srgbClr val="087B80"/>
                </a:solidFill>
                <a:latin typeface="Consolas"/>
                <a:ea typeface="Consolas"/>
                <a:cs typeface="Consolas"/>
              </a:defRPr>
            </a:defPPr>
          </a:lstStyle>
          <a:p xmlns:a="http://schemas.openxmlformats.org/drawingml/2006/main">
            <a:pPr algn="l">
              <a:buNone/>
              <a:defRPr sz="1425" b="0">
                <a:solidFill>
                  <a:srgbClr val="087B80"/>
                </a:solidFill>
                <a:latin typeface="Consolas"/>
                <a:ea typeface="Consolas"/>
                <a:cs typeface="Consolas"/>
              </a:defRPr>
            </a:pPr>
            <a:r>
              <a:rPr sz="1425" b="0">
                <a:solidFill>
                  <a:srgbClr val="087B80"/>
                </a:solidFill>
                <a:latin typeface="Consolas"/>
                <a:ea typeface="Consolas"/>
                <a:cs typeface="Consolas"/>
              </a:rPr>
              <a:t>readonly status =</a:t>
            </a:r>
          </a:p>
          <a:p xmlns:a="http://schemas.openxmlformats.org/drawingml/2006/main">
            <a:pPr algn="l">
              <a:buNone/>
              <a:defRPr sz="1425" b="0">
                <a:solidFill>
                  <a:srgbClr val="087B80"/>
                </a:solidFill>
                <a:latin typeface="Consolas"/>
                <a:ea typeface="Consolas"/>
                <a:cs typeface="Consolas"/>
              </a:defRPr>
            </a:pPr>
            <a:r>
              <a:rPr sz="1425" b="0">
                <a:solidFill>
                  <a:srgbClr val="087B80"/>
                </a:solidFill>
                <a:latin typeface="Consolas"/>
                <a:ea typeface="Consolas"/>
                <a:cs typeface="Consolas"/>
              </a:rPr>
              <a:t>  signal&lt;"loading" | "success" | "error"&gt;("loading");</a:t>
            </a:r>
          </a:p>
          <a:p xmlns:a="http://schemas.openxmlformats.org/drawingml/2006/main">
            <a:pPr algn="l">
              <a:buNone/>
              <a:defRPr sz="1425" b="0">
                <a:solidFill>
                  <a:srgbClr val="087B80"/>
                </a:solidFill>
                <a:latin typeface="Consolas"/>
                <a:ea typeface="Consolas"/>
                <a:cs typeface="Consolas"/>
              </a:defRPr>
            </a:pPr>
            <a:r>
              <a:rPr sz="1425" b="0">
                <a:solidFill>
                  <a:srgbClr val="087B80"/>
                </a:solidFill>
                <a:latin typeface="Consolas"/>
                <a:ea typeface="Consolas"/>
                <a:cs typeface="Consolas"/>
              </a:rPr>
              <a:t>readonly error = signal("");</a:t>
            </a:r>
          </a:p>
          <a:p xmlns:a="http://schemas.openxmlformats.org/drawingml/2006/main">
            <a:pPr algn="l">
              <a:buNone/>
              <a:defRPr sz="1425" b="0">
                <a:solidFill>
                  <a:srgbClr val="087B80"/>
                </a:solidFill>
                <a:latin typeface="Consolas"/>
                <a:ea typeface="Consolas"/>
                <a:cs typeface="Consolas"/>
              </a:defRPr>
            </a:pPr>
            <a:r>
              <a:rPr sz="1425" b="0">
                <a:solidFill>
                  <a:srgbClr val="087B80"/>
                </a:solidFill>
                <a:latin typeface="Consolas"/>
                <a:ea typeface="Consolas"/>
                <a:cs typeface="Consolas"/>
              </a:rPr>
              <a:t>readonly products =</a:t>
            </a:r>
          </a:p>
          <a:p xmlns:a="http://schemas.openxmlformats.org/drawingml/2006/main">
            <a:pPr algn="l">
              <a:buNone/>
              <a:defRPr sz="1425" b="0">
                <a:solidFill>
                  <a:srgbClr val="087B80"/>
                </a:solidFill>
                <a:latin typeface="Consolas"/>
                <a:ea typeface="Consolas"/>
                <a:cs typeface="Consolas"/>
              </a:defRPr>
            </a:pPr>
            <a:r>
              <a:rPr sz="1425" b="0">
                <a:solidFill>
                  <a:srgbClr val="087B80"/>
                </a:solidFill>
                <a:latin typeface="Consolas"/>
                <a:ea typeface="Consolas"/>
                <a:cs typeface="Consolas"/>
              </a:rPr>
              <a:t>  signal&lt;readonly Product[]&gt;([]);</a:t>
            </a:r>
          </a:p>
        </p:txBody>
      </p:sp>
      <p:sp>
        <p:nvSpPr>
          <p:cNvPr id="5" name="">
            <a:extLst xmlns:a="http://schemas.openxmlformats.org/drawingml/2006/main">
              <a:ext uri="{FF2B5EF4-FFF2-40B4-BE49-F238E27FC236}">
                <a16:creationId xmlns:a16="http://schemas.microsoft.com/office/drawing/2014/main" id="{26052D19-8D37-4473-962F-46AFC7C24BCD}"/>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An empty array alone does not mean loading</a:t>
            </a:r>
          </a:p>
        </p:txBody>
      </p:sp>
      <p:sp>
        <p:nvSpPr>
          <p:cNvPr id="6" name="">
            <a:extLst xmlns:a="http://schemas.openxmlformats.org/drawingml/2006/main">
              <a:ext uri="{FF2B5EF4-FFF2-40B4-BE49-F238E27FC236}">
                <a16:creationId xmlns:a16="http://schemas.microsoft.com/office/drawing/2014/main" id="{C2E340A1-64B3-48F4-9005-44AF10161B77}"/>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16</a:t>
            </a:r>
          </a:p>
        </p:txBody>
      </p:sp>
    </p:spTree>
    <p:extLst>
      <p:ext uri="{BB962C8B-B14F-4D97-AF65-F5344CB8AC3E}">
        <p14:creationId xmlns:p14="http://schemas.microsoft.com/office/powerpoint/2010/main" val="615238767"/>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AD0F7C-D528-48D5-ABF7-6CB39E5B3DE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8049ED03-6C51-4310-9596-FF804DC7EE2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Starting the request</a:t>
            </a:r>
          </a:p>
        </p:txBody>
      </p:sp>
      <p:sp>
        <p:nvSpPr>
          <p:cNvPr id="3" name="">
            <a:extLst xmlns:a="http://schemas.openxmlformats.org/drawingml/2006/main">
              <a:ext uri="{FF2B5EF4-FFF2-40B4-BE49-F238E27FC236}">
                <a16:creationId xmlns:a16="http://schemas.microsoft.com/office/drawing/2014/main" id="{5D503982-6186-4E97-8138-228B439B5473}"/>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Cancel the previous subscription.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Show loading and clear the old error.</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Subscribe to the service result.</a:t>
            </a:r>
          </a:p>
        </p:txBody>
      </p:sp>
      <p:sp>
        <p:nvSpPr>
          <p:cNvPr id="4" name="">
            <a:extLst xmlns:a="http://schemas.openxmlformats.org/drawingml/2006/main">
              <a:ext uri="{FF2B5EF4-FFF2-40B4-BE49-F238E27FC236}">
                <a16:creationId xmlns:a16="http://schemas.microsoft.com/office/drawing/2014/main" id="{21A5A87E-D00C-46B1-86DE-C8CD61F58D24}"/>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this.request?.unsubscribe();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this.status.set("loading");</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this.error.set("");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this.request = this.service.load()</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.subscribe(/* callbacks */);</a:t>
            </a:r>
          </a:p>
        </p:txBody>
      </p:sp>
      <p:sp>
        <p:nvSpPr>
          <p:cNvPr id="5" name="">
            <a:extLst xmlns:a="http://schemas.openxmlformats.org/drawingml/2006/main">
              <a:ext uri="{FF2B5EF4-FFF2-40B4-BE49-F238E27FC236}">
                <a16:creationId xmlns:a16="http://schemas.microsoft.com/office/drawing/2014/main" id="{7E4474C8-57F1-4FFF-8AE2-CDD655F10158}"/>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user sees progress while data arrives</a:t>
            </a:r>
          </a:p>
        </p:txBody>
      </p:sp>
      <p:sp>
        <p:nvSpPr>
          <p:cNvPr id="6" name="">
            <a:extLst xmlns:a="http://schemas.openxmlformats.org/drawingml/2006/main">
              <a:ext uri="{FF2B5EF4-FFF2-40B4-BE49-F238E27FC236}">
                <a16:creationId xmlns:a16="http://schemas.microsoft.com/office/drawing/2014/main" id="{4978E0FC-CDCB-4247-994F-3BF576D27AA2}"/>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17</a:t>
            </a:r>
          </a:p>
        </p:txBody>
      </p:sp>
    </p:spTree>
    <p:extLst>
      <p:ext uri="{BB962C8B-B14F-4D97-AF65-F5344CB8AC3E}">
        <p14:creationId xmlns:p14="http://schemas.microsoft.com/office/powerpoint/2010/main" val="1273479034"/>
      </p:ext>
    </p:extLst>
  </p:cSld>
</p:sld>
</file>

<file path=ppt/slides/slide1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4A08D8-9A95-4742-BFF7-61AD85ACC3BA}"/>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73907686-15EC-4231-AE86-E8A35E9C5553}"/>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Receiving successful data</a:t>
            </a:r>
          </a:p>
        </p:txBody>
      </p:sp>
      <p:sp>
        <p:nvSpPr>
          <p:cNvPr id="3" name="">
            <a:extLst xmlns:a="http://schemas.openxmlformats.org/drawingml/2006/main">
              <a:ext uri="{FF2B5EF4-FFF2-40B4-BE49-F238E27FC236}">
                <a16:creationId xmlns:a16="http://schemas.microsoft.com/office/drawing/2014/main" id="{167229B8-BFD4-4349-9257-DAAC9D7174D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next callback receives validated products.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Write the products signal.</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Show success.</a:t>
            </a:r>
          </a:p>
        </p:txBody>
      </p:sp>
      <p:sp>
        <p:nvSpPr>
          <p:cNvPr id="4" name="">
            <a:extLst xmlns:a="http://schemas.openxmlformats.org/drawingml/2006/main">
              <a:ext uri="{FF2B5EF4-FFF2-40B4-BE49-F238E27FC236}">
                <a16:creationId xmlns:a16="http://schemas.microsoft.com/office/drawing/2014/main" id="{0F931376-0173-4BE5-A21E-E3AAEDBAA767}"/>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next: products =&gt;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this.products.set(products);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this.status.set("success");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B9AF1E16-0840-4BDB-9038-799E5E052E7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Four products feed the existing components</a:t>
            </a:r>
          </a:p>
        </p:txBody>
      </p:sp>
      <p:sp>
        <p:nvSpPr>
          <p:cNvPr id="6" name="">
            <a:extLst xmlns:a="http://schemas.openxmlformats.org/drawingml/2006/main">
              <a:ext uri="{FF2B5EF4-FFF2-40B4-BE49-F238E27FC236}">
                <a16:creationId xmlns:a16="http://schemas.microsoft.com/office/drawing/2014/main" id="{FB3BDEFE-7F61-4F36-B4C9-C1192E6A45D6}"/>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18</a:t>
            </a:r>
          </a:p>
        </p:txBody>
      </p:sp>
    </p:spTree>
    <p:extLst>
      <p:ext uri="{BB962C8B-B14F-4D97-AF65-F5344CB8AC3E}">
        <p14:creationId xmlns:p14="http://schemas.microsoft.com/office/powerpoint/2010/main" val="2134114080"/>
      </p:ext>
    </p:extLst>
  </p:cSld>
</p:sld>
</file>

<file path=ppt/slides/slide1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38783F-D8B7-4D29-A17B-00C56291FBD7}"/>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9FFF38BA-D295-4245-9326-E3CDAA43D41A}"/>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Displaying request states</a:t>
            </a:r>
          </a:p>
        </p:txBody>
      </p:sp>
      <p:sp>
        <p:nvSpPr>
          <p:cNvPr id="3" name="">
            <a:extLst xmlns:a="http://schemas.openxmlformats.org/drawingml/2006/main">
              <a:ext uri="{FF2B5EF4-FFF2-40B4-BE49-F238E27FC236}">
                <a16:creationId xmlns:a16="http://schemas.microsoft.com/office/drawing/2014/main" id="{F4125F14-9FE1-4B8F-B58F-43915839726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Use @if for the request UI.</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Show accessible progress and failure messages.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Display catalog only after success.</a:t>
            </a:r>
          </a:p>
        </p:txBody>
      </p:sp>
      <p:sp>
        <p:nvSpPr>
          <p:cNvPr id="4" name="">
            <a:extLst xmlns:a="http://schemas.openxmlformats.org/drawingml/2006/main">
              <a:ext uri="{FF2B5EF4-FFF2-40B4-BE49-F238E27FC236}">
                <a16:creationId xmlns:a16="http://schemas.microsoft.com/office/drawing/2014/main" id="{432BF199-350B-4CFC-8B84-1801B6F56E1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@if (status() === "loading")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&lt;p role="status"&gt;Loading products…&lt;/p&gt;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@if (status() === "error")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&lt;p role="alert"&gt;{{ error() }}&lt;/p&gt;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C03921C8-2EFE-45E0-B0A0-FCD2051C720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Loading and error hide the catalog</a:t>
            </a:r>
          </a:p>
        </p:txBody>
      </p:sp>
      <p:sp>
        <p:nvSpPr>
          <p:cNvPr id="6" name="">
            <a:extLst xmlns:a="http://schemas.openxmlformats.org/drawingml/2006/main">
              <a:ext uri="{FF2B5EF4-FFF2-40B4-BE49-F238E27FC236}">
                <a16:creationId xmlns:a16="http://schemas.microsoft.com/office/drawing/2014/main" id="{59401AC7-812A-4918-9BAA-856F0097CCF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19</a:t>
            </a:r>
          </a:p>
        </p:txBody>
      </p:sp>
    </p:spTree>
    <p:extLst>
      <p:ext uri="{BB962C8B-B14F-4D97-AF65-F5344CB8AC3E}">
        <p14:creationId xmlns:p14="http://schemas.microsoft.com/office/powerpoint/2010/main" val="406089305"/>
      </p:ext>
    </p:extLst>
  </p:cSld>
</p:sld>
</file>

<file path=ppt/slides/slide2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302A38-F794-47A6-A5C8-A528226507C5}"/>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C541CD5B-ED7B-4013-9021-E21161C02DE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Empty data and no filter matches</a:t>
            </a:r>
          </a:p>
        </p:txBody>
      </p:sp>
      <p:sp>
        <p:nvSpPr>
          <p:cNvPr id="3" name="">
            <a:extLst xmlns:a="http://schemas.openxmlformats.org/drawingml/2006/main">
              <a:ext uri="{FF2B5EF4-FFF2-40B4-BE49-F238E27FC236}">
                <a16:creationId xmlns:a16="http://schemas.microsoft.com/office/drawing/2014/main" id="{3B50E5D5-E9A4-4AFF-BEFA-61530305E4A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Successful [] means no products available.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nonempty resource can have zero matches.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Neither outcome is a request failure.</a:t>
            </a:r>
          </a:p>
        </p:txBody>
      </p:sp>
      <p:sp>
        <p:nvSpPr>
          <p:cNvPr id="4" name="">
            <a:extLst xmlns:a="http://schemas.openxmlformats.org/drawingml/2006/main">
              <a:ext uri="{FF2B5EF4-FFF2-40B4-BE49-F238E27FC236}">
                <a16:creationId xmlns:a16="http://schemas.microsoft.com/office/drawing/2014/main" id="{DDFFAD76-8632-4A8B-9751-BE8B34C3EEE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A6CFF046-D10A-49F9-BCBE-13FC7E6EC0C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F73552AC-8B9D-4331-A4A1-7712CD2385A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20</a:t>
            </a:r>
          </a:p>
        </p:txBody>
      </p:sp>
      <p:sp>
        <p:nvSpPr>
          <p:cNvPr id="8" name="">
            <a:extLst xmlns:a="http://schemas.openxmlformats.org/drawingml/2006/main">
              <a:ext uri="{FF2B5EF4-FFF2-40B4-BE49-F238E27FC236}">
                <a16:creationId xmlns:a16="http://schemas.microsoft.com/office/drawing/2014/main" id="{9D0DB9B9-86E6-4438-A696-62E9E3619281}"/>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0">
                <a:solidFill>
                  <a:srgbClr val="087B80"/>
                </a:solidFill>
                <a:latin typeface="Consolas"/>
                <a:ea typeface="Consolas"/>
                <a:cs typeface="Consolas"/>
              </a:defRPr>
            </a:defPPr>
          </a:lstStyle>
          <a:p xmlns:a="http://schemas.openxmlformats.org/drawingml/2006/main">
            <a:pPr algn="l">
              <a:defRPr sz="1725" b="0">
                <a:solidFill>
                  <a:srgbClr val="087B80"/>
                </a:solidFill>
                <a:latin typeface="Consolas"/>
                <a:ea typeface="Consolas"/>
                <a:cs typeface="Consolas"/>
              </a:defRPr>
            </a:pPr>
            <a:r>
              <a:rPr sz="1725" b="0">
                <a:solidFill>
                  <a:srgbClr val="087B80"/>
                </a:solidFill>
                <a:latin typeface="Consolas"/>
                <a:ea typeface="Consolas"/>
                <a:cs typeface="Consolas"/>
              </a:rPr>
              <a:t>status() === "success" &amp;&amp;</a:t>
            </a:r>
          </a:p>
          <a:p xmlns:a="http://schemas.openxmlformats.org/drawingml/2006/main">
            <a:pPr algn="l">
              <a:defRPr sz="1725" b="0">
                <a:solidFill>
                  <a:srgbClr val="087B80"/>
                </a:solidFill>
                <a:latin typeface="Consolas"/>
                <a:ea typeface="Consolas"/>
                <a:cs typeface="Consolas"/>
              </a:defRPr>
            </a:pPr>
            <a:r>
              <a:rPr sz="1725" b="0">
                <a:solidFill>
                  <a:srgbClr val="087B80"/>
                </a:solidFill>
                <a:latin typeface="Consolas"/>
                <a:ea typeface="Consolas"/>
                <a:cs typeface="Consolas"/>
              </a:rPr>
              <a:t>  products().length === 0</a:t>
            </a:r>
          </a:p>
          <a:p xmlns:a="http://schemas.openxmlformats.org/drawingml/2006/main">
            <a:r>
              <a:t/>
            </a:r>
          </a:p>
          <a:p xmlns:a="http://schemas.openxmlformats.org/drawingml/2006/main">
            <a:pPr algn="l">
              <a:defRPr sz="1725" b="0">
                <a:solidFill>
                  <a:srgbClr val="087B80"/>
                </a:solidFill>
                <a:latin typeface="Consolas"/>
                <a:ea typeface="Consolas"/>
                <a:cs typeface="Consolas"/>
              </a:defRPr>
            </a:pPr>
            <a:r>
              <a:rPr sz="1725" b="0">
                <a:solidFill>
                  <a:srgbClr val="087B80"/>
                </a:solidFill>
                <a:latin typeface="Consolas"/>
                <a:ea typeface="Consolas"/>
                <a:cs typeface="Consolas"/>
              </a:rPr>
              <a:t>// ProductList handles zero visible matches.</a:t>
            </a:r>
          </a:p>
        </p:txBody>
      </p:sp>
      <p:sp>
        <p:nvSpPr>
          <p:cNvPr id="9" name="">
            <a:extLst xmlns:a="http://schemas.openxmlformats.org/drawingml/2006/main">
              <a:ext uri="{FF2B5EF4-FFF2-40B4-BE49-F238E27FC236}">
                <a16:creationId xmlns:a16="http://schemas.microsoft.com/office/drawing/2014/main" id="{8C056830-03DC-4C49-BDC6-2FC37BCFB773}"/>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Separate empty-resource and filter messages</a:t>
            </a:r>
          </a:p>
        </p:txBody>
      </p:sp>
    </p:spTree>
    <p:extLst>
      <p:ext uri="{BB962C8B-B14F-4D97-AF65-F5344CB8AC3E}">
        <p14:creationId xmlns:p14="http://schemas.microsoft.com/office/powerpoint/2010/main" val="352255975"/>
      </p:ext>
    </p:extLst>
  </p:cSld>
</p:sld>
</file>

<file path=ppt/slides/slide2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B9156A-EE3F-4B95-AF39-BB85565ABC9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EB47B319-3EC8-4981-837F-E71BCE1EE737}"/>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Retry after a failed request</a:t>
            </a:r>
          </a:p>
        </p:txBody>
      </p:sp>
      <p:sp>
        <p:nvSpPr>
          <p:cNvPr id="3" name="">
            <a:extLst xmlns:a="http://schemas.openxmlformats.org/drawingml/2006/main">
              <a:ext uri="{FF2B5EF4-FFF2-40B4-BE49-F238E27FC236}">
                <a16:creationId xmlns:a16="http://schemas.microsoft.com/office/drawing/2014/main" id="{74E1CAC1-8436-4612-8ED2-364C75485DB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Retry calls the loading method again.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Restore the resource before retrying.</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new attempt clears the old message.</a:t>
            </a:r>
          </a:p>
        </p:txBody>
      </p:sp>
      <p:sp>
        <p:nvSpPr>
          <p:cNvPr id="4" name="">
            <a:extLst xmlns:a="http://schemas.openxmlformats.org/drawingml/2006/main">
              <a:ext uri="{FF2B5EF4-FFF2-40B4-BE49-F238E27FC236}">
                <a16:creationId xmlns:a16="http://schemas.microsoft.com/office/drawing/2014/main" id="{2E3353C5-1E63-4B5A-8A0E-2C0D24B842F2}"/>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&lt;button type="button"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(click)="loadProducts()"&gt;Retry&lt;/button&gt;</a:t>
            </a:r>
          </a:p>
        </p:txBody>
      </p:sp>
      <p:sp>
        <p:nvSpPr>
          <p:cNvPr id="5" name="">
            <a:extLst xmlns:a="http://schemas.openxmlformats.org/drawingml/2006/main">
              <a:ext uri="{FF2B5EF4-FFF2-40B4-BE49-F238E27FC236}">
                <a16:creationId xmlns:a16="http://schemas.microsoft.com/office/drawing/2014/main" id="{3A5372FD-BE14-47A1-BB21-D9099541EE8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Retry recovers without a page reload</a:t>
            </a:r>
          </a:p>
        </p:txBody>
      </p:sp>
      <p:sp>
        <p:nvSpPr>
          <p:cNvPr id="6" name="">
            <a:extLst xmlns:a="http://schemas.openxmlformats.org/drawingml/2006/main">
              <a:ext uri="{FF2B5EF4-FFF2-40B4-BE49-F238E27FC236}">
                <a16:creationId xmlns:a16="http://schemas.microsoft.com/office/drawing/2014/main" id="{45149D33-0C9E-440F-A260-2169947589D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21</a:t>
            </a:r>
          </a:p>
        </p:txBody>
      </p:sp>
    </p:spTree>
    <p:extLst>
      <p:ext uri="{BB962C8B-B14F-4D97-AF65-F5344CB8AC3E}">
        <p14:creationId xmlns:p14="http://schemas.microsoft.com/office/powerpoint/2010/main" val="1661572830"/>
      </p:ext>
    </p:extLst>
  </p:cSld>
</p:sld>
</file>

<file path=ppt/slides/slide2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2A2DEE-FAC9-4E83-BF95-FA1A7F38554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D07F2595-855A-4888-9726-F766589C3D4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Cancellation and destruction cleanup</a:t>
            </a:r>
          </a:p>
        </p:txBody>
      </p:sp>
      <p:sp>
        <p:nvSpPr>
          <p:cNvPr id="3" name="">
            <a:extLst xmlns:a="http://schemas.openxmlformats.org/drawingml/2006/main">
              <a:ext uri="{FF2B5EF4-FFF2-40B4-BE49-F238E27FC236}">
                <a16:creationId xmlns:a16="http://schemas.microsoft.com/office/drawing/2014/main" id="{B0B95FA6-A587-4FAE-BC30-E992AEEAC033}"/>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Unsubscribe to cancel an obsolete HTTP request.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DestroyRef identifies the owner’s lifetime.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takeUntilDestroyed cleans up on destruction.</a:t>
            </a:r>
          </a:p>
        </p:txBody>
      </p:sp>
      <p:sp>
        <p:nvSpPr>
          <p:cNvPr id="4" name="">
            <a:extLst xmlns:a="http://schemas.openxmlformats.org/drawingml/2006/main">
              <a:ext uri="{FF2B5EF4-FFF2-40B4-BE49-F238E27FC236}">
                <a16:creationId xmlns:a16="http://schemas.microsoft.com/office/drawing/2014/main" id="{710400FA-322B-44AD-8737-9E3D859BEC3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F327A647-8768-4204-B0E9-B670D38E81C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8042FDE8-F4AA-4A24-8B59-2B1E31AB759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22</a:t>
            </a:r>
          </a:p>
        </p:txBody>
      </p:sp>
      <p:sp>
        <p:nvSpPr>
          <p:cNvPr id="8" name="">
            <a:extLst xmlns:a="http://schemas.openxmlformats.org/drawingml/2006/main">
              <a:ext uri="{FF2B5EF4-FFF2-40B4-BE49-F238E27FC236}">
                <a16:creationId xmlns:a16="http://schemas.microsoft.com/office/drawing/2014/main" id="{42AD8D93-311B-487E-9E5A-5D97E21119A7}"/>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087B80"/>
                </a:solidFill>
                <a:latin typeface="Consolas"/>
                <a:ea typeface="Consolas"/>
                <a:cs typeface="Consolas"/>
              </a:defRPr>
            </a:defPPr>
          </a:lstStyle>
          <a:p xmlns:a="http://schemas.openxmlformats.org/drawingml/2006/main">
            <a:pPr algn="l">
              <a:defRPr sz="1650" b="0">
                <a:solidFill>
                  <a:srgbClr val="087B80"/>
                </a:solidFill>
                <a:latin typeface="Consolas"/>
                <a:ea typeface="Consolas"/>
                <a:cs typeface="Consolas"/>
              </a:defRPr>
            </a:pPr>
            <a:r>
              <a:rPr sz="1650" b="0">
                <a:solidFill>
                  <a:srgbClr val="087B80"/>
                </a:solidFill>
                <a:latin typeface="Consolas"/>
                <a:ea typeface="Consolas"/>
                <a:cs typeface="Consolas"/>
              </a:rPr>
              <a:t>this.service.load().pipe(</a:t>
            </a:r>
          </a:p>
          <a:p xmlns:a="http://schemas.openxmlformats.org/drawingml/2006/main">
            <a:pPr algn="l">
              <a:defRPr sz="1650" b="0">
                <a:solidFill>
                  <a:srgbClr val="087B80"/>
                </a:solidFill>
                <a:latin typeface="Consolas"/>
                <a:ea typeface="Consolas"/>
                <a:cs typeface="Consolas"/>
              </a:defRPr>
            </a:pPr>
            <a:r>
              <a:rPr sz="1650" b="0">
                <a:solidFill>
                  <a:srgbClr val="087B80"/>
                </a:solidFill>
                <a:latin typeface="Consolas"/>
                <a:ea typeface="Consolas"/>
                <a:cs typeface="Consolas"/>
              </a:rPr>
              <a:t>  takeUntilDestroyed(this.destroyRef)</a:t>
            </a:r>
          </a:p>
          <a:p xmlns:a="http://schemas.openxmlformats.org/drawingml/2006/main">
            <a:pPr algn="l">
              <a:defRPr sz="1650" b="0">
                <a:solidFill>
                  <a:srgbClr val="087B80"/>
                </a:solidFill>
                <a:latin typeface="Consolas"/>
                <a:ea typeface="Consolas"/>
                <a:cs typeface="Consolas"/>
              </a:defRPr>
            </a:pPr>
            <a:r>
              <a:rPr sz="1650" b="0">
                <a:solidFill>
                  <a:srgbClr val="087B80"/>
                </a:solidFill>
                <a:latin typeface="Consolas"/>
                <a:ea typeface="Consolas"/>
                <a:cs typeface="Consolas"/>
              </a:rPr>
              <a:t>).subscribe({ next: data =&gt; { /* save */ } });</a:t>
            </a:r>
          </a:p>
        </p:txBody>
      </p:sp>
      <p:sp>
        <p:nvSpPr>
          <p:cNvPr id="9" name="">
            <a:extLst xmlns:a="http://schemas.openxmlformats.org/drawingml/2006/main">
              <a:ext uri="{FF2B5EF4-FFF2-40B4-BE49-F238E27FC236}">
                <a16:creationId xmlns:a16="http://schemas.microsoft.com/office/drawing/2014/main" id="{02237A9C-5595-40DD-8B0A-791F42EB889A}"/>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Old requests stop before Retry or destruction</a:t>
            </a:r>
          </a:p>
        </p:txBody>
      </p:sp>
    </p:spTree>
    <p:extLst>
      <p:ext uri="{BB962C8B-B14F-4D97-AF65-F5344CB8AC3E}">
        <p14:creationId xmlns:p14="http://schemas.microsoft.com/office/powerpoint/2010/main" val="421415645"/>
      </p:ext>
    </p:extLst>
  </p:cSld>
</p:sld>
</file>

<file path=ppt/slides/slide2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12B812-67D1-45F3-B3EB-F0A447650D62}"/>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9DF3660D-0993-4878-84E5-CF0E33E28714}"/>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Observable callbacks and async functions</a:t>
            </a:r>
          </a:p>
        </p:txBody>
      </p:sp>
      <p:sp>
        <p:nvSpPr>
          <p:cNvPr id="3" name="">
            <a:extLst xmlns:a="http://schemas.openxmlformats.org/drawingml/2006/main">
              <a:ext uri="{FF2B5EF4-FFF2-40B4-BE49-F238E27FC236}">
                <a16:creationId xmlns:a16="http://schemas.microsoft.com/office/drawing/2014/main" id="{24016A95-5C1E-4255-B392-4F1D47A1F66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subscribe uses next and error callbacks.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Keep the service as an Observable pipeline.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Promise/await is a different option.</a:t>
            </a:r>
          </a:p>
        </p:txBody>
      </p:sp>
      <p:sp>
        <p:nvSpPr>
          <p:cNvPr id="4" name="">
            <a:extLst xmlns:a="http://schemas.openxmlformats.org/drawingml/2006/main">
              <a:ext uri="{FF2B5EF4-FFF2-40B4-BE49-F238E27FC236}">
                <a16:creationId xmlns:a16="http://schemas.microsoft.com/office/drawing/2014/main" id="{452A472C-D522-44B2-B1A5-5FF30076761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error: error =&gt;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this.error.set(requestMessage(error));</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this.status.set("error");</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431971CA-477B-4657-828F-3A953B39DEA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 stream error updates the error screen</a:t>
            </a:r>
          </a:p>
        </p:txBody>
      </p:sp>
      <p:sp>
        <p:nvSpPr>
          <p:cNvPr id="6" name="">
            <a:extLst xmlns:a="http://schemas.openxmlformats.org/drawingml/2006/main">
              <a:ext uri="{FF2B5EF4-FFF2-40B4-BE49-F238E27FC236}">
                <a16:creationId xmlns:a16="http://schemas.microsoft.com/office/drawing/2014/main" id="{0839D854-7503-4657-9F7A-76A29B29D189}"/>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23</a:t>
            </a:r>
          </a:p>
        </p:txBody>
      </p:sp>
    </p:spTree>
    <p:extLst>
      <p:ext uri="{BB962C8B-B14F-4D97-AF65-F5344CB8AC3E}">
        <p14:creationId xmlns:p14="http://schemas.microsoft.com/office/powerpoint/2010/main" val="802763435"/>
      </p:ext>
    </p:extLst>
  </p:cSld>
</p:sld>
</file>

<file path=ppt/slides/slide24.xml><?xml version="1.0" encoding="utf-8"?>
<p:sld xmlns:p="http://schemas.openxmlformats.org/presentationml/2006/main">
  <p:cSld>
    <p:bg>
      <p:bgPr>
        <a:solidFill xmlns:a="http://schemas.openxmlformats.org/drawingml/2006/main">
          <a:srgbClr val="14374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D5BBBF-AE34-4F54-BABF-B66A383464F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92E8DF"/>
                </a:solidFill>
                <a:latin typeface="Arial"/>
                <a:ea typeface="Arial"/>
                <a:cs typeface="Arial"/>
              </a:defRPr>
            </a:defPPr>
          </a:lstStyle>
          <a:p xmlns:a="http://schemas.openxmlformats.org/drawingml/2006/main">
            <a:pPr algn="l">
              <a:buNone/>
              <a:defRPr sz="1275" b="1">
                <a:solidFill>
                  <a:srgbClr val="92E8DF"/>
                </a:solidFill>
                <a:latin typeface="Arial"/>
                <a:ea typeface="Arial"/>
                <a:cs typeface="Arial"/>
              </a:defRPr>
            </a:pPr>
            <a:r>
              <a:rPr sz="1275" b="1">
                <a:solidFill>
                  <a:srgbClr val="92E8DF"/>
                </a:solidFill>
                <a:latin typeface="Arial"/>
                <a:ea typeface="Arial"/>
                <a:cs typeface="Arial"/>
              </a:rPr>
              <a:t>HANDS-ON · WALKTHROUGH</a:t>
            </a:r>
          </a:p>
        </p:txBody>
      </p:sp>
      <p:sp>
        <p:nvSpPr>
          <p:cNvPr id="2" name="">
            <a:extLst xmlns:a="http://schemas.openxmlformats.org/drawingml/2006/main">
              <a:ext uri="{FF2B5EF4-FFF2-40B4-BE49-F238E27FC236}">
                <a16:creationId xmlns:a16="http://schemas.microsoft.com/office/drawing/2014/main" id="{AEF40004-0D30-4BC1-A0EE-4D5263556AA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Our loaded Product Catalog</a:t>
            </a:r>
          </a:p>
        </p:txBody>
      </p:sp>
      <p:pic>
        <p:nvPicPr>
          <p:cNvPr id="3" name="">
            <a:extLst xmlns:a="http://schemas.openxmlformats.org/drawingml/2006/main">
              <a:ext uri="{FF2B5EF4-FFF2-40B4-BE49-F238E27FC236}">
                <a16:creationId xmlns:a16="http://schemas.microsoft.com/office/drawing/2014/main" id="{AB361870-0790-4D25-87C1-7E2199AC0C6C}"/>
              </a:ext>
            </a:extLst>
          </p:cNvPr>
          <p:cNvPicPr>
            <a:picLocks xmlns:a="http://schemas.openxmlformats.org/drawingml/2006/main" noChangeAspect="1"/>
          </p:cNvPicPr>
          <p:nvPr/>
        </p:nvPicPr>
        <p:blipFill>
          <a:blip xmlns:r="http://schemas.openxmlformats.org/officeDocument/2006/relationships" xmlns:a="http://schemas.openxmlformats.org/drawingml/2006/main" r:embed="R7dd67a8bc9ac4c27"/>
          <a:srcRect xmlns:a="http://schemas.openxmlformats.org/drawingml/2006/main" l="0" t="0" r="0" b="0"/>
          <a:stretch xmlns:a="http://schemas.openxmlformats.org/drawingml/2006/main"/>
        </p:blipFill>
        <p:spPr>
          <a:xfrm xmlns:a="http://schemas.openxmlformats.org/drawingml/2006/main">
            <a:off x="5429250" y="3313891"/>
            <a:ext cx="6191250" cy="161134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8420A99-1D36-49AA-94E6-4F58340517B9}"/>
              </a:ext>
            </a:extLst>
          </p:cNvPr>
          <p:cNvSpPr>
            <a:spLocks xmlns:a="http://schemas.openxmlformats.org/drawingml/2006/main" noGrp="1"/>
          </p:cNvSpPr>
          <p:nvPr/>
        </p:nvSpPr>
        <p:spPr>
          <a:xfrm xmlns:a="http://schemas.openxmlformats.org/drawingml/2006/main">
            <a:off x="609600" y="2209800"/>
            <a:ext cx="442912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stStyle>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The HTTP resource supplies four products.</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Search and stock filters still work.</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Notebook and Bag total ₹580.</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Reload starts a request and resets local state.</a:t>
            </a:r>
          </a:p>
        </p:txBody>
      </p:sp>
      <p:sp>
        <p:nvSpPr>
          <p:cNvPr id="5" name="">
            <a:extLst xmlns:a="http://schemas.openxmlformats.org/drawingml/2006/main">
              <a:ext uri="{FF2B5EF4-FFF2-40B4-BE49-F238E27FC236}">
                <a16:creationId xmlns:a16="http://schemas.microsoft.com/office/drawing/2014/main" id="{AA6A2F74-AF31-4A60-A5A7-44620A01F75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92B4C2"/>
                </a:solidFill>
                <a:latin typeface="Arial"/>
                <a:ea typeface="Arial"/>
                <a:cs typeface="Arial"/>
              </a:defRPr>
            </a:defPPr>
          </a:lstStyle>
          <a:p xmlns:a="http://schemas.openxmlformats.org/drawingml/2006/main">
            <a:pPr algn="l">
              <a:buNone/>
              <a:defRPr sz="1200" b="0">
                <a:solidFill>
                  <a:srgbClr val="92B4C2"/>
                </a:solidFill>
                <a:latin typeface="Arial"/>
                <a:ea typeface="Arial"/>
                <a:cs typeface="Arial"/>
              </a:defRPr>
            </a:pPr>
            <a:r>
              <a:rPr sz="1200" b="0">
                <a:solidFill>
                  <a:srgbClr val="92B4C2"/>
                </a:solidFill>
                <a:latin typeface="Arial"/>
                <a:ea typeface="Arial"/>
                <a:cs typeface="Arial"/>
              </a:rPr>
              <a:t>24</a:t>
            </a:r>
          </a:p>
        </p:txBody>
      </p:sp>
    </p:spTree>
    <p:extLst>
      <p:ext uri="{BB962C8B-B14F-4D97-AF65-F5344CB8AC3E}">
        <p14:creationId xmlns:p14="http://schemas.microsoft.com/office/powerpoint/2010/main" val="53053803"/>
      </p:ext>
    </p:extLst>
  </p:cSld>
</p:sld>
</file>

<file path=ppt/slides/slide2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D290A5-A802-4E3B-B6F4-7579301C0F6D}"/>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HANDS-ON</a:t>
            </a:r>
          </a:p>
        </p:txBody>
      </p:sp>
      <p:sp>
        <p:nvSpPr>
          <p:cNvPr id="2" name="">
            <a:extLst xmlns:a="http://schemas.openxmlformats.org/drawingml/2006/main">
              <a:ext uri="{FF2B5EF4-FFF2-40B4-BE49-F238E27FC236}">
                <a16:creationId xmlns:a16="http://schemas.microsoft.com/office/drawing/2014/main" id="{267DD854-081E-430F-B021-095AC41E7711}"/>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Tracing the request in the project</a:t>
            </a:r>
          </a:p>
        </p:txBody>
      </p:sp>
      <p:sp>
        <p:nvSpPr>
          <p:cNvPr id="3" name="">
            <a:extLst xmlns:a="http://schemas.openxmlformats.org/drawingml/2006/main">
              <a:ext uri="{FF2B5EF4-FFF2-40B4-BE49-F238E27FC236}">
                <a16:creationId xmlns:a16="http://schemas.microsoft.com/office/drawing/2014/main" id="{C5B2B246-09B5-450D-A690-F8B3425C7C07}"/>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public/products.json holds the resource.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ProductService performs HTTP and validation.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App owns request state and callbacks.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The existing components show the catalog.</a:t>
            </a:r>
          </a:p>
        </p:txBody>
      </p:sp>
      <p:sp>
        <p:nvSpPr>
          <p:cNvPr id="4" name="">
            <a:extLst xmlns:a="http://schemas.openxmlformats.org/drawingml/2006/main">
              <a:ext uri="{FF2B5EF4-FFF2-40B4-BE49-F238E27FC236}">
                <a16:creationId xmlns:a16="http://schemas.microsoft.com/office/drawing/2014/main" id="{8415F727-0BCC-4817-B56B-DA175B9C5AB6}"/>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569A30F0-AD7E-4821-9026-603875AFE621}"/>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DFFB4860-FBFE-404E-9C14-2E746FDEDAEE}"/>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25</a:t>
            </a:r>
          </a:p>
        </p:txBody>
      </p:sp>
    </p:spTree>
    <p:extLst>
      <p:ext uri="{BB962C8B-B14F-4D97-AF65-F5344CB8AC3E}">
        <p14:creationId xmlns:p14="http://schemas.microsoft.com/office/powerpoint/2010/main" val="359607155"/>
      </p:ext>
    </p:extLst>
  </p:cSld>
</p:sld>
</file>

<file path=ppt/slides/slide2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E10BAD-D10D-40B0-9A76-583CB0547B8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HANDS-ON</a:t>
            </a:r>
          </a:p>
        </p:txBody>
      </p:sp>
      <p:sp>
        <p:nvSpPr>
          <p:cNvPr id="2" name="">
            <a:extLst xmlns:a="http://schemas.openxmlformats.org/drawingml/2006/main">
              <a:ext uri="{FF2B5EF4-FFF2-40B4-BE49-F238E27FC236}">
                <a16:creationId xmlns:a16="http://schemas.microsoft.com/office/drawing/2014/main" id="{538C77B9-AEFD-4AD8-84B8-F4396A9A4333}"/>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Loading and error experiments</a:t>
            </a:r>
          </a:p>
        </p:txBody>
      </p:sp>
      <p:sp>
        <p:nvSpPr>
          <p:cNvPr id="3" name="">
            <a:extLst xmlns:a="http://schemas.openxmlformats.org/drawingml/2006/main">
              <a:ext uri="{FF2B5EF4-FFF2-40B4-BE49-F238E27FC236}">
                <a16:creationId xmlns:a16="http://schemas.microsoft.com/office/drawing/2014/main" id="{CE8DD210-84F5-45A8-AAB8-B365C82BDB68}"/>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Throttle requests and reload.</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Observe loading, then four cards.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Make the resource unavailable.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Restore it and click Retry.</a:t>
            </a:r>
          </a:p>
        </p:txBody>
      </p:sp>
      <p:sp>
        <p:nvSpPr>
          <p:cNvPr id="4" name="">
            <a:extLst xmlns:a="http://schemas.openxmlformats.org/drawingml/2006/main">
              <a:ext uri="{FF2B5EF4-FFF2-40B4-BE49-F238E27FC236}">
                <a16:creationId xmlns:a16="http://schemas.microsoft.com/office/drawing/2014/main" id="{2240641B-F8F2-4C32-A644-7F13917539D7}"/>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B4287DDD-8254-4CD0-95CC-731D19C137C5}"/>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CFD15B07-F5BA-41AD-AE88-86DCF9D2411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26</a:t>
            </a:r>
          </a:p>
        </p:txBody>
      </p:sp>
    </p:spTree>
    <p:extLst>
      <p:ext uri="{BB962C8B-B14F-4D97-AF65-F5344CB8AC3E}">
        <p14:creationId xmlns:p14="http://schemas.microsoft.com/office/powerpoint/2010/main" val="1017720661"/>
      </p:ext>
    </p:extLst>
  </p:cSld>
</p:sld>
</file>

<file path=ppt/slides/slide2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8B4A46-48F3-4EA6-99D7-C85C7AB2DDE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YOUR TURN</a:t>
            </a:r>
          </a:p>
        </p:txBody>
      </p:sp>
      <p:sp>
        <p:nvSpPr>
          <p:cNvPr id="2" name="">
            <a:extLst xmlns:a="http://schemas.openxmlformats.org/drawingml/2006/main">
              <a:ext uri="{FF2B5EF4-FFF2-40B4-BE49-F238E27FC236}">
                <a16:creationId xmlns:a16="http://schemas.microsoft.com/office/drawing/2014/main" id="{D7B35481-FB27-4CC4-8AEE-22D49B0CB1CD}"/>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Changing JSON and the empty state</a:t>
            </a:r>
          </a:p>
        </p:txBody>
      </p:sp>
      <p:sp>
        <p:nvSpPr>
          <p:cNvPr id="3" name="">
            <a:extLst xmlns:a="http://schemas.openxmlformats.org/drawingml/2006/main">
              <a:ext uri="{FF2B5EF4-FFF2-40B4-BE49-F238E27FC236}">
                <a16:creationId xmlns:a16="http://schemas.microsoft.com/office/drawing/2014/main" id="{8454BE56-B8D6-4128-9AAD-19FF9AEDD6C5}"/>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Change Notebook’s price from 80 to 100.</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Reload and add Notebook + Bag: ₹600.</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Try [] and explain the success message.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Restore the original resource.</a:t>
            </a:r>
          </a:p>
        </p:txBody>
      </p:sp>
      <p:sp>
        <p:nvSpPr>
          <p:cNvPr id="4" name="">
            <a:extLst xmlns:a="http://schemas.openxmlformats.org/drawingml/2006/main">
              <a:ext uri="{FF2B5EF4-FFF2-40B4-BE49-F238E27FC236}">
                <a16:creationId xmlns:a16="http://schemas.microsoft.com/office/drawing/2014/main" id="{2D5F3749-33F9-474A-8091-ED761124E52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33250BA9-D418-4B01-AA96-5C853509582C}"/>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690AAA13-FDC8-430C-A69D-B4C2071AEE58}"/>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27</a:t>
            </a:r>
          </a:p>
        </p:txBody>
      </p:sp>
    </p:spTree>
    <p:extLst>
      <p:ext uri="{BB962C8B-B14F-4D97-AF65-F5344CB8AC3E}">
        <p14:creationId xmlns:p14="http://schemas.microsoft.com/office/powerpoint/2010/main" val="836216623"/>
      </p:ext>
    </p:extLst>
  </p:cSld>
</p:sld>
</file>

<file path=ppt/slides/slide2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B8D695-4211-45A9-89CC-B8DD40D575A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DEBUGGING</a:t>
            </a:r>
          </a:p>
        </p:txBody>
      </p:sp>
      <p:sp>
        <p:nvSpPr>
          <p:cNvPr id="2" name="">
            <a:extLst xmlns:a="http://schemas.openxmlformats.org/drawingml/2006/main">
              <a:ext uri="{FF2B5EF4-FFF2-40B4-BE49-F238E27FC236}">
                <a16:creationId xmlns:a16="http://schemas.microsoft.com/office/drawing/2014/main" id="{50FD0D22-B800-4749-91A2-A977DD538B8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Common Day 4 mistakes</a:t>
            </a:r>
          </a:p>
        </p:txBody>
      </p:sp>
      <p:sp>
        <p:nvSpPr>
          <p:cNvPr id="3" name="">
            <a:extLst xmlns:a="http://schemas.openxmlformats.org/drawingml/2006/main">
              <a:ext uri="{FF2B5EF4-FFF2-40B4-BE49-F238E27FC236}">
                <a16:creationId xmlns:a16="http://schemas.microsoft.com/office/drawing/2014/main" id="{536AA501-0592-469E-9BC3-B33F5DC93AD6}"/>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Missing provideHttpClient.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Subscribing repeatedly from a template getter.</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Awaiting an Observable as if it were a Promise.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Trusting a type without runtime validation.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Leaving old subscriptions active.</a:t>
            </a:r>
          </a:p>
        </p:txBody>
      </p:sp>
      <p:sp>
        <p:nvSpPr>
          <p:cNvPr id="4" name="">
            <a:extLst xmlns:a="http://schemas.openxmlformats.org/drawingml/2006/main">
              <a:ext uri="{FF2B5EF4-FFF2-40B4-BE49-F238E27FC236}">
                <a16:creationId xmlns:a16="http://schemas.microsoft.com/office/drawing/2014/main" id="{ED72B4C9-EB36-44CA-894B-ACA052AC23B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28</a:t>
            </a:r>
          </a:p>
        </p:txBody>
      </p:sp>
      <p:sp>
        <p:nvSpPr>
          <p:cNvPr id="6" name="">
            <a:extLst xmlns:a="http://schemas.openxmlformats.org/drawingml/2006/main">
              <a:ext uri="{FF2B5EF4-FFF2-40B4-BE49-F238E27FC236}">
                <a16:creationId xmlns:a16="http://schemas.microsoft.com/office/drawing/2014/main" id="{60FF92B2-48EE-49A4-B3F1-DC67818FE2E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7" name="">
            <a:extLst xmlns:a="http://schemas.openxmlformats.org/drawingml/2006/main">
              <a:ext uri="{FF2B5EF4-FFF2-40B4-BE49-F238E27FC236}">
                <a16:creationId xmlns:a16="http://schemas.microsoft.com/office/drawing/2014/main" id="{F0F8B6C2-5A1B-4DD6-9EAC-83578543718E}"/>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Tree>
    <p:extLst>
      <p:ext uri="{BB962C8B-B14F-4D97-AF65-F5344CB8AC3E}">
        <p14:creationId xmlns:p14="http://schemas.microsoft.com/office/powerpoint/2010/main" val="70131218"/>
      </p:ext>
    </p:extLst>
  </p:cSld>
</p:sld>
</file>

<file path=ppt/slides/slide2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2795CA-0429-4729-9979-D09C691AC8C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QUIZ</a:t>
            </a:r>
          </a:p>
        </p:txBody>
      </p:sp>
      <p:sp>
        <p:nvSpPr>
          <p:cNvPr id="2" name="">
            <a:extLst xmlns:a="http://schemas.openxmlformats.org/drawingml/2006/main">
              <a:ext uri="{FF2B5EF4-FFF2-40B4-BE49-F238E27FC236}">
                <a16:creationId xmlns:a16="http://schemas.microsoft.com/office/drawing/2014/main" id="{EB2BA0F8-D2D6-4C9E-95B2-312CF683047C}"/>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Day 4 knowledge check</a:t>
            </a:r>
          </a:p>
        </p:txBody>
      </p:sp>
      <p:sp>
        <p:nvSpPr>
          <p:cNvPr id="3" name="">
            <a:extLst xmlns:a="http://schemas.openxmlformats.org/drawingml/2006/main">
              <a:ext uri="{FF2B5EF4-FFF2-40B4-BE49-F238E27FC236}">
                <a16:creationId xmlns:a16="http://schemas.microsoft.com/office/drawing/2014/main" id="{2BB9C2CD-2DB1-43E2-98B4-35585FE49917}"/>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1  What does HttpClient.get return?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2  What starts its request?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3  Where do HTTP errors arrive?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4  How do we cancel old work?</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5  Is an empty array a failure?</a:t>
            </a:r>
          </a:p>
        </p:txBody>
      </p:sp>
      <p:sp>
        <p:nvSpPr>
          <p:cNvPr id="4" name="">
            <a:extLst xmlns:a="http://schemas.openxmlformats.org/drawingml/2006/main">
              <a:ext uri="{FF2B5EF4-FFF2-40B4-BE49-F238E27FC236}">
                <a16:creationId xmlns:a16="http://schemas.microsoft.com/office/drawing/2014/main" id="{C7C5F717-7DEA-4822-9923-B3435BD1B54E}"/>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29</a:t>
            </a:r>
          </a:p>
        </p:txBody>
      </p:sp>
    </p:spTree>
    <p:extLst>
      <p:ext uri="{BB962C8B-B14F-4D97-AF65-F5344CB8AC3E}">
        <p14:creationId xmlns:p14="http://schemas.microsoft.com/office/powerpoint/2010/main" val="1329344756"/>
      </p:ext>
    </p:extLst>
  </p:cSld>
</p:sld>
</file>

<file path=ppt/slides/slide3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TRY AT HOME</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Recap and next practice</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Services isolate HTTP access.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Observables supply request results.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Signals hold loading, error and success.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Cleanup cancels obsolete work.</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Try at home: add Pencil at ₹10.</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30</a:t>
            </a:r>
          </a:p>
        </p:txBody>
      </p:sp>
    </p:spTree>
    <p:extLst>
      <p:ext uri="{BB962C8B-B14F-4D97-AF65-F5344CB8AC3E}">
        <p14:creationId xmlns:p14="http://schemas.microsoft.com/office/powerpoint/2010/main" val="837956085"/>
      </p:ext>
    </p:extLst>
  </p:cSld>
</p:sld>
</file>

<file path=ppt/slides/slide3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REFERENCE · AFTER CLASS</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Observable basics</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stream can emit values over time.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subscribe starts this cold HTTP request.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next receives a value, error receives failure.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complete marks normal completion.</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31</a:t>
            </a:r>
          </a:p>
        </p:txBody>
      </p:sp>
      <p:sp>
        <p:nvSpPr>
          <p:cNvPr id="6" name="">
            <a:extLst xmlns:a="http://schemas.openxmlformats.org/drawingml/2006/main">
              <a:ext uri="{FF2B5EF4-FFF2-40B4-BE49-F238E27FC236}">
                <a16:creationId xmlns:a16="http://schemas.microsoft.com/office/drawing/2014/main" id="{85CA6BC7-17F6-44D6-8E33-91318EC745AC}"/>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source.subscribe({</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next: value =&gt; console.log(value),</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error: error =&gt; console.log(error),</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complete: () =&gt; console.log("Done")</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FD85751A-9A97-4332-9D62-4E96DE6418E4}"/>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An HTTP request usually emits once and completes</a:t>
            </a:r>
          </a:p>
        </p:txBody>
      </p:sp>
    </p:spTree>
    <p:extLst>
      <p:ext uri="{BB962C8B-B14F-4D97-AF65-F5344CB8AC3E}">
        <p14:creationId xmlns:p14="http://schemas.microsoft.com/office/powerpoint/2010/main" val="837956085"/>
      </p:ext>
    </p:extLst>
  </p:cSld>
</p:sld>
</file>

<file path=ppt/slides/slide3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REFERENCE · AFTER CLASS</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Promise and Observable comparison</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Promise models one eventual settlement.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Observable can provide multiple emissions.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HttpClient requests are subscription-driven.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Cancellation depends on the underlying source.</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32</a:t>
            </a:r>
          </a:p>
        </p:txBody>
      </p:sp>
      <p:sp>
        <p:nvSpPr>
          <p:cNvPr id="6" name="">
            <a:extLst xmlns:a="http://schemas.openxmlformats.org/drawingml/2006/main">
              <a:ext uri="{FF2B5EF4-FFF2-40B4-BE49-F238E27FC236}">
                <a16:creationId xmlns:a16="http://schemas.microsoft.com/office/drawing/2014/main" id="{E64885EB-EC9B-4607-9DCF-F543491D6339}"/>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const data = await firstValueFrom(</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this.http.get&lt;unknown&gt;("/products.json")</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7DD16E66-8DB8-4AF8-80BB-A161A2C02C23}"/>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firstValueFrom deliberately bridges a stream</a:t>
            </a:r>
          </a:p>
        </p:txBody>
      </p:sp>
    </p:spTree>
    <p:extLst>
      <p:ext uri="{BB962C8B-B14F-4D97-AF65-F5344CB8AC3E}">
        <p14:creationId xmlns:p14="http://schemas.microsoft.com/office/powerpoint/2010/main" val="837956085"/>
      </p:ext>
    </p:extLst>
  </p:cSld>
</p:sld>
</file>

<file path=ppt/slides/slide3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REFERENCE · AFTER CLASS</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RxJS operators and AsyncPipe</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map transforms emitted data.</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switchMap replaces an older inner request.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catchError can supply a recovery stream.</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AsyncPipe manages a template subscription.</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33</a:t>
            </a:r>
          </a:p>
        </p:txBody>
      </p:sp>
      <p:sp>
        <p:nvSpPr>
          <p:cNvPr id="6" name="">
            <a:extLst xmlns:a="http://schemas.openxmlformats.org/drawingml/2006/main">
              <a:ext uri="{FF2B5EF4-FFF2-40B4-BE49-F238E27FC236}">
                <a16:creationId xmlns:a16="http://schemas.microsoft.com/office/drawing/2014/main" id="{EA6AB1D8-FC98-4277-A02A-A35861F6D44F}"/>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http.get&lt;unknown&gt;(url).pipe(</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map(validateProducts)</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7A29A60F-BE08-4B0D-8CE5-1760AABA1FF4}"/>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The project uses map for validation</a:t>
            </a:r>
          </a:p>
        </p:txBody>
      </p:sp>
    </p:spTree>
    <p:extLst>
      <p:ext uri="{BB962C8B-B14F-4D97-AF65-F5344CB8AC3E}">
        <p14:creationId xmlns:p14="http://schemas.microsoft.com/office/powerpoint/2010/main" val="837956085"/>
      </p:ext>
    </p:extLst>
  </p:cSld>
</p:sld>
</file>

<file path=ppt/slides/slide3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REFERENCE · AFTER CLASS</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Plain fetch with AbortController</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Browser fetch uses a Promise.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Pass a controller signal to the request.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Check response.ok before reading JSON.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Abort obsolete requests.</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34</a:t>
            </a:r>
          </a:p>
        </p:txBody>
      </p:sp>
      <p:sp>
        <p:nvSpPr>
          <p:cNvPr id="6" name="">
            <a:extLst xmlns:a="http://schemas.openxmlformats.org/drawingml/2006/main">
              <a:ext uri="{FF2B5EF4-FFF2-40B4-BE49-F238E27FC236}">
                <a16:creationId xmlns:a16="http://schemas.microsoft.com/office/drawing/2014/main" id="{878238B1-25F3-4A77-AB11-7ACC6470F92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087B80"/>
                </a:solidFill>
                <a:latin typeface="Consolas"/>
                <a:ea typeface="Consolas"/>
                <a:cs typeface="Consolas"/>
              </a:defRPr>
            </a:defPPr>
          </a:lstStyle>
          <a:p xmlns:a="http://schemas.openxmlformats.org/drawingml/2006/main">
            <a:pPr algn="l">
              <a:defRPr sz="1575" b="0">
                <a:solidFill>
                  <a:srgbClr val="087B80"/>
                </a:solidFill>
                <a:latin typeface="Consolas"/>
                <a:ea typeface="Consolas"/>
                <a:cs typeface="Consolas"/>
              </a:defRPr>
            </a:pPr>
            <a:r>
              <a:rPr sz="1575" b="0">
                <a:solidFill>
                  <a:srgbClr val="087B80"/>
                </a:solidFill>
                <a:latin typeface="Consolas"/>
                <a:ea typeface="Consolas"/>
                <a:cs typeface="Consolas"/>
              </a:rPr>
              <a:t>const controller = new AbortController();</a:t>
            </a:r>
          </a:p>
          <a:p xmlns:a="http://schemas.openxmlformats.org/drawingml/2006/main">
            <a:pPr algn="l">
              <a:defRPr sz="1575" b="0">
                <a:solidFill>
                  <a:srgbClr val="087B80"/>
                </a:solidFill>
                <a:latin typeface="Consolas"/>
                <a:ea typeface="Consolas"/>
                <a:cs typeface="Consolas"/>
              </a:defRPr>
            </a:pPr>
            <a:r>
              <a:rPr sz="1575" b="0">
                <a:solidFill>
                  <a:srgbClr val="087B80"/>
                </a:solidFill>
                <a:latin typeface="Consolas"/>
                <a:ea typeface="Consolas"/>
                <a:cs typeface="Consolas"/>
              </a:rPr>
              <a:t>const response = await fetch(url, {</a:t>
            </a:r>
          </a:p>
          <a:p xmlns:a="http://schemas.openxmlformats.org/drawingml/2006/main">
            <a:pPr algn="l">
              <a:defRPr sz="1575" b="0">
                <a:solidFill>
                  <a:srgbClr val="087B80"/>
                </a:solidFill>
                <a:latin typeface="Consolas"/>
                <a:ea typeface="Consolas"/>
                <a:cs typeface="Consolas"/>
              </a:defRPr>
            </a:pPr>
            <a:r>
              <a:rPr sz="1575" b="0">
                <a:solidFill>
                  <a:srgbClr val="087B80"/>
                </a:solidFill>
                <a:latin typeface="Consolas"/>
                <a:ea typeface="Consolas"/>
                <a:cs typeface="Consolas"/>
              </a:rPr>
              <a:t>  signal: controller.signal</a:t>
            </a:r>
          </a:p>
          <a:p xmlns:a="http://schemas.openxmlformats.org/drawingml/2006/main">
            <a:pPr algn="l">
              <a:defRPr sz="1575" b="0">
                <a:solidFill>
                  <a:srgbClr val="087B80"/>
                </a:solidFill>
                <a:latin typeface="Consolas"/>
                <a:ea typeface="Consolas"/>
                <a:cs typeface="Consolas"/>
              </a:defRPr>
            </a:pPr>
            <a:r>
              <a:rPr sz="1575" b="0">
                <a:solidFill>
                  <a:srgbClr val="087B80"/>
                </a:solidFill>
                <a:latin typeface="Consolas"/>
                <a:ea typeface="Consolas"/>
                <a:cs typeface="Consolas"/>
              </a:rPr>
              <a:t>});</a:t>
            </a:r>
          </a:p>
          <a:p xmlns:a="http://schemas.openxmlformats.org/drawingml/2006/main">
            <a:pPr algn="l">
              <a:defRPr sz="1575" b="0">
                <a:solidFill>
                  <a:srgbClr val="087B80"/>
                </a:solidFill>
                <a:latin typeface="Consolas"/>
                <a:ea typeface="Consolas"/>
                <a:cs typeface="Consolas"/>
              </a:defRPr>
            </a:pPr>
            <a:r>
              <a:rPr sz="1575" b="0">
                <a:solidFill>
                  <a:srgbClr val="087B80"/>
                </a:solidFill>
                <a:latin typeface="Consolas"/>
                <a:ea typeface="Consolas"/>
                <a:cs typeface="Consolas"/>
              </a:rPr>
              <a:t>if (!response.ok) throw new Error("HTTP error");</a:t>
            </a:r>
          </a:p>
          <a:p xmlns:a="http://schemas.openxmlformats.org/drawingml/2006/main">
            <a:pPr algn="l">
              <a:defRPr sz="1575" b="0">
                <a:solidFill>
                  <a:srgbClr val="087B80"/>
                </a:solidFill>
                <a:latin typeface="Consolas"/>
                <a:ea typeface="Consolas"/>
                <a:cs typeface="Consolas"/>
              </a:defRPr>
            </a:pPr>
            <a:r>
              <a:rPr sz="1575" b="0">
                <a:solidFill>
                  <a:srgbClr val="087B80"/>
                </a:solidFill>
                <a:latin typeface="Consolas"/>
                <a:ea typeface="Consolas"/>
                <a:cs typeface="Consolas"/>
              </a:rPr>
              <a:t>const data = await response.json();</a:t>
            </a:r>
          </a:p>
        </p:txBody>
      </p:sp>
      <p:sp>
        <p:nvSpPr>
          <p:cNvPr id="7" name="">
            <a:extLst xmlns:a="http://schemas.openxmlformats.org/drawingml/2006/main">
              <a:ext uri="{FF2B5EF4-FFF2-40B4-BE49-F238E27FC236}">
                <a16:creationId xmlns:a16="http://schemas.microsoft.com/office/drawing/2014/main" id="{C0F47263-D957-4125-B5EF-2A67474E61C6}"/>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controller.abort() cancels this fetch request</a:t>
            </a:r>
          </a:p>
        </p:txBody>
      </p:sp>
    </p:spTree>
    <p:extLst>
      <p:ext uri="{BB962C8B-B14F-4D97-AF65-F5344CB8AC3E}">
        <p14:creationId xmlns:p14="http://schemas.microsoft.com/office/powerpoint/2010/main" val="8379560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2026-10-11T18:12:23.4240000Z</dcterms:created>
  <dcterms:modified xsi:type="dcterms:W3CDTF">2026-10-11T18:12:23.4240000Z</dcterms:modified>
</coreProperties>
</file>