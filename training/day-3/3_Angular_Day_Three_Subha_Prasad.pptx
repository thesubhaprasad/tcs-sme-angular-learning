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190d4d0aa94cc6" /><Relationship Type="http://schemas.openxmlformats.org/officeDocument/2006/relationships/extended-properties" Target="/docProps/app.xml" Id="R84af1c6e51be435e" /><Relationship Type="http://schemas.openxmlformats.org/officeDocument/2006/relationships/officeDocument" Target="/ppt/presentation.xml" Id="Rb512e3557faf465c" /></Relationships>
</file>

<file path=ppt/presentation.xml><?xml version="1.0" encoding="utf-8"?>
<p:presentation xmlns:p="http://schemas.openxmlformats.org/presentationml/2006/main">
  <p:sldMasterIdLst>
    <p:sldMasterId xmlns:r="http://schemas.openxmlformats.org/officeDocument/2006/relationships" id="2147483648" r:id="R666cb4e2af244e42"/>
  </p:sldMasterIdLst>
  <p:notesMasterIdLst>
    <p:notesMasterId xmlns:r="http://schemas.openxmlformats.org/officeDocument/2006/relationships" r:id="R92e9e8af2a194ca0"/>
  </p:notesMasterIdLst>
  <p:sldIdLst>
    <p:sldId xmlns:r="http://schemas.openxmlformats.org/officeDocument/2006/relationships" id="256" r:id="R9b0daea4c58e432a"/>
    <p:sldId xmlns:r="http://schemas.openxmlformats.org/officeDocument/2006/relationships" id="257" r:id="R62c1e397b12043d7"/>
    <p:sldId xmlns:r="http://schemas.openxmlformats.org/officeDocument/2006/relationships" id="258" r:id="R13291b3f39104205"/>
    <p:sldId xmlns:r="http://schemas.openxmlformats.org/officeDocument/2006/relationships" id="259" r:id="R35bf73e438844985"/>
    <p:sldId xmlns:r="http://schemas.openxmlformats.org/officeDocument/2006/relationships" id="260" r:id="Rc1e2440fb470448b"/>
    <p:sldId xmlns:r="http://schemas.openxmlformats.org/officeDocument/2006/relationships" id="261" r:id="R9b7388d5c7b844f4"/>
    <p:sldId xmlns:r="http://schemas.openxmlformats.org/officeDocument/2006/relationships" id="262" r:id="Re58b383d96cc43c0"/>
    <p:sldId xmlns:r="http://schemas.openxmlformats.org/officeDocument/2006/relationships" id="263" r:id="Rc1f4476e0fb24008"/>
    <p:sldId xmlns:r="http://schemas.openxmlformats.org/officeDocument/2006/relationships" id="264" r:id="R6d674dd8d8a04e4d"/>
    <p:sldId xmlns:r="http://schemas.openxmlformats.org/officeDocument/2006/relationships" id="265" r:id="R31e6579ab41647d8"/>
    <p:sldId xmlns:r="http://schemas.openxmlformats.org/officeDocument/2006/relationships" id="266" r:id="R92f3574496f947f3"/>
    <p:sldId xmlns:r="http://schemas.openxmlformats.org/officeDocument/2006/relationships" id="267" r:id="Ra1328e6d13ec4596"/>
    <p:sldId xmlns:r="http://schemas.openxmlformats.org/officeDocument/2006/relationships" id="268" r:id="R6d5883aa559a4803"/>
    <p:sldId xmlns:r="http://schemas.openxmlformats.org/officeDocument/2006/relationships" id="269" r:id="Re6e69090395c4f52"/>
    <p:sldId xmlns:r="http://schemas.openxmlformats.org/officeDocument/2006/relationships" id="270" r:id="Rd310b3a778274bc9"/>
    <p:sldId xmlns:r="http://schemas.openxmlformats.org/officeDocument/2006/relationships" id="271" r:id="R32ce685a636e48ed"/>
    <p:sldId xmlns:r="http://schemas.openxmlformats.org/officeDocument/2006/relationships" id="272" r:id="Rc543e9b764994ae1"/>
    <p:sldId xmlns:r="http://schemas.openxmlformats.org/officeDocument/2006/relationships" id="273" r:id="R07e6a5eecf1c489c"/>
    <p:sldId xmlns:r="http://schemas.openxmlformats.org/officeDocument/2006/relationships" id="274" r:id="Rc23ce8c2da5b4e57"/>
    <p:sldId xmlns:r="http://schemas.openxmlformats.org/officeDocument/2006/relationships" id="275" r:id="R0ff6ae2348884f51"/>
    <p:sldId xmlns:r="http://schemas.openxmlformats.org/officeDocument/2006/relationships" id="276" r:id="Re6538e21f9994c94"/>
    <p:sldId xmlns:r="http://schemas.openxmlformats.org/officeDocument/2006/relationships" id="277" r:id="R3e99cc6e8278414a"/>
    <p:sldId xmlns:r="http://schemas.openxmlformats.org/officeDocument/2006/relationships" id="278" r:id="R0758ba58afb34fd2"/>
    <p:sldId xmlns:r="http://schemas.openxmlformats.org/officeDocument/2006/relationships" id="279" r:id="Rec9ff1c946614005"/>
    <p:sldId xmlns:r="http://schemas.openxmlformats.org/officeDocument/2006/relationships" id="280" r:id="R849f92f6d03e43f3"/>
    <p:sldId xmlns:r="http://schemas.openxmlformats.org/officeDocument/2006/relationships" id="281" r:id="R755b00902dd44794"/>
    <p:sldId xmlns:r="http://schemas.openxmlformats.org/officeDocument/2006/relationships" id="282" r:id="R4ebe53ded542494e"/>
    <p:sldId xmlns:r="http://schemas.openxmlformats.org/officeDocument/2006/relationships" id="283" r:id="R9f430d087fbd4a38"/>
    <p:sldId xmlns:r="http://schemas.openxmlformats.org/officeDocument/2006/relationships" id="284" r:id="Red896db5edd74e81"/>
    <p:sldId xmlns:r="http://schemas.openxmlformats.org/officeDocument/2006/relationships" id="285" r:id="Rfee857b476814896"/>
    <p:sldId xmlns:r="http://schemas.openxmlformats.org/officeDocument/2006/relationships" id="286" r:id="R2692f176a816486a"/>
    <p:sldId xmlns:r="http://schemas.openxmlformats.org/officeDocument/2006/relationships" id="287" r:id="R4288859860a94111"/>
    <p:sldId xmlns:r="http://schemas.openxmlformats.org/officeDocument/2006/relationships" id="288" r:id="Rac2259b70db84545"/>
    <p:sldId xmlns:r="http://schemas.openxmlformats.org/officeDocument/2006/relationships" id="289" r:id="R096cd6e664a24b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1d797eda8049b9" /><Relationship Type="http://schemas.openxmlformats.org/officeDocument/2006/relationships/slideMaster" Target="/ppt/slideMasters/slideMaster1.xml" Id="R666cb4e2af244e42" /><Relationship Type="http://schemas.openxmlformats.org/officeDocument/2006/relationships/notesMaster" Target="/ppt/notesMasters/notesMaster1.xml" Id="R92e9e8af2a194ca0" /><Relationship Type="http://schemas.openxmlformats.org/officeDocument/2006/relationships/presProps" Target="/ppt/presProps.xml" Id="Re92205b04f4848ff" /><Relationship Type="http://schemas.openxmlformats.org/officeDocument/2006/relationships/tableStyles" Target="/ppt/tableStyles.xml" Id="R4f3e2979ccd64413" /><Relationship Type="http://schemas.openxmlformats.org/officeDocument/2006/relationships/slide" Target="/ppt/slides/slide1.xml" Id="R9b0daea4c58e432a" /><Relationship Type="http://schemas.openxmlformats.org/officeDocument/2006/relationships/slide" Target="/ppt/slides/slide2.xml" Id="R62c1e397b12043d7" /><Relationship Type="http://schemas.openxmlformats.org/officeDocument/2006/relationships/slide" Target="/ppt/slides/slide3.xml" Id="R13291b3f39104205" /><Relationship Type="http://schemas.openxmlformats.org/officeDocument/2006/relationships/slide" Target="/ppt/slides/slide4.xml" Id="R35bf73e438844985" /><Relationship Type="http://schemas.openxmlformats.org/officeDocument/2006/relationships/slide" Target="/ppt/slides/slide5.xml" Id="Rc1e2440fb470448b" /><Relationship Type="http://schemas.openxmlformats.org/officeDocument/2006/relationships/slide" Target="/ppt/slides/slide6.xml" Id="R9b7388d5c7b844f4" /><Relationship Type="http://schemas.openxmlformats.org/officeDocument/2006/relationships/slide" Target="/ppt/slides/slide7.xml" Id="Re58b383d96cc43c0" /><Relationship Type="http://schemas.openxmlformats.org/officeDocument/2006/relationships/slide" Target="/ppt/slides/slide8.xml" Id="Rc1f4476e0fb24008" /><Relationship Type="http://schemas.openxmlformats.org/officeDocument/2006/relationships/slide" Target="/ppt/slides/slide9.xml" Id="R6d674dd8d8a04e4d" /><Relationship Type="http://schemas.openxmlformats.org/officeDocument/2006/relationships/slide" Target="/ppt/slides/slide10.xml" Id="R31e6579ab41647d8" /><Relationship Type="http://schemas.openxmlformats.org/officeDocument/2006/relationships/slide" Target="/ppt/slides/slide11.xml" Id="R92f3574496f947f3" /><Relationship Type="http://schemas.openxmlformats.org/officeDocument/2006/relationships/slide" Target="/ppt/slides/slide12.xml" Id="Ra1328e6d13ec4596" /><Relationship Type="http://schemas.openxmlformats.org/officeDocument/2006/relationships/slide" Target="/ppt/slides/slide13.xml" Id="R6d5883aa559a4803" /><Relationship Type="http://schemas.openxmlformats.org/officeDocument/2006/relationships/slide" Target="/ppt/slides/slide14.xml" Id="Re6e69090395c4f52" /><Relationship Type="http://schemas.openxmlformats.org/officeDocument/2006/relationships/slide" Target="/ppt/slides/slide15.xml" Id="Rd310b3a778274bc9" /><Relationship Type="http://schemas.openxmlformats.org/officeDocument/2006/relationships/slide" Target="/ppt/slides/slide16.xml" Id="R32ce685a636e48ed" /><Relationship Type="http://schemas.openxmlformats.org/officeDocument/2006/relationships/slide" Target="/ppt/slides/slide17.xml" Id="Rc543e9b764994ae1" /><Relationship Type="http://schemas.openxmlformats.org/officeDocument/2006/relationships/slide" Target="/ppt/slides/slide18.xml" Id="R07e6a5eecf1c489c" /><Relationship Type="http://schemas.openxmlformats.org/officeDocument/2006/relationships/slide" Target="/ppt/slides/slide19.xml" Id="Rc23ce8c2da5b4e57" /><Relationship Type="http://schemas.openxmlformats.org/officeDocument/2006/relationships/slide" Target="/ppt/slides/slide20.xml" Id="R0ff6ae2348884f51" /><Relationship Type="http://schemas.openxmlformats.org/officeDocument/2006/relationships/slide" Target="/ppt/slides/slide21.xml" Id="Re6538e21f9994c94" /><Relationship Type="http://schemas.openxmlformats.org/officeDocument/2006/relationships/slide" Target="/ppt/slides/slide22.xml" Id="R3e99cc6e8278414a" /><Relationship Type="http://schemas.openxmlformats.org/officeDocument/2006/relationships/slide" Target="/ppt/slides/slide23.xml" Id="R0758ba58afb34fd2" /><Relationship Type="http://schemas.openxmlformats.org/officeDocument/2006/relationships/slide" Target="/ppt/slides/slide24.xml" Id="Rec9ff1c946614005" /><Relationship Type="http://schemas.openxmlformats.org/officeDocument/2006/relationships/slide" Target="/ppt/slides/slide25.xml" Id="R849f92f6d03e43f3" /><Relationship Type="http://schemas.openxmlformats.org/officeDocument/2006/relationships/slide" Target="/ppt/slides/slide26.xml" Id="R755b00902dd44794" /><Relationship Type="http://schemas.openxmlformats.org/officeDocument/2006/relationships/slide" Target="/ppt/slides/slide27.xml" Id="R4ebe53ded542494e" /><Relationship Type="http://schemas.openxmlformats.org/officeDocument/2006/relationships/slide" Target="/ppt/slides/slide28.xml" Id="R9f430d087fbd4a38" /><Relationship Type="http://schemas.openxmlformats.org/officeDocument/2006/relationships/slide" Target="/ppt/slides/slide29.xml" Id="Red896db5edd74e81" /><Relationship Type="http://schemas.openxmlformats.org/officeDocument/2006/relationships/slide" Target="/ppt/slides/slide30.xml" Id="Rfee857b476814896" /><Relationship Type="http://schemas.openxmlformats.org/officeDocument/2006/relationships/slide" Target="/ppt/slides/slide31.xml" Id="R2692f176a816486a" /><Relationship Type="http://schemas.openxmlformats.org/officeDocument/2006/relationships/slide" Target="/ppt/slides/slide32.xml" Id="R4288859860a94111" /><Relationship Type="http://schemas.openxmlformats.org/officeDocument/2006/relationships/slide" Target="/ppt/slides/slide33.xml" Id="Rac2259b70db84545" /><Relationship Type="http://schemas.openxmlformats.org/officeDocument/2006/relationships/slide" Target="/ppt/slides/slide34.xml" Id="R096cd6e664a24b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06345306974e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bb2ea0258e4584" /><Relationship Type="http://schemas.openxmlformats.org/officeDocument/2006/relationships/notesMaster" Target="/ppt/notesMasters/notesMaster1.xml" Id="R9a96c84e8adb46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74e6837d2d4b9b" /><Relationship Type="http://schemas.openxmlformats.org/officeDocument/2006/relationships/notesMaster" Target="/ppt/notesMasters/notesMaster1.xml" Id="R189da32cb1254f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5764984a894646" /><Relationship Type="http://schemas.openxmlformats.org/officeDocument/2006/relationships/notesMaster" Target="/ppt/notesMasters/notesMaster1.xml" Id="Rfd5fb3882faf44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f5c4a3f95342b9" /><Relationship Type="http://schemas.openxmlformats.org/officeDocument/2006/relationships/notesMaster" Target="/ppt/notesMasters/notesMaster1.xml" Id="R0ec634f106494d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3b5f8a9cc64554" /><Relationship Type="http://schemas.openxmlformats.org/officeDocument/2006/relationships/notesMaster" Target="/ppt/notesMasters/notesMaster1.xml" Id="Rc1957aa5a0ff4f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30975cd284405b" /><Relationship Type="http://schemas.openxmlformats.org/officeDocument/2006/relationships/notesMaster" Target="/ppt/notesMasters/notesMaster1.xml" Id="Rb0ca208d42e649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08f6a0eef447d3" /><Relationship Type="http://schemas.openxmlformats.org/officeDocument/2006/relationships/notesMaster" Target="/ppt/notesMasters/notesMaster1.xml" Id="R6c05c81a80fc46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b1048f2b704bd8" /><Relationship Type="http://schemas.openxmlformats.org/officeDocument/2006/relationships/notesMaster" Target="/ppt/notesMasters/notesMaster1.xml" Id="Rb13d0d9a261d44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d6b011c8054337" /><Relationship Type="http://schemas.openxmlformats.org/officeDocument/2006/relationships/notesMaster" Target="/ppt/notesMasters/notesMaster1.xml" Id="R125a4856905b44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1003e549cf40e6" /><Relationship Type="http://schemas.openxmlformats.org/officeDocument/2006/relationships/notesMaster" Target="/ppt/notesMasters/notesMaster1.xml" Id="Rde6d4c9975274e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eea8bf66134deb" /><Relationship Type="http://schemas.openxmlformats.org/officeDocument/2006/relationships/notesMaster" Target="/ppt/notesMasters/notesMaster1.xml" Id="R8ea5319559cd4b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4dada9b15249bc" /><Relationship Type="http://schemas.openxmlformats.org/officeDocument/2006/relationships/notesMaster" Target="/ppt/notesMasters/notesMaster1.xml" Id="R14032c91eb7c45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09591f1b314b87" /><Relationship Type="http://schemas.openxmlformats.org/officeDocument/2006/relationships/notesMaster" Target="/ppt/notesMasters/notesMaster1.xml" Id="R92b0d055e43544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aaa456983e40fa" /><Relationship Type="http://schemas.openxmlformats.org/officeDocument/2006/relationships/notesMaster" Target="/ppt/notesMasters/notesMaster1.xml" Id="R45bce06a018c46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e11b4a6273435f" /><Relationship Type="http://schemas.openxmlformats.org/officeDocument/2006/relationships/notesMaster" Target="/ppt/notesMasters/notesMaster1.xml" Id="R505f692193af4f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032ad9076ed41c3" /><Relationship Type="http://schemas.openxmlformats.org/officeDocument/2006/relationships/notesMaster" Target="/ppt/notesMasters/notesMaster1.xml" Id="Re05666526b404c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1c95d1cbe244ce" /><Relationship Type="http://schemas.openxmlformats.org/officeDocument/2006/relationships/notesMaster" Target="/ppt/notesMasters/notesMaster1.xml" Id="Rff15e33ce80c49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cac0bdc7274f2c" /><Relationship Type="http://schemas.openxmlformats.org/officeDocument/2006/relationships/notesMaster" Target="/ppt/notesMasters/notesMaster1.xml" Id="R58c06951fdfc47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39cfda9a2d4a22" /><Relationship Type="http://schemas.openxmlformats.org/officeDocument/2006/relationships/notesMaster" Target="/ppt/notesMasters/notesMaster1.xml" Id="Rd578d8b236cb48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c95523a40e49b9" /><Relationship Type="http://schemas.openxmlformats.org/officeDocument/2006/relationships/notesMaster" Target="/ppt/notesMasters/notesMaster1.xml" Id="Rb9246872c0e845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c6ae747c44427e" /><Relationship Type="http://schemas.openxmlformats.org/officeDocument/2006/relationships/notesMaster" Target="/ppt/notesMasters/notesMaster1.xml" Id="R33a2b6a04ecb48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bc5dea8e8e4809" /><Relationship Type="http://schemas.openxmlformats.org/officeDocument/2006/relationships/notesMaster" Target="/ppt/notesMasters/notesMaster1.xml" Id="R952d0e9efdb34c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1fefeeec954b53" /><Relationship Type="http://schemas.openxmlformats.org/officeDocument/2006/relationships/notesMaster" Target="/ppt/notesMasters/notesMaster1.xml" Id="Ra4c0616056954c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a3433cb1594ab7" /><Relationship Type="http://schemas.openxmlformats.org/officeDocument/2006/relationships/notesMaster" Target="/ppt/notesMasters/notesMaster1.xml" Id="R2bbe35c42d9549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4d346a5b03c4104" /><Relationship Type="http://schemas.openxmlformats.org/officeDocument/2006/relationships/notesMaster" Target="/ppt/notesMasters/notesMaster1.xml" Id="Rb04ded0ecc7041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b4258f2e88433e" /><Relationship Type="http://schemas.openxmlformats.org/officeDocument/2006/relationships/notesMaster" Target="/ppt/notesMasters/notesMaster1.xml" Id="R76fc66152b6342e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6cfa0a519f4681" /><Relationship Type="http://schemas.openxmlformats.org/officeDocument/2006/relationships/notesMaster" Target="/ppt/notesMasters/notesMaster1.xml" Id="Rb0c510848a0f47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ee2c78d7d5e4fb7" /><Relationship Type="http://schemas.openxmlformats.org/officeDocument/2006/relationships/notesMaster" Target="/ppt/notesMasters/notesMaster1.xml" Id="R54d4e1b993544e8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27c701e0da44c9f" /><Relationship Type="http://schemas.openxmlformats.org/officeDocument/2006/relationships/notesMaster" Target="/ppt/notesMasters/notesMaster1.xml" Id="R85691f79c1b14fa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8a8c68216346b2" /><Relationship Type="http://schemas.openxmlformats.org/officeDocument/2006/relationships/notesMaster" Target="/ppt/notesMasters/notesMaster1.xml" Id="R211eaf23cb9149f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fb178b3b16b4b72" /><Relationship Type="http://schemas.openxmlformats.org/officeDocument/2006/relationships/notesMaster" Target="/ppt/notesMasters/notesMaster1.xml" Id="Rde5fd966069248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2e855c88684e00" /><Relationship Type="http://schemas.openxmlformats.org/officeDocument/2006/relationships/notesMaster" Target="/ppt/notesMasters/notesMaster1.xml" Id="Rb7316636d71245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e9c1a336b994a71" /><Relationship Type="http://schemas.openxmlformats.org/officeDocument/2006/relationships/notesMaster" Target="/ppt/notesMasters/notesMaster1.xml" Id="R2c2bb565ffea48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440e4ab1764430" /><Relationship Type="http://schemas.openxmlformats.org/officeDocument/2006/relationships/notesMaster" Target="/ppt/notesMasters/notesMaster1.xml" Id="Reb17fc04a12042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Welcome learners in Microsoft Teams. Trainer: TCS Assets Consultant (C3A), SME. The Product Catalog uses fictional INR values.</a:t>
            </a:r>
          </a:p>
          <a:p xmlns:a="http://schemas.openxmlformats.org/drawingml/2006/main">
            <a:r>
              <a:t>Source: https://angular.dev/guide/components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Fictional four-product dataset matches React Day3. Notebook and Bag are in stock. One entry per product keeps the cart small.</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Reference slides compare ngModel, model inputs, computed/effect and change detection.</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Angular signals are getter functions. Read with () and write with set/update. Do not call React Hooks here.</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Parentheses around click denote an Angular event binding. The method call is evaluated when that event fires.</a:t>
            </a:r>
          </a:p>
          <a:p xmlns:a="http://schemas.openxmlformats.org/drawingml/2006/main">
            <a:r>
              <a:t>Source: https://angular.dev/guide/templates/event-listeners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React onClick={handler()} would call during render; Angular event bindings evaluate the expression at event time. Template interpolation calls run during checking, so avoid side effects there.</a:t>
            </a:r>
          </a:p>
          <a:p xmlns:a="http://schemas.openxmlformats.org/drawingml/2006/main">
            <a:r>
              <a:t>Source: https://angular.dev/guide/templates/event-listeners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Compare browser $event objects with custom output payloads. output&lt;Product&gt;() types this event. There is no JSX arrow callback required in the template.</a:t>
            </a:r>
          </a:p>
          <a:p xmlns:a="http://schemas.openxmlformats.org/drawingml/2006/main">
            <a:r>
              <a:t>Source: https://angular.dev/guide/components/outputs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Angular22 is zoneless by default. Some bound-event updates of plain fields can still trigger checking, so do not copy the React claim that a local field never updates UI. Signals make reactivity explicit.</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Unlike useState, signal does not return a [value,setter] tuple. Class readonly refers to the signal binding, not prohibition on calling set.</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Signals are not React Hooks and do not require a stable call order across renders. inject is constrained by injection context. input/output are compiler-recognized field initializers.</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covers the React render-snapshot topic without falsely saying signal.set waits for the next render to change signal(). Day5 captures a submitted cart snapshot intentionally.</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Signal update is synchronous rather than a React pending-state update queue. Avoid requests in this calculation. The real handler includes stock and duplicate checks.</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actual FilterBar receives search as an input and emits searchChange; this direct-binding example first teaches the pieces. Visible labels are included in the app.</a:t>
            </a:r>
          </a:p>
          <a:p xmlns:a="http://schemas.openxmlformats.org/drawingml/2006/main">
            <a:r>
              <a:t>Source: https://angular.dev/guide/templates/binding</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actual list also includes Stationery. Use the element reference rather than an unsafe any cast of event.target.</a:t>
            </a:r>
          </a:p>
          <a:p xmlns:a="http://schemas.openxmlformats.org/drawingml/2006/main">
            <a:r>
              <a:t>Source: https://angular.dev/guide/templates/event-listeners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Text input value is a string; checkbox checked is a boolean. The child component emits output&lt;boolean&gt; to its parent.</a:t>
            </a:r>
          </a:p>
          <a:p xmlns:a="http://schemas.openxmlformats.org/drawingml/2006/main">
            <a:r>
              <a:t>Source: https://angular.dev/guide/templates/binding</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actual App computes normalized text once per computed evaluation. Do not store visibleProducts as another writable signal. computed is memoized and tracks reads dynamically.</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matches lifting shared state. DI services become an option later; App remains the simple cart owner.</a:t>
            </a:r>
          </a:p>
          <a:p xmlns:a="http://schemas.openxmlformats.org/drawingml/2006/main">
            <a:r>
              <a:t>Source: https://angular.dev/guide/components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Angular custom outputs do not automatically bubble through the DOM. ProductList explicitly forwards the ProductCard add event. Use separate meaningful names.</a:t>
            </a:r>
          </a:p>
          <a:p xmlns:a="http://schemas.openxmlformats.org/drawingml/2006/main">
            <a:r>
              <a:t>Source: https://angular.dev/guide/components/outputs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Out-of-stock buttons are disabled; App also guards stock. Duplicate Add becomes disabled as isInCart flows back into the card.</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Avoid splice. The original array still contains the earlier items. CartPanel emits output&lt;string&gt;.</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This total covers selected fictional unit prices only. No quantity, tax or payment feature is implied.</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NgForm handles the default navigation for this form. A raw (submit) handler without FormsModule would call event.preventDefault explicitly. Input name registers the template-driven control.</a:t>
            </a:r>
          </a:p>
          <a:p xmlns:a="http://schemas.openxmlformats.org/drawingml/2006/main">
            <a:r>
              <a:t>Source: https://angular.dev/guide/forms/template-driven-forms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Describe the action boundary. Form note is separate local state. No persistence is added.</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Show the actual Day 3 Angular screenshot: four products, two in stock and two out of stock. Add Notebook and Bag to the cart for two items and ₹580. Products still come from the static array today. JSON loading starts on Day 4.</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Open App, FilterBar, ProductCard, ProductList and CartPanel. Ask learners to locate both the emitter and listener for a search or add event. Run npm run check:day-three to predict array-filter and total results.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Demo steps: search "  NOTE  " and expect Notebook. Choose Accessories while the search remains and expect no matches. Clear search, check In stock only and expect Bag. Reset, add Notebook plus Bag (₹580), remove Notebook (₹500), then clear (₹0). Search and filter reset preserve cart items. Enter submits the note without navigation.</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 minute(s).</a:t>
            </a:r>
          </a:p>
          <a:p xmlns:a="http://schemas.openxmlformats.org/drawingml/2006/main">
            <a:r>
              <a:t>Learner task: add showCategory = signal(true) to App and a labelled checkbox with [checked] and a change handler reading its checked property. Pass showCategory() to ProductList, which already forwards it. Prices and cart actions must continue to work when categories are hidden. The starter intentionally leaves this task for learners.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Use compiler and browser messages to locate the component. A [value] binding without a state update can look frozen. Angular click expressions call methods at event time, unlike React handler-prop syntax.</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Answers: 1 After the click. 2 Call the signal getter with (). 3 checked. 4 Avoid mutating the old array and supply a new value to reactive consumers. 5 App, the nearest shared parent. For the form, FormsModule and ngSubmit handle the default browser navigation.</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Homework: store maximum-price text in a signal. Blank means no limit. Validate it before converting with Number, then include the comparison in computed visibleProducts. At ₹100, Notebook and Pen match before the stock filter. Keep cartTotal in computed rather than copying it through an effect.</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Angular supports writable signals in two-way bindings. The starter spells out [ngModel] plus (ngModelChange) to keep the flow visible. Avoid combining ngModel and reactive form directives on one control.</a:t>
            </a:r>
          </a:p>
          <a:p xmlns:a="http://schemas.openxmlformats.org/drawingml/2006/main">
            <a:r>
              <a:t>Source: https://angular.dev/guide/forms/template-driven-forms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Example requires model imported and a matching component. This project intentionally uses input/output pairs for clarity. Outputs do not DOM-bubble.</a:t>
            </a:r>
          </a:p>
          <a:p xmlns:a="http://schemas.openxmlformats.org/drawingml/2006/main">
            <a:r>
              <a:t>Source: https://angular.dev/guide/components/inputs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Angular effect is not React useEffect and has no explicit dependency array. Its dependency tracking and execution model differ. The HTTP lesson uses lifecycle and subscriptions instead.</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Recognize older Zone.js applications and OnPush strategy. This reference explains why a plain-field update in a bound event can still render, while signal state is the consistent pattern used here.</a:t>
            </a:r>
          </a:p>
          <a:p xmlns:a="http://schemas.openxmlformats.org/drawingml/2006/main">
            <a:r>
              <a:t>Source: https://angular.dev/guide/signals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3ab391291f48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9519801f5643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d6d051df164f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5ac379561d44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2cda2511d243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a3318a979244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f4dce4dd1e4e71" /><Relationship Type="http://schemas.openxmlformats.org/officeDocument/2006/relationships/slideLayout" Target="/ppt/slideLayouts/slideLayout1.xml" Id="Raaf14c0a9302484e" /><Relationship Type="http://schemas.openxmlformats.org/officeDocument/2006/relationships/slideLayout" Target="/ppt/slideLayouts/slideLayout2.xml" Id="R7c9c9c2bc2454183" /><Relationship Type="http://schemas.openxmlformats.org/officeDocument/2006/relationships/slideLayout" Target="/ppt/slideLayouts/slideLayout3.xml" Id="R65c9d900c7fb4cb1" /><Relationship Type="http://schemas.openxmlformats.org/officeDocument/2006/relationships/slideLayout" Target="/ppt/slideLayouts/slideLayout4.xml" Id="Rd7b769a866d1417b" /><Relationship Type="http://schemas.openxmlformats.org/officeDocument/2006/relationships/slideLayout" Target="/ppt/slideLayouts/slideLayout5.xml" Id="R989cd88d0fa44e4d" /><Relationship Type="http://schemas.openxmlformats.org/officeDocument/2006/relationships/slideLayout" Target="/ppt/slideLayouts/slideLayout6.xml" Id="R29ac1fb365fc47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f14c0a9302484e"/>
    <p:sldLayoutId xmlns:r="http://schemas.openxmlformats.org/officeDocument/2006/relationships" id="2147483650" r:id="R7c9c9c2bc2454183"/>
    <p:sldLayoutId xmlns:r="http://schemas.openxmlformats.org/officeDocument/2006/relationships" id="2147483651" r:id="R65c9d900c7fb4cb1"/>
    <p:sldLayoutId xmlns:r="http://schemas.openxmlformats.org/officeDocument/2006/relationships" id="2147483652" r:id="Rd7b769a866d1417b"/>
    <p:sldLayoutId xmlns:r="http://schemas.openxmlformats.org/officeDocument/2006/relationships" id="2147483653" r:id="R989cd88d0fa44e4d"/>
    <p:sldLayoutId xmlns:r="http://schemas.openxmlformats.org/officeDocument/2006/relationships" id="2147483654" r:id="R29ac1fb365fc47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a034a8e848475d" /><Relationship Type="http://schemas.openxmlformats.org/officeDocument/2006/relationships/image" Target="/ppt/media/image.png" Id="Rf7a062123a784fa4" /><Relationship Type="http://schemas.openxmlformats.org/officeDocument/2006/relationships/notesSlide" Target="/ppt/notesSlides/notesSlide1.xml" Id="R3bccc9f293334e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0364dfc51c4d45" /><Relationship Type="http://schemas.openxmlformats.org/officeDocument/2006/relationships/notesSlide" Target="/ppt/notesSlides/notesSlide2.xml" Id="R27d05750c74e47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4b9ab524ee451e" /><Relationship Type="http://schemas.openxmlformats.org/officeDocument/2006/relationships/notesSlide" Target="/ppt/notesSlides/notesSlide3.xml" Id="R92b59e17a28143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bd89349ea74e66" /><Relationship Type="http://schemas.openxmlformats.org/officeDocument/2006/relationships/notesSlide" Target="/ppt/notesSlides/notesSlide4.xml" Id="R45c2eed79bda4f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26b24e9bdb4229" /><Relationship Type="http://schemas.openxmlformats.org/officeDocument/2006/relationships/notesSlide" Target="/ppt/notesSlides/notesSlide5.xml" Id="Rbecfa4c2d49c4d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11029a46d643ba" /><Relationship Type="http://schemas.openxmlformats.org/officeDocument/2006/relationships/notesSlide" Target="/ppt/notesSlides/notesSlide6.xml" Id="R74eb3d6371ca4d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f774d96e5d48d7" /><Relationship Type="http://schemas.openxmlformats.org/officeDocument/2006/relationships/notesSlide" Target="/ppt/notesSlides/notesSlide7.xml" Id="R751e2823309645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eb82173a1f4941" /><Relationship Type="http://schemas.openxmlformats.org/officeDocument/2006/relationships/notesSlide" Target="/ppt/notesSlides/notesSlide8.xml" Id="R88dd25d27b5c49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39f6e24988b47b3" /><Relationship Type="http://schemas.openxmlformats.org/officeDocument/2006/relationships/notesSlide" Target="/ppt/notesSlides/notesSlide9.xml" Id="R9770cb446a4644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b9d37ec4a04374" /><Relationship Type="http://schemas.openxmlformats.org/officeDocument/2006/relationships/notesSlide" Target="/ppt/notesSlides/notesSlide10.xml" Id="R4b934ca449df4c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a929179eff48d9" /><Relationship Type="http://schemas.openxmlformats.org/officeDocument/2006/relationships/notesSlide" Target="/ppt/notesSlides/notesSlide11.xml" Id="Rb5646536eb024e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c465336b4244ff" /><Relationship Type="http://schemas.openxmlformats.org/officeDocument/2006/relationships/notesSlide" Target="/ppt/notesSlides/notesSlide12.xml" Id="R84f6f51c54ec45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af2586f83dd4ed8" /><Relationship Type="http://schemas.openxmlformats.org/officeDocument/2006/relationships/notesSlide" Target="/ppt/notesSlides/notesSlide13.xml" Id="R5feb4988a3784b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4076f3cc3b44de3" /><Relationship Type="http://schemas.openxmlformats.org/officeDocument/2006/relationships/notesSlide" Target="/ppt/notesSlides/notesSlide14.xml" Id="R63c56c27bcf944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4357038a1c4c92" /><Relationship Type="http://schemas.openxmlformats.org/officeDocument/2006/relationships/notesSlide" Target="/ppt/notesSlides/notesSlide15.xml" Id="R7ad5e3e5993d40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93e425dc9704ce3" /><Relationship Type="http://schemas.openxmlformats.org/officeDocument/2006/relationships/notesSlide" Target="/ppt/notesSlides/notesSlide16.xml" Id="Rd8ba65c734ed4b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bc449c95bfd4b96" /><Relationship Type="http://schemas.openxmlformats.org/officeDocument/2006/relationships/notesSlide" Target="/ppt/notesSlides/notesSlide17.xml" Id="R2e51d9072f404d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b71679cb8a4b84" /><Relationship Type="http://schemas.openxmlformats.org/officeDocument/2006/relationships/notesSlide" Target="/ppt/notesSlides/notesSlide18.xml" Id="R19db51fc23d444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33d0ae44ee04322" /><Relationship Type="http://schemas.openxmlformats.org/officeDocument/2006/relationships/notesSlide" Target="/ppt/notesSlides/notesSlide19.xml" Id="R361bae16ee9f40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28c049088fd4c4b" /><Relationship Type="http://schemas.openxmlformats.org/officeDocument/2006/relationships/notesSlide" Target="/ppt/notesSlides/notesSlide20.xml" Id="Re49f70b1422d4a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784b34a0aa4f66" /><Relationship Type="http://schemas.openxmlformats.org/officeDocument/2006/relationships/notesSlide" Target="/ppt/notesSlides/notesSlide21.xml" Id="R0c09e220b95340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0eb6636ddb54749" /><Relationship Type="http://schemas.openxmlformats.org/officeDocument/2006/relationships/notesSlide" Target="/ppt/notesSlides/notesSlide22.xml" Id="Rebddb0e8ec0947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6999110704c4593" /><Relationship Type="http://schemas.openxmlformats.org/officeDocument/2006/relationships/notesSlide" Target="/ppt/notesSlides/notesSlide23.xml" Id="Rdef9a025b23d49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9ba7477f2ae4a7d" /><Relationship Type="http://schemas.openxmlformats.org/officeDocument/2006/relationships/image" Target="/ppt/media/image2.png" Id="R66fa798e49ec4565" /><Relationship Type="http://schemas.openxmlformats.org/officeDocument/2006/relationships/notesSlide" Target="/ppt/notesSlides/notesSlide24.xml" Id="Rd038c7f07ce74f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341176a761e402d" /><Relationship Type="http://schemas.openxmlformats.org/officeDocument/2006/relationships/notesSlide" Target="/ppt/notesSlides/notesSlide25.xml" Id="R65797935f7fe4f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408eeab09a8446c" /><Relationship Type="http://schemas.openxmlformats.org/officeDocument/2006/relationships/notesSlide" Target="/ppt/notesSlides/notesSlide26.xml" Id="Rc87f06862e4d4a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2a55d840af34d48" /><Relationship Type="http://schemas.openxmlformats.org/officeDocument/2006/relationships/notesSlide" Target="/ppt/notesSlides/notesSlide27.xml" Id="R4f21df033fa34ac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da43adc6b6c46f8" /><Relationship Type="http://schemas.openxmlformats.org/officeDocument/2006/relationships/notesSlide" Target="/ppt/notesSlides/notesSlide28.xml" Id="R39fc523a135a40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028ca44f1774a4c" /><Relationship Type="http://schemas.openxmlformats.org/officeDocument/2006/relationships/notesSlide" Target="/ppt/notesSlides/notesSlide29.xml" Id="Rfe755e388bcb49e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76b7022080c4474" /><Relationship Type="http://schemas.openxmlformats.org/officeDocument/2006/relationships/notesSlide" Target="/ppt/notesSlides/notesSlide30.xml" Id="R9e1e2d667d254f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968035ad8b7425d" /><Relationship Type="http://schemas.openxmlformats.org/officeDocument/2006/relationships/notesSlide" Target="/ppt/notesSlides/notesSlide31.xml" Id="R6447768f96e7477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451c72d048b4efd" /><Relationship Type="http://schemas.openxmlformats.org/officeDocument/2006/relationships/notesSlide" Target="/ppt/notesSlides/notesSlide32.xml" Id="Re9975fe86ca0423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fc3d3a7a9544a74" /><Relationship Type="http://schemas.openxmlformats.org/officeDocument/2006/relationships/notesSlide" Target="/ppt/notesSlides/notesSlide33.xml" Id="Rcc5f32201551433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33c14558b9c4fac" /><Relationship Type="http://schemas.openxmlformats.org/officeDocument/2006/relationships/notesSlide" Target="/ppt/notesSlides/notesSlide34.xml" Id="R9074d0d6105d44e3"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Angular · Day Three</a:t>
            </a:r>
          </a:p>
        </p:txBody>
      </p:sp>
      <p:pic>
        <p:nvPicPr>
          <p:cNvPr id="3" name="">
            <a:extLst xmlns:a="http://schemas.openxmlformats.org/drawingml/2006/main">
              <a:ext uri="{FF2B5EF4-FFF2-40B4-BE49-F238E27FC236}">
                <a16:creationId xmlns:a16="http://schemas.microsoft.com/office/drawing/2014/main" id="{E080F75A-0F52-4901-99E9-18D1A55FE41D}"/>
              </a:ext>
            </a:extLst>
          </p:cNvPr>
          <p:cNvPicPr>
            <a:picLocks xmlns:a="http://schemas.openxmlformats.org/drawingml/2006/main" noChangeAspect="1"/>
          </p:cNvPicPr>
          <p:nvPr/>
        </p:nvPicPr>
        <p:blipFill>
          <a:blip xmlns:r="http://schemas.openxmlformats.org/officeDocument/2006/relationships" xmlns:a="http://schemas.openxmlformats.org/drawingml/2006/main" r:embed="Rf7a062123a784fa4"/>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Signals, browser events, filters and a cart</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14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outcomes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Handle browser and component events.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Store changing values in signals.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Compute search, filters and cart totals.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Read and submit a local form.</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3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Event handlers and writable signals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Reads, set, update and computed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Controlled inputs and output events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Immutable cart arrays and totals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Forms, practice, quiz and homework</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2 inputs become interactive</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Source configuration becomes user-controlled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checkbox changes the stock filter.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children still receive inputs.</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54250F28-624D-4AB6-BC34-18FBF752293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onlyInStock = signal(false);</a:t>
            </a:r>
          </a:p>
          <a:p xmlns:a="http://schemas.openxmlformats.org/drawingml/2006/main">
            <a:r>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[onlyInStock]="onlyInStock()"</a:t>
            </a:r>
          </a:p>
        </p:txBody>
      </p:sp>
      <p:sp>
        <p:nvSpPr>
          <p:cNvPr id="9" name="">
            <a:extLst xmlns:a="http://schemas.openxmlformats.org/drawingml/2006/main">
              <a:ext uri="{FF2B5EF4-FFF2-40B4-BE49-F238E27FC236}">
                <a16:creationId xmlns:a16="http://schemas.microsoft.com/office/drawing/2014/main" id="{B0CE4189-28E8-4676-9F86-3F1062DDE09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user can change the current filter</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Event handlers</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event binding calls a method after an action.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method changes the owned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semantic controls such as buttons.</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A706FE90-2863-4C17-AC11-017BA486E00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&lt;button type="button"</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  (click)="resetFilters()"&gt;Reset filters&lt;/button&gt;</a:t>
            </a:r>
          </a:p>
          <a:p xmlns:a="http://schemas.openxmlformats.org/drawingml/2006/main">
            <a:r>
              <a:t/>
            </a:r>
          </a:p>
          <a:p xmlns:a="http://schemas.openxmlformats.org/drawingml/2006/main">
            <a:pPr algn="l">
              <a:defRPr sz="1575" b="0">
                <a:solidFill>
                  <a:srgbClr val="087B80"/>
                </a:solidFill>
                <a:latin typeface="Consolas"/>
                <a:ea typeface="Consolas"/>
                <a:cs typeface="Consolas"/>
              </a:defRPr>
            </a:pPr>
            <a:r>
              <a:rPr sz="1575" b="0">
                <a:solidFill>
                  <a:srgbClr val="087B80"/>
                </a:solidFill>
                <a:latin typeface="Consolas"/>
                <a:ea typeface="Consolas"/>
                <a:cs typeface="Consolas"/>
              </a:rPr>
              <a:t>resetFilters() { this.search.set(""); }</a:t>
            </a:r>
          </a:p>
        </p:txBody>
      </p:sp>
      <p:sp>
        <p:nvSpPr>
          <p:cNvPr id="9" name="">
            <a:extLst xmlns:a="http://schemas.openxmlformats.org/drawingml/2006/main">
              <a:ext uri="{FF2B5EF4-FFF2-40B4-BE49-F238E27FC236}">
                <a16:creationId xmlns:a16="http://schemas.microsoft.com/office/drawing/2014/main" id="{E5849B56-9D81-414A-BB58-34045644C15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A click clears the current search</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When an Angular handler runs</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(click)="resetFilters()" runs on a click.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bare method reference does not invoke it.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This syntax differs from React onClick.</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Angular event expression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(click)="resetFilters()"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 only reads a function reference: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(click)="resetFilters"</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Keep the method call inside the event binding</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handler with an argument</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child emits the clicked product.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reads the emitted value as $event.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updates the cart.</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ProductCard button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(click)="add.emit(product())"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Parent listens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(add)="addToCart($event)"</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emitted object identifies the selected product</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changing value needs reactive state</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signal notifies its consumers on writes.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plain variable has no signal notification.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This app uses zoneless Angular with signals.</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search = signal("");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this.search.set("Notebook");</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Consumers read the new signal value</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signal reads and writes</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signal supplies a getter with write methods.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search() to read.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search.set(value) to replace.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update to derive from the current value.</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search = signal("");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this.search.set("Notebook");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console.log(this.search());</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Console output: Notebook</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Placement rules for signals and inject</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Declare component state in class fields.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inject in a supported injection context.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Input/output initializers have compiler rules.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Handlers use the declared state.</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export class AppComponent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readonly cart = signal&lt;readonly Product[]&gt;([]);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clearCart() { this.cart.set([]);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Angular has no React Hook-order rule</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Current values and captured snapshots</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Signal writes update the stored value immediately.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previously read variable keeps its old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Angular later refreshes dependent views.</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oldSearch = this.search();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this.search.set("Notebook");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console.log(oldSearch); // old text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console.log(this.search()); // Notebook</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captured variable and a fresh read differ</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An update from the previous value</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update receives the current signal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Return the next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computations free of unrelated side effects.</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this.cart.update(items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...items,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new array becomes the stored cart</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Controlled search input</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input reads the current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template reference exposes the HTML input.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input event sends its current text.</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&lt;input #searchBox [value]="search()"</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(input)="search.set(searchBox.value)" /&gt;</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Typing NOTE updates the search signal</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Category selection</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selected string comes from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Each option supplies a matching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change event sends the new selection.</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&lt;select #categoryBox [value]="category()"</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(change)="category.set(categoryBox.value)"&gt;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&lt;option value="All"&gt;All&lt;/option&gt;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&lt;option value="Accessories"&gt;Accessories&lt;/option&gt;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&lt;/select&gt;</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Accessories selects Bag and Bottle</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checkbox stores a boolean</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checked supplies the yes/no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Read the checkbox’s checked property.</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a boolean signal for the stock condition.</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&lt;input #stockBox type="checkbox"</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[checked]="onlyInStock()"</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(change)="onlyInStock.set(stockBox.checked)" /&gt;</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Checking keeps Notebook and Bag</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Visible products are computed data</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Normalize search 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Combine name, category and stock conditions.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computed reads its signal dependencies.</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readonly visibleProducts = computed(() =&gt;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this.products().filter(p =&gt;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p.name.toLowerCase().includes(</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this.search().trim().toLowerCase()) &amp;&amp;</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(this.category() === "All"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p.category === this.category()) &amp;&amp;</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(!this.onlyInStock() || p.inStock))</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Accessories + In stock only gives Bag</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State shared by several children</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App owns filters and the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FilterBar requests changes with outputs.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ProductList and CartPanel read the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PracticeNote owns separate local state.</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App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FilterBar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ProductList / ProductCard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CartPanel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PracticeNote</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nearest shared owner coordinates siblings</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Outputs request a parent update</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Inputs carry values down.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Outputs carry typed events 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parent changes the state it owns.</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readonly searchChange = output&lt;string&gt;();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Child input event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(input)="searchChange.emit(searchBox.value)"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Parent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(searchChange)="search.set($event)"</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One browser action reaches the parent signal</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Adding a product to the cart</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the current array unchanged.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Return a new array with spread.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Guard stock and duplicate selections.</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(!product.inStock) return;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this.cart.update(items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items.some(p =&gt; p.id === product.id)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items : [...items,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Notebook creates one cart entry at ₹80</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Removing a product from the cart</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child emits the stable product ID.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filter retains the other products.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returned array becomes current state.</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1F7257B6-1C3A-4849-977F-8726029FEC1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removeFromCart(id: string)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this.cart.update(items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items.filter(p =&gt; p.id !== id)</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B1013DE1-1F1D-41F1-A022-FB753A90037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Removing Notebook leaves Bag at ₹500</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total comes from the cart</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reduce adds prices from zero.</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computed follows changes to the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empty cart has a zero total.</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cartTotal = computed(()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this.cart().reduce((sum, p)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sum + p.price,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Notebook + Bag costs ₹580</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Form submission and ngModel</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FormsModule enables the local note form.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ngModel binds its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ngSubmit calls one method for click or Enter.</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
        <p:nvSpPr>
          <p:cNvPr id="8" name="">
            <a:extLst xmlns:a="http://schemas.openxmlformats.org/drawingml/2006/main">
              <a:ext uri="{FF2B5EF4-FFF2-40B4-BE49-F238E27FC236}">
                <a16:creationId xmlns:a16="http://schemas.microsoft.com/office/drawing/2014/main" id="{AC532E55-9306-4AFB-B648-9AB1B9BDF31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&lt;form (ngSubmit)="save()"&gt;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&lt;input name="note" [ngModel]="note()"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(ngModelChange)="note.set($event)"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&lt;button type="submit"&gt;Save note&lt;/button&gt;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&lt;/form&gt;</a:t>
            </a:r>
          </a:p>
        </p:txBody>
      </p:sp>
      <p:sp>
        <p:nvSpPr>
          <p:cNvPr id="9" name="">
            <a:extLst xmlns:a="http://schemas.openxmlformats.org/drawingml/2006/main">
              <a:ext uri="{FF2B5EF4-FFF2-40B4-BE49-F238E27FC236}">
                <a16:creationId xmlns:a16="http://schemas.microsoft.com/office/drawing/2014/main" id="{C3733355-039C-4B7F-B460-735054D83576}"/>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Gift wrap please appears as the saved note</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Resetting selected state</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Reset filters sets their initial values.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Clear cart replaces only the cart.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Page reload recreates all local state.</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resetFilters()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this.search.set("");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this.category.set("All");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this.onlyInStock.set(false);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clearCart() { this.cart.set([]); }</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Reset filters preserves the cart</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interactive Product Catalog</a:t>
            </a:r>
          </a:p>
        </p:txBody>
      </p:sp>
      <p:pic>
        <p:nvPicPr>
          <p:cNvPr id="3" name="">
            <a:extLst xmlns:a="http://schemas.openxmlformats.org/drawingml/2006/main">
              <a:ext uri="{FF2B5EF4-FFF2-40B4-BE49-F238E27FC236}">
                <a16:creationId xmlns:a16="http://schemas.microsoft.com/office/drawing/2014/main" id="{A44C2DD9-7657-4458-A60F-37D614DAC3C8}"/>
              </a:ext>
            </a:extLst>
          </p:cNvPr>
          <p:cNvPicPr>
            <a:picLocks xmlns:a="http://schemas.openxmlformats.org/drawingml/2006/main" noChangeAspect="1"/>
          </p:cNvPicPr>
          <p:nvPr/>
        </p:nvPicPr>
        <p:blipFill>
          <a:blip xmlns:r="http://schemas.openxmlformats.org/officeDocument/2006/relationships" xmlns:a="http://schemas.openxmlformats.org/drawingml/2006/main" r:embed="R66fa798e49ec4565"/>
          <a:srcRect xmlns:a="http://schemas.openxmlformats.org/drawingml/2006/main" l="0" t="0" r="0" b="0"/>
          <a:stretch xmlns:a="http://schemas.openxmlformats.org/drawingml/2006/main"/>
        </p:blipFill>
        <p:spPr>
          <a:xfrm xmlns:a="http://schemas.openxmlformats.org/drawingml/2006/main">
            <a:off x="5429250" y="3313891"/>
            <a:ext cx="6191250" cy="161134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Four loaded sample objects render cards.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Search and filters change visible products.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cart shows selections and total.</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note form handles a local submission.</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files behind one click</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App declares state and handlers.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FilterBar emits input changes.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ProductCard emits a selected product.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CartPanel emits remove and clear events.</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Search, filter and cart experiments</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Type NOTE and observe Notebook.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Select Accessories + In stock only.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then add Notebook and Bag.</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Remove Notebook, clear cart and save a note.</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YOUR TURN</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category visibility checkbox</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Create showCategory = signal(true).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Bind a labelled checkbox.</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Pass the signal value into ProductList.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Prices stay visible in both states.</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
        <p:nvSpPr>
          <p:cNvPr id="8" name="">
            <a:extLst xmlns:a="http://schemas.openxmlformats.org/drawingml/2006/main">
              <a:ext uri="{FF2B5EF4-FFF2-40B4-BE49-F238E27FC236}">
                <a16:creationId xmlns:a16="http://schemas.microsoft.com/office/drawing/2014/main" id="{DAA35C2D-7130-444E-B30E-CBA524B935E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showCategory = signal(true);</a:t>
            </a:r>
          </a:p>
          <a:p xmlns:a="http://schemas.openxmlformats.org/drawingml/2006/main">
            <a:r>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&lt;app-product-list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[products]="visibleProducts()"</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[cart]="cart()"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[showCategory]="showCategory()"</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(add)="addToCart($event)" /&gt;</a:t>
            </a:r>
          </a:p>
        </p:txBody>
      </p:sp>
      <p:sp>
        <p:nvSpPr>
          <p:cNvPr id="9" name="">
            <a:extLst xmlns:a="http://schemas.openxmlformats.org/drawingml/2006/main">
              <a:ext uri="{FF2B5EF4-FFF2-40B4-BE49-F238E27FC236}">
                <a16:creationId xmlns:a16="http://schemas.microsoft.com/office/drawing/2014/main" id="{E94ECCE7-43A1-44BA-A25F-DA64C48139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Unchecking hides category paragraphs</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DEBUGGING</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Day 3 mistakes</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Missing () when reading a signal.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Mutating an array with push or splice.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Reading checkbox value instead of checked.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Using ngModel without FormsModule or name.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Omitting emit or a parent output listener.</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QUIZ</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3 knowledge check</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When does a (click) method call run?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How do you read a signal?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Which checkbox property is boolean?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Why return a new cart array?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Who owns shared cart state?</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TRY AT HOME</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Recap and try at home</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Events call methods or emit outputs.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Signals hold changing values.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computed derives filters and totals.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a maximum-price filter.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Next: HTTP requests and request states.</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Tree>
    <p:extLst>
      <p:ext uri="{BB962C8B-B14F-4D97-AF65-F5344CB8AC3E}">
        <p14:creationId xmlns:p14="http://schemas.microsoft.com/office/powerpoint/2010/main" val="837956085"/>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Two-way binding with ngModel</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[(ngModel)] combines read and update.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FormsModule supplies the directives.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form control needs a name.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AFF79A1D-35FC-43F8-A8F0-3B1A014497F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&lt;input name="note" [(ngModel)]="note" /&gt;</a:t>
            </a:r>
          </a:p>
        </p:txBody>
      </p:sp>
      <p:sp>
        <p:nvSpPr>
          <p:cNvPr id="7" name="">
            <a:extLst xmlns:a="http://schemas.openxmlformats.org/drawingml/2006/main">
              <a:ext uri="{FF2B5EF4-FFF2-40B4-BE49-F238E27FC236}">
                <a16:creationId xmlns:a16="http://schemas.microsoft.com/office/drawing/2014/main" id="{BBA3245D-3DC0-46D4-91FD-115AFFFAFF0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explicit pair in the project teaches data flow</a:t>
            </a:r>
          </a:p>
        </p:txBody>
      </p:sp>
    </p:spTree>
    <p:extLst>
      <p:ext uri="{BB962C8B-B14F-4D97-AF65-F5344CB8AC3E}">
        <p14:creationId xmlns:p14="http://schemas.microsoft.com/office/powerpoint/2010/main" val="837956085"/>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model inputs and event payloads</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model supports child-to-parent value updates.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creates a matching Change output.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Custom outputs carry the payload you emit.</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FACCE367-965C-4439-BD0F-36662C4D8EF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value = model(0);</a:t>
            </a:r>
          </a:p>
          <a:p xmlns:a="http://schemas.openxmlformats.org/drawingml/2006/main">
            <a:r>
              <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&lt;custom-counter [(value)]="count" /&gt;</a:t>
            </a:r>
          </a:p>
        </p:txBody>
      </p:sp>
      <p:sp>
        <p:nvSpPr>
          <p:cNvPr id="7" name="">
            <a:extLst xmlns:a="http://schemas.openxmlformats.org/drawingml/2006/main">
              <a:ext uri="{FF2B5EF4-FFF2-40B4-BE49-F238E27FC236}">
                <a16:creationId xmlns:a16="http://schemas.microsoft.com/office/drawing/2014/main" id="{ECEC6901-9A5F-49A6-8ACD-5B2975607C7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model is optional for this catalog</a:t>
            </a:r>
          </a:p>
        </p:txBody>
      </p:sp>
    </p:spTree>
    <p:extLst>
      <p:ext uri="{BB962C8B-B14F-4D97-AF65-F5344CB8AC3E}">
        <p14:creationId xmlns:p14="http://schemas.microsoft.com/office/powerpoint/2010/main" val="837956085"/>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computed and effect</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computed produces derived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effect connects signal changes to external work.</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cart totals in computed.</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491D7015-A0F8-4AA3-AF70-E9C23ECC80A5}"/>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readonly total = computed(()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this.cart().reduce((sum, p)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sum + p.price, 0)</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4C42590A-0D09-4D0B-8C0C-A8546861892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Avoid using effect to copy another signal’s value</a:t>
            </a:r>
          </a:p>
        </p:txBody>
      </p:sp>
    </p:spTree>
    <p:extLst>
      <p:ext uri="{BB962C8B-B14F-4D97-AF65-F5344CB8AC3E}">
        <p14:creationId xmlns:p14="http://schemas.microsoft.com/office/powerpoint/2010/main" val="837956085"/>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Change detection and zoneless Angular</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Signals notify Angular about changes.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Angular refreshes the relevant bindings.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Bound events also participate in scheduling.</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This Angular 22 project uses no zone.js.</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34</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2026-10-11T18:11:11.7760000Z</dcterms:created>
  <dcterms:modified xsi:type="dcterms:W3CDTF">2026-10-11T18:11:11.7760000Z</dcterms:modified>
</coreProperties>
</file>